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8"/>
  </p:notesMasterIdLst>
  <p:sldIdLst>
    <p:sldId id="257" r:id="rId2"/>
    <p:sldId id="342" r:id="rId3"/>
    <p:sldId id="343" r:id="rId4"/>
    <p:sldId id="258" r:id="rId5"/>
    <p:sldId id="259" r:id="rId6"/>
    <p:sldId id="260" r:id="rId7"/>
    <p:sldId id="262" r:id="rId8"/>
    <p:sldId id="264" r:id="rId9"/>
    <p:sldId id="265" r:id="rId10"/>
    <p:sldId id="266" r:id="rId11"/>
    <p:sldId id="267" r:id="rId12"/>
    <p:sldId id="270" r:id="rId13"/>
    <p:sldId id="271" r:id="rId14"/>
    <p:sldId id="272" r:id="rId15"/>
    <p:sldId id="273" r:id="rId16"/>
    <p:sldId id="275" r:id="rId17"/>
    <p:sldId id="276" r:id="rId18"/>
    <p:sldId id="344" r:id="rId19"/>
    <p:sldId id="278" r:id="rId20"/>
    <p:sldId id="279" r:id="rId21"/>
    <p:sldId id="280" r:id="rId22"/>
    <p:sldId id="281" r:id="rId23"/>
    <p:sldId id="282" r:id="rId24"/>
    <p:sldId id="283" r:id="rId25"/>
    <p:sldId id="284" r:id="rId26"/>
    <p:sldId id="285" r:id="rId27"/>
    <p:sldId id="286" r:id="rId28"/>
    <p:sldId id="287" r:id="rId29"/>
    <p:sldId id="288" r:id="rId30"/>
    <p:sldId id="289" r:id="rId31"/>
    <p:sldId id="291" r:id="rId32"/>
    <p:sldId id="292" r:id="rId33"/>
    <p:sldId id="293" r:id="rId34"/>
    <p:sldId id="304" r:id="rId35"/>
    <p:sldId id="305" r:id="rId36"/>
    <p:sldId id="306" r:id="rId37"/>
    <p:sldId id="345" r:id="rId38"/>
    <p:sldId id="290" r:id="rId39"/>
    <p:sldId id="297" r:id="rId40"/>
    <p:sldId id="298" r:id="rId41"/>
    <p:sldId id="299" r:id="rId42"/>
    <p:sldId id="300" r:id="rId43"/>
    <p:sldId id="307" r:id="rId44"/>
    <p:sldId id="308" r:id="rId45"/>
    <p:sldId id="309" r:id="rId46"/>
    <p:sldId id="310" r:id="rId47"/>
    <p:sldId id="311" r:id="rId48"/>
    <p:sldId id="312" r:id="rId49"/>
    <p:sldId id="313" r:id="rId50"/>
    <p:sldId id="274" r:id="rId51"/>
    <p:sldId id="314" r:id="rId52"/>
    <p:sldId id="315" r:id="rId53"/>
    <p:sldId id="346" r:id="rId54"/>
    <p:sldId id="316" r:id="rId55"/>
    <p:sldId id="317" r:id="rId56"/>
    <p:sldId id="318" r:id="rId57"/>
    <p:sldId id="277" r:id="rId58"/>
    <p:sldId id="319" r:id="rId59"/>
    <p:sldId id="320" r:id="rId60"/>
    <p:sldId id="321" r:id="rId61"/>
    <p:sldId id="322" r:id="rId62"/>
    <p:sldId id="323" r:id="rId63"/>
    <p:sldId id="294" r:id="rId64"/>
    <p:sldId id="295" r:id="rId65"/>
    <p:sldId id="296" r:id="rId66"/>
    <p:sldId id="324" r:id="rId67"/>
    <p:sldId id="325" r:id="rId68"/>
    <p:sldId id="326" r:id="rId69"/>
    <p:sldId id="327" r:id="rId70"/>
    <p:sldId id="301" r:id="rId71"/>
    <p:sldId id="302" r:id="rId72"/>
    <p:sldId id="303"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3366"/>
    <a:srgbClr val="FF66CC"/>
    <a:srgbClr val="FF3B3B"/>
    <a:srgbClr val="006600"/>
    <a:srgbClr val="0070C0"/>
    <a:srgbClr val="E46C0A"/>
    <a:srgbClr val="FF3399"/>
    <a:srgbClr val="7030A0"/>
    <a:srgbClr val="FFA9D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99" autoAdjust="0"/>
    <p:restoredTop sz="95033" autoAdjust="0"/>
  </p:normalViewPr>
  <p:slideViewPr>
    <p:cSldViewPr>
      <p:cViewPr>
        <p:scale>
          <a:sx n="77" d="100"/>
          <a:sy n="77" d="100"/>
        </p:scale>
        <p:origin x="1642" y="91"/>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presProps" Target="pres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viewProps" Target="viewProps.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notesMaster" Target="notesMasters/notesMaster1.xml"/><Relationship Id="rId9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ableStyles" Target="tableStyle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6C548D0-1626-4DAC-A503-72EDB2B10DE6}" type="doc">
      <dgm:prSet loTypeId="urn:microsoft.com/office/officeart/2005/8/layout/default#2" loCatId="list" qsTypeId="urn:microsoft.com/office/officeart/2005/8/quickstyle/3d1" qsCatId="3D" csTypeId="urn:microsoft.com/office/officeart/2005/8/colors/colorful4" csCatId="colorful" phldr="1"/>
      <dgm:spPr/>
      <dgm:t>
        <a:bodyPr/>
        <a:lstStyle/>
        <a:p>
          <a:endParaRPr lang="en-US"/>
        </a:p>
      </dgm:t>
    </dgm:pt>
    <dgm:pt modelId="{E6E503C5-43E5-4A99-AB07-382C7CF916F8}">
      <dgm:prSet phldrT="[Text]"/>
      <dgm:spPr/>
      <dgm:t>
        <a:bodyPr/>
        <a:lstStyle/>
        <a:p>
          <a:r>
            <a:rPr lang="en-US" b="1" i="0" dirty="0">
              <a:solidFill>
                <a:schemeClr val="tx1"/>
              </a:solidFill>
            </a:rPr>
            <a:t>Enterprise</a:t>
          </a:r>
          <a:endParaRPr lang="en-US" dirty="0">
            <a:solidFill>
              <a:schemeClr val="tx1"/>
            </a:solidFill>
          </a:endParaRPr>
        </a:p>
      </dgm:t>
    </dgm:pt>
    <dgm:pt modelId="{ED578B94-CB23-4118-8F5D-AD9F8B233A21}" type="parTrans" cxnId="{4E08FEF3-95FE-4A71-AFA4-D1CCD6A9A139}">
      <dgm:prSet/>
      <dgm:spPr/>
      <dgm:t>
        <a:bodyPr/>
        <a:lstStyle/>
        <a:p>
          <a:endParaRPr lang="en-US"/>
        </a:p>
      </dgm:t>
    </dgm:pt>
    <dgm:pt modelId="{4374B6EA-059D-4DC6-A72C-08B0808F577D}" type="sibTrans" cxnId="{4E08FEF3-95FE-4A71-AFA4-D1CCD6A9A139}">
      <dgm:prSet/>
      <dgm:spPr/>
      <dgm:t>
        <a:bodyPr/>
        <a:lstStyle/>
        <a:p>
          <a:endParaRPr lang="en-US"/>
        </a:p>
      </dgm:t>
    </dgm:pt>
    <dgm:pt modelId="{11F74B1F-C3F5-4C2D-95F9-01AD09390D57}">
      <dgm:prSet phldrT="[Text]"/>
      <dgm:spPr/>
      <dgm:t>
        <a:bodyPr/>
        <a:lstStyle/>
        <a:p>
          <a:r>
            <a:rPr lang="en-US" b="0" i="0" dirty="0">
              <a:solidFill>
                <a:schemeClr val="tx1"/>
              </a:solidFill>
            </a:rPr>
            <a:t>Is an </a:t>
          </a:r>
          <a:r>
            <a:rPr lang="en-US" b="1" i="0" dirty="0">
              <a:solidFill>
                <a:schemeClr val="tx1"/>
              </a:solidFill>
            </a:rPr>
            <a:t>already formed business organization </a:t>
          </a:r>
          <a:r>
            <a:rPr lang="en-US" b="0" i="0" dirty="0">
              <a:solidFill>
                <a:schemeClr val="tx1"/>
              </a:solidFill>
            </a:rPr>
            <a:t>that propose some goods or services, etc. </a:t>
          </a:r>
          <a:endParaRPr lang="en-US" dirty="0">
            <a:solidFill>
              <a:schemeClr val="tx1"/>
            </a:solidFill>
          </a:endParaRPr>
        </a:p>
      </dgm:t>
    </dgm:pt>
    <dgm:pt modelId="{7F962E2F-D0FC-4CC1-8E6B-C9320D486B86}" type="parTrans" cxnId="{6A934536-081C-415A-A41C-162169FF83B4}">
      <dgm:prSet/>
      <dgm:spPr/>
      <dgm:t>
        <a:bodyPr/>
        <a:lstStyle/>
        <a:p>
          <a:endParaRPr lang="en-US"/>
        </a:p>
      </dgm:t>
    </dgm:pt>
    <dgm:pt modelId="{4E51946B-1C02-4637-A528-647C9B4276D7}" type="sibTrans" cxnId="{6A934536-081C-415A-A41C-162169FF83B4}">
      <dgm:prSet/>
      <dgm:spPr/>
      <dgm:t>
        <a:bodyPr/>
        <a:lstStyle/>
        <a:p>
          <a:endParaRPr lang="en-US"/>
        </a:p>
      </dgm:t>
    </dgm:pt>
    <dgm:pt modelId="{5E31F485-69B6-4E93-A3A7-ACEB496FE413}">
      <dgm:prSet phldrT="[Text]"/>
      <dgm:spPr>
        <a:gradFill rotWithShape="0">
          <a:gsLst>
            <a:gs pos="100000">
              <a:schemeClr val="accent4">
                <a:hueOff val="-2232385"/>
                <a:satOff val="13449"/>
                <a:lumOff val="1078"/>
                <a:alphaOff val="0"/>
                <a:shade val="51000"/>
                <a:satMod val="130000"/>
              </a:schemeClr>
            </a:gs>
            <a:gs pos="80000">
              <a:schemeClr val="accent4">
                <a:hueOff val="-2232385"/>
                <a:satOff val="13449"/>
                <a:lumOff val="1078"/>
                <a:alphaOff val="0"/>
                <a:shade val="93000"/>
                <a:satMod val="130000"/>
              </a:schemeClr>
            </a:gs>
            <a:gs pos="100000">
              <a:schemeClr val="accent4">
                <a:hueOff val="-2232385"/>
                <a:satOff val="13449"/>
                <a:lumOff val="1078"/>
                <a:alphaOff val="0"/>
                <a:shade val="94000"/>
                <a:satMod val="135000"/>
              </a:schemeClr>
            </a:gs>
          </a:gsLst>
        </a:gradFill>
      </dgm:spPr>
      <dgm:t>
        <a:bodyPr/>
        <a:lstStyle/>
        <a:p>
          <a:r>
            <a:rPr lang="en-US" b="1" i="0" dirty="0">
              <a:solidFill>
                <a:schemeClr val="tx1"/>
              </a:solidFill>
            </a:rPr>
            <a:t>Entrepreneur</a:t>
          </a:r>
          <a:endParaRPr lang="en-US" dirty="0">
            <a:solidFill>
              <a:schemeClr val="tx1"/>
            </a:solidFill>
          </a:endParaRPr>
        </a:p>
      </dgm:t>
    </dgm:pt>
    <dgm:pt modelId="{67845D1B-D917-4446-BCF9-C5D9CC0458A2}" type="parTrans" cxnId="{3BC17B30-A1A0-436E-B6F2-4AB4FE1946FE}">
      <dgm:prSet/>
      <dgm:spPr/>
      <dgm:t>
        <a:bodyPr/>
        <a:lstStyle/>
        <a:p>
          <a:endParaRPr lang="en-US"/>
        </a:p>
      </dgm:t>
    </dgm:pt>
    <dgm:pt modelId="{C55FD9A7-365A-448F-927A-E72995CF1814}" type="sibTrans" cxnId="{3BC17B30-A1A0-436E-B6F2-4AB4FE1946FE}">
      <dgm:prSet/>
      <dgm:spPr/>
      <dgm:t>
        <a:bodyPr/>
        <a:lstStyle/>
        <a:p>
          <a:endParaRPr lang="en-US"/>
        </a:p>
      </dgm:t>
    </dgm:pt>
    <dgm:pt modelId="{79FAFB98-6F8D-442F-B003-4272C32F9D9A}">
      <dgm:prSet phldrT="[Text]"/>
      <dgm:spPr>
        <a:gradFill rotWithShape="0">
          <a:gsLst>
            <a:gs pos="100000">
              <a:schemeClr val="accent4">
                <a:hueOff val="-2232385"/>
                <a:satOff val="13449"/>
                <a:lumOff val="1078"/>
                <a:alphaOff val="0"/>
                <a:shade val="51000"/>
                <a:satMod val="130000"/>
              </a:schemeClr>
            </a:gs>
            <a:gs pos="80000">
              <a:schemeClr val="accent4">
                <a:hueOff val="-2232385"/>
                <a:satOff val="13449"/>
                <a:lumOff val="1078"/>
                <a:alphaOff val="0"/>
                <a:shade val="93000"/>
                <a:satMod val="130000"/>
              </a:schemeClr>
            </a:gs>
            <a:gs pos="100000">
              <a:schemeClr val="accent4">
                <a:hueOff val="-2232385"/>
                <a:satOff val="13449"/>
                <a:lumOff val="1078"/>
                <a:alphaOff val="0"/>
                <a:shade val="94000"/>
                <a:satMod val="135000"/>
              </a:schemeClr>
            </a:gs>
          </a:gsLst>
        </a:gradFill>
      </dgm:spPr>
      <dgm:t>
        <a:bodyPr/>
        <a:lstStyle/>
        <a:p>
          <a:r>
            <a:rPr lang="en-US" b="0" i="0" dirty="0">
              <a:solidFill>
                <a:schemeClr val="tx1"/>
              </a:solidFill>
            </a:rPr>
            <a:t>Is </a:t>
          </a:r>
          <a:r>
            <a:rPr lang="en-US" b="1" i="0" dirty="0">
              <a:solidFill>
                <a:schemeClr val="tx1"/>
              </a:solidFill>
            </a:rPr>
            <a:t>a person who establishes and manages the enterprise</a:t>
          </a:r>
          <a:r>
            <a:rPr lang="en-US" b="0" i="0" dirty="0">
              <a:solidFill>
                <a:schemeClr val="tx1"/>
              </a:solidFill>
            </a:rPr>
            <a:t>. He/she is often the founder of the business.</a:t>
          </a:r>
          <a:endParaRPr lang="en-US" dirty="0">
            <a:solidFill>
              <a:schemeClr val="tx1"/>
            </a:solidFill>
          </a:endParaRPr>
        </a:p>
      </dgm:t>
    </dgm:pt>
    <dgm:pt modelId="{2C5FF691-8108-43F2-BDDC-D00DD4E1B3F0}" type="parTrans" cxnId="{F7FFD3E6-DFB5-4926-9366-E1CBB7BC8E39}">
      <dgm:prSet/>
      <dgm:spPr/>
      <dgm:t>
        <a:bodyPr/>
        <a:lstStyle/>
        <a:p>
          <a:endParaRPr lang="en-US"/>
        </a:p>
      </dgm:t>
    </dgm:pt>
    <dgm:pt modelId="{83F3718A-392F-420A-9039-8FBD7344CA6E}" type="sibTrans" cxnId="{F7FFD3E6-DFB5-4926-9366-E1CBB7BC8E39}">
      <dgm:prSet/>
      <dgm:spPr/>
      <dgm:t>
        <a:bodyPr/>
        <a:lstStyle/>
        <a:p>
          <a:endParaRPr lang="en-US"/>
        </a:p>
      </dgm:t>
    </dgm:pt>
    <dgm:pt modelId="{D3C6D561-D855-471A-805B-0B3476806F61}">
      <dgm:prSet phldrT="[Text]"/>
      <dgm:spPr/>
      <dgm:t>
        <a:bodyPr/>
        <a:lstStyle/>
        <a:p>
          <a:r>
            <a:rPr lang="en-US" b="1" i="0" dirty="0">
              <a:solidFill>
                <a:schemeClr val="tx1"/>
              </a:solidFill>
            </a:rPr>
            <a:t>Entrepreneurship</a:t>
          </a:r>
          <a:endParaRPr lang="en-US" dirty="0">
            <a:solidFill>
              <a:schemeClr val="tx1"/>
            </a:solidFill>
          </a:endParaRPr>
        </a:p>
      </dgm:t>
    </dgm:pt>
    <dgm:pt modelId="{22BFA322-1CC1-40ED-BE94-30403FB243A0}" type="parTrans" cxnId="{9ABC02FA-429B-4337-A45D-FB05497B6F0B}">
      <dgm:prSet/>
      <dgm:spPr/>
      <dgm:t>
        <a:bodyPr/>
        <a:lstStyle/>
        <a:p>
          <a:endParaRPr lang="en-US"/>
        </a:p>
      </dgm:t>
    </dgm:pt>
    <dgm:pt modelId="{C000C969-7960-4E84-98A7-9A1F061FC60C}" type="sibTrans" cxnId="{9ABC02FA-429B-4337-A45D-FB05497B6F0B}">
      <dgm:prSet/>
      <dgm:spPr/>
      <dgm:t>
        <a:bodyPr/>
        <a:lstStyle/>
        <a:p>
          <a:endParaRPr lang="en-US"/>
        </a:p>
      </dgm:t>
    </dgm:pt>
    <dgm:pt modelId="{6C44FDB1-55D3-4BD3-80B0-1A2D2C24F426}">
      <dgm:prSet phldrT="[Text]"/>
      <dgm:spPr/>
      <dgm:t>
        <a:bodyPr/>
        <a:lstStyle/>
        <a:p>
          <a:r>
            <a:rPr lang="en-US" b="0" i="0" dirty="0">
              <a:solidFill>
                <a:schemeClr val="tx1"/>
              </a:solidFill>
            </a:rPr>
            <a:t>Is the </a:t>
          </a:r>
          <a:r>
            <a:rPr lang="en-US" b="1" i="0" dirty="0">
              <a:solidFill>
                <a:schemeClr val="tx1"/>
              </a:solidFill>
            </a:rPr>
            <a:t>process of establishing new business enterprise </a:t>
          </a:r>
          <a:r>
            <a:rPr lang="en-US" b="0" i="0" dirty="0">
              <a:solidFill>
                <a:schemeClr val="tx1"/>
              </a:solidFill>
            </a:rPr>
            <a:t>along with the capacity to </a:t>
          </a:r>
          <a:r>
            <a:rPr lang="en-US" b="1" i="0" dirty="0">
              <a:solidFill>
                <a:schemeClr val="tx1"/>
              </a:solidFill>
            </a:rPr>
            <a:t>identify the opportunities and threats </a:t>
          </a:r>
          <a:r>
            <a:rPr lang="en-US" b="0" i="0" dirty="0">
              <a:solidFill>
                <a:schemeClr val="tx1"/>
              </a:solidFill>
            </a:rPr>
            <a:t>and to </a:t>
          </a:r>
          <a:r>
            <a:rPr lang="en-US" b="1" i="0" dirty="0">
              <a:solidFill>
                <a:schemeClr val="tx1"/>
              </a:solidFill>
            </a:rPr>
            <a:t>undertake all the risks to gain profits in results</a:t>
          </a:r>
          <a:r>
            <a:rPr lang="en-US" b="0" i="0" dirty="0">
              <a:solidFill>
                <a:schemeClr val="tx1"/>
              </a:solidFill>
            </a:rPr>
            <a:t>.</a:t>
          </a:r>
          <a:endParaRPr lang="en-US" dirty="0">
            <a:solidFill>
              <a:schemeClr val="tx1"/>
            </a:solidFill>
          </a:endParaRPr>
        </a:p>
      </dgm:t>
    </dgm:pt>
    <dgm:pt modelId="{CED43953-7C04-49D0-B85E-79DACA1A58CA}" type="parTrans" cxnId="{40F2A676-F924-4206-AFBF-CB2E5302D50D}">
      <dgm:prSet/>
      <dgm:spPr/>
      <dgm:t>
        <a:bodyPr/>
        <a:lstStyle/>
        <a:p>
          <a:endParaRPr lang="en-US"/>
        </a:p>
      </dgm:t>
    </dgm:pt>
    <dgm:pt modelId="{906ABAD8-E50C-42B2-A4F6-4B13A238E36D}" type="sibTrans" cxnId="{40F2A676-F924-4206-AFBF-CB2E5302D50D}">
      <dgm:prSet/>
      <dgm:spPr/>
      <dgm:t>
        <a:bodyPr/>
        <a:lstStyle/>
        <a:p>
          <a:endParaRPr lang="en-US"/>
        </a:p>
      </dgm:t>
    </dgm:pt>
    <dgm:pt modelId="{C153771B-96DC-4040-8714-43DC769BF220}" type="pres">
      <dgm:prSet presAssocID="{26C548D0-1626-4DAC-A503-72EDB2B10DE6}" presName="diagram" presStyleCnt="0">
        <dgm:presLayoutVars>
          <dgm:dir/>
          <dgm:resizeHandles val="exact"/>
        </dgm:presLayoutVars>
      </dgm:prSet>
      <dgm:spPr/>
    </dgm:pt>
    <dgm:pt modelId="{550EB052-EC5A-46E0-9693-7B8240486A41}" type="pres">
      <dgm:prSet presAssocID="{E6E503C5-43E5-4A99-AB07-382C7CF916F8}" presName="node" presStyleLbl="node1" presStyleIdx="0" presStyleCnt="3">
        <dgm:presLayoutVars>
          <dgm:bulletEnabled val="1"/>
        </dgm:presLayoutVars>
      </dgm:prSet>
      <dgm:spPr/>
    </dgm:pt>
    <dgm:pt modelId="{DD1B1814-59EE-46BA-A781-DF8A0AA54F0B}" type="pres">
      <dgm:prSet presAssocID="{4374B6EA-059D-4DC6-A72C-08B0808F577D}" presName="sibTrans" presStyleCnt="0"/>
      <dgm:spPr/>
    </dgm:pt>
    <dgm:pt modelId="{3B420A7E-B2F6-485F-86ED-DEA346A37940}" type="pres">
      <dgm:prSet presAssocID="{5E31F485-69B6-4E93-A3A7-ACEB496FE413}" presName="node" presStyleLbl="node1" presStyleIdx="1" presStyleCnt="3">
        <dgm:presLayoutVars>
          <dgm:bulletEnabled val="1"/>
        </dgm:presLayoutVars>
      </dgm:prSet>
      <dgm:spPr/>
    </dgm:pt>
    <dgm:pt modelId="{364BC84C-13C8-4790-8990-DF42C88D1D1F}" type="pres">
      <dgm:prSet presAssocID="{C55FD9A7-365A-448F-927A-E72995CF1814}" presName="sibTrans" presStyleCnt="0"/>
      <dgm:spPr/>
    </dgm:pt>
    <dgm:pt modelId="{7B4DAE8D-E9B7-49BA-A66B-65D12EEFF897}" type="pres">
      <dgm:prSet presAssocID="{D3C6D561-D855-471A-805B-0B3476806F61}" presName="node" presStyleLbl="node1" presStyleIdx="2" presStyleCnt="3">
        <dgm:presLayoutVars>
          <dgm:bulletEnabled val="1"/>
        </dgm:presLayoutVars>
      </dgm:prSet>
      <dgm:spPr/>
    </dgm:pt>
  </dgm:ptLst>
  <dgm:cxnLst>
    <dgm:cxn modelId="{BC477C19-0DD8-4E1C-85C1-1B6FBAF3982D}" type="presOf" srcId="{5E31F485-69B6-4E93-A3A7-ACEB496FE413}" destId="{3B420A7E-B2F6-485F-86ED-DEA346A37940}" srcOrd="0" destOrd="0" presId="urn:microsoft.com/office/officeart/2005/8/layout/default#2"/>
    <dgm:cxn modelId="{811B8A2D-19F1-4E40-99CD-C0585A1E2EF0}" type="presOf" srcId="{11F74B1F-C3F5-4C2D-95F9-01AD09390D57}" destId="{550EB052-EC5A-46E0-9693-7B8240486A41}" srcOrd="0" destOrd="1" presId="urn:microsoft.com/office/officeart/2005/8/layout/default#2"/>
    <dgm:cxn modelId="{3BC17B30-A1A0-436E-B6F2-4AB4FE1946FE}" srcId="{26C548D0-1626-4DAC-A503-72EDB2B10DE6}" destId="{5E31F485-69B6-4E93-A3A7-ACEB496FE413}" srcOrd="1" destOrd="0" parTransId="{67845D1B-D917-4446-BCF9-C5D9CC0458A2}" sibTransId="{C55FD9A7-365A-448F-927A-E72995CF1814}"/>
    <dgm:cxn modelId="{6A934536-081C-415A-A41C-162169FF83B4}" srcId="{E6E503C5-43E5-4A99-AB07-382C7CF916F8}" destId="{11F74B1F-C3F5-4C2D-95F9-01AD09390D57}" srcOrd="0" destOrd="0" parTransId="{7F962E2F-D0FC-4CC1-8E6B-C9320D486B86}" sibTransId="{4E51946B-1C02-4637-A528-647C9B4276D7}"/>
    <dgm:cxn modelId="{D71A3E45-BACF-437D-B01F-76236C2D48C2}" type="presOf" srcId="{D3C6D561-D855-471A-805B-0B3476806F61}" destId="{7B4DAE8D-E9B7-49BA-A66B-65D12EEFF897}" srcOrd="0" destOrd="0" presId="urn:microsoft.com/office/officeart/2005/8/layout/default#2"/>
    <dgm:cxn modelId="{A680C746-D5D6-4276-A7F2-83B0B1432FD0}" type="presOf" srcId="{79FAFB98-6F8D-442F-B003-4272C32F9D9A}" destId="{3B420A7E-B2F6-485F-86ED-DEA346A37940}" srcOrd="0" destOrd="1" presId="urn:microsoft.com/office/officeart/2005/8/layout/default#2"/>
    <dgm:cxn modelId="{5A5A996A-1854-4AD2-B9B9-A80ABA89E7C0}" type="presOf" srcId="{E6E503C5-43E5-4A99-AB07-382C7CF916F8}" destId="{550EB052-EC5A-46E0-9693-7B8240486A41}" srcOrd="0" destOrd="0" presId="urn:microsoft.com/office/officeart/2005/8/layout/default#2"/>
    <dgm:cxn modelId="{40F2A676-F924-4206-AFBF-CB2E5302D50D}" srcId="{D3C6D561-D855-471A-805B-0B3476806F61}" destId="{6C44FDB1-55D3-4BD3-80B0-1A2D2C24F426}" srcOrd="0" destOrd="0" parTransId="{CED43953-7C04-49D0-B85E-79DACA1A58CA}" sibTransId="{906ABAD8-E50C-42B2-A4F6-4B13A238E36D}"/>
    <dgm:cxn modelId="{2CA5B358-DC9C-42FD-B86C-D2C0CD57E3E1}" type="presOf" srcId="{26C548D0-1626-4DAC-A503-72EDB2B10DE6}" destId="{C153771B-96DC-4040-8714-43DC769BF220}" srcOrd="0" destOrd="0" presId="urn:microsoft.com/office/officeart/2005/8/layout/default#2"/>
    <dgm:cxn modelId="{62D1C683-BCEA-4D46-B09E-BFF1C8AEEABD}" type="presOf" srcId="{6C44FDB1-55D3-4BD3-80B0-1A2D2C24F426}" destId="{7B4DAE8D-E9B7-49BA-A66B-65D12EEFF897}" srcOrd="0" destOrd="1" presId="urn:microsoft.com/office/officeart/2005/8/layout/default#2"/>
    <dgm:cxn modelId="{F7FFD3E6-DFB5-4926-9366-E1CBB7BC8E39}" srcId="{5E31F485-69B6-4E93-A3A7-ACEB496FE413}" destId="{79FAFB98-6F8D-442F-B003-4272C32F9D9A}" srcOrd="0" destOrd="0" parTransId="{2C5FF691-8108-43F2-BDDC-D00DD4E1B3F0}" sibTransId="{83F3718A-392F-420A-9039-8FBD7344CA6E}"/>
    <dgm:cxn modelId="{4E08FEF3-95FE-4A71-AFA4-D1CCD6A9A139}" srcId="{26C548D0-1626-4DAC-A503-72EDB2B10DE6}" destId="{E6E503C5-43E5-4A99-AB07-382C7CF916F8}" srcOrd="0" destOrd="0" parTransId="{ED578B94-CB23-4118-8F5D-AD9F8B233A21}" sibTransId="{4374B6EA-059D-4DC6-A72C-08B0808F577D}"/>
    <dgm:cxn modelId="{9ABC02FA-429B-4337-A45D-FB05497B6F0B}" srcId="{26C548D0-1626-4DAC-A503-72EDB2B10DE6}" destId="{D3C6D561-D855-471A-805B-0B3476806F61}" srcOrd="2" destOrd="0" parTransId="{22BFA322-1CC1-40ED-BE94-30403FB243A0}" sibTransId="{C000C969-7960-4E84-98A7-9A1F061FC60C}"/>
    <dgm:cxn modelId="{41D714D7-F345-4E6F-8BDA-94EE1A222DB0}" type="presParOf" srcId="{C153771B-96DC-4040-8714-43DC769BF220}" destId="{550EB052-EC5A-46E0-9693-7B8240486A41}" srcOrd="0" destOrd="0" presId="urn:microsoft.com/office/officeart/2005/8/layout/default#2"/>
    <dgm:cxn modelId="{87B80152-F277-4E92-8357-84CA9953AA27}" type="presParOf" srcId="{C153771B-96DC-4040-8714-43DC769BF220}" destId="{DD1B1814-59EE-46BA-A781-DF8A0AA54F0B}" srcOrd="1" destOrd="0" presId="urn:microsoft.com/office/officeart/2005/8/layout/default#2"/>
    <dgm:cxn modelId="{ABDFF669-844C-43F0-98DB-99FB47AA3F3B}" type="presParOf" srcId="{C153771B-96DC-4040-8714-43DC769BF220}" destId="{3B420A7E-B2F6-485F-86ED-DEA346A37940}" srcOrd="2" destOrd="0" presId="urn:microsoft.com/office/officeart/2005/8/layout/default#2"/>
    <dgm:cxn modelId="{36355CF7-3C07-4299-9EF2-3C8F549FFD91}" type="presParOf" srcId="{C153771B-96DC-4040-8714-43DC769BF220}" destId="{364BC84C-13C8-4790-8990-DF42C88D1D1F}" srcOrd="3" destOrd="0" presId="urn:microsoft.com/office/officeart/2005/8/layout/default#2"/>
    <dgm:cxn modelId="{82ECE638-EB65-4D70-9DF8-1823C6B911E4}" type="presParOf" srcId="{C153771B-96DC-4040-8714-43DC769BF220}" destId="{7B4DAE8D-E9B7-49BA-A66B-65D12EEFF897}" srcOrd="4" destOrd="0" presId="urn:microsoft.com/office/officeart/2005/8/layout/defaul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50EB052-EC5A-46E0-9693-7B8240486A41}">
      <dsp:nvSpPr>
        <dsp:cNvPr id="0" name=""/>
        <dsp:cNvSpPr/>
      </dsp:nvSpPr>
      <dsp:spPr>
        <a:xfrm>
          <a:off x="1048" y="71859"/>
          <a:ext cx="4090215" cy="2454129"/>
        </a:xfrm>
        <a:prstGeom prst="rect">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99060" tIns="99060" rIns="99060" bIns="99060" numCol="1" spcCol="1270" anchor="t" anchorCtr="0">
          <a:noAutofit/>
        </a:bodyPr>
        <a:lstStyle/>
        <a:p>
          <a:pPr marL="0" lvl="0" indent="0" algn="l" defTabSz="1155700">
            <a:lnSpc>
              <a:spcPct val="90000"/>
            </a:lnSpc>
            <a:spcBef>
              <a:spcPct val="0"/>
            </a:spcBef>
            <a:spcAft>
              <a:spcPct val="35000"/>
            </a:spcAft>
            <a:buNone/>
          </a:pPr>
          <a:r>
            <a:rPr lang="en-US" sz="2600" b="1" i="0" kern="1200" dirty="0">
              <a:solidFill>
                <a:schemeClr val="tx1"/>
              </a:solidFill>
            </a:rPr>
            <a:t>Enterprise</a:t>
          </a:r>
          <a:endParaRPr lang="en-US" sz="2600" kern="1200" dirty="0">
            <a:solidFill>
              <a:schemeClr val="tx1"/>
            </a:solidFill>
          </a:endParaRPr>
        </a:p>
        <a:p>
          <a:pPr marL="228600" lvl="1" indent="-228600" algn="l" defTabSz="889000">
            <a:lnSpc>
              <a:spcPct val="90000"/>
            </a:lnSpc>
            <a:spcBef>
              <a:spcPct val="0"/>
            </a:spcBef>
            <a:spcAft>
              <a:spcPct val="15000"/>
            </a:spcAft>
            <a:buChar char="•"/>
          </a:pPr>
          <a:r>
            <a:rPr lang="en-US" sz="2000" b="0" i="0" kern="1200" dirty="0">
              <a:solidFill>
                <a:schemeClr val="tx1"/>
              </a:solidFill>
            </a:rPr>
            <a:t>Is an </a:t>
          </a:r>
          <a:r>
            <a:rPr lang="en-US" sz="2000" b="1" i="0" kern="1200" dirty="0">
              <a:solidFill>
                <a:schemeClr val="tx1"/>
              </a:solidFill>
            </a:rPr>
            <a:t>already formed business organization </a:t>
          </a:r>
          <a:r>
            <a:rPr lang="en-US" sz="2000" b="0" i="0" kern="1200" dirty="0">
              <a:solidFill>
                <a:schemeClr val="tx1"/>
              </a:solidFill>
            </a:rPr>
            <a:t>that propose some goods or services, etc. </a:t>
          </a:r>
          <a:endParaRPr lang="en-US" sz="2000" kern="1200" dirty="0">
            <a:solidFill>
              <a:schemeClr val="tx1"/>
            </a:solidFill>
          </a:endParaRPr>
        </a:p>
      </dsp:txBody>
      <dsp:txXfrm>
        <a:off x="1048" y="71859"/>
        <a:ext cx="4090215" cy="2454129"/>
      </dsp:txXfrm>
    </dsp:sp>
    <dsp:sp modelId="{3B420A7E-B2F6-485F-86ED-DEA346A37940}">
      <dsp:nvSpPr>
        <dsp:cNvPr id="0" name=""/>
        <dsp:cNvSpPr/>
      </dsp:nvSpPr>
      <dsp:spPr>
        <a:xfrm>
          <a:off x="4500285" y="71859"/>
          <a:ext cx="4090215" cy="2454129"/>
        </a:xfrm>
        <a:prstGeom prst="rect">
          <a:avLst/>
        </a:prstGeom>
        <a:gradFill rotWithShape="0">
          <a:gsLst>
            <a:gs pos="100000">
              <a:schemeClr val="accent4">
                <a:hueOff val="-2232385"/>
                <a:satOff val="13449"/>
                <a:lumOff val="1078"/>
                <a:alphaOff val="0"/>
                <a:shade val="51000"/>
                <a:satMod val="130000"/>
              </a:schemeClr>
            </a:gs>
            <a:gs pos="80000">
              <a:schemeClr val="accent4">
                <a:hueOff val="-2232385"/>
                <a:satOff val="13449"/>
                <a:lumOff val="1078"/>
                <a:alphaOff val="0"/>
                <a:shade val="93000"/>
                <a:satMod val="130000"/>
              </a:schemeClr>
            </a:gs>
            <a:gs pos="100000">
              <a:schemeClr val="accent4">
                <a:hueOff val="-2232385"/>
                <a:satOff val="13449"/>
                <a:lumOff val="1078"/>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99060" tIns="99060" rIns="99060" bIns="99060" numCol="1" spcCol="1270" anchor="t" anchorCtr="0">
          <a:noAutofit/>
        </a:bodyPr>
        <a:lstStyle/>
        <a:p>
          <a:pPr marL="0" lvl="0" indent="0" algn="l" defTabSz="1155700">
            <a:lnSpc>
              <a:spcPct val="90000"/>
            </a:lnSpc>
            <a:spcBef>
              <a:spcPct val="0"/>
            </a:spcBef>
            <a:spcAft>
              <a:spcPct val="35000"/>
            </a:spcAft>
            <a:buNone/>
          </a:pPr>
          <a:r>
            <a:rPr lang="en-US" sz="2600" b="1" i="0" kern="1200" dirty="0">
              <a:solidFill>
                <a:schemeClr val="tx1"/>
              </a:solidFill>
            </a:rPr>
            <a:t>Entrepreneur</a:t>
          </a:r>
          <a:endParaRPr lang="en-US" sz="2600" kern="1200" dirty="0">
            <a:solidFill>
              <a:schemeClr val="tx1"/>
            </a:solidFill>
          </a:endParaRPr>
        </a:p>
        <a:p>
          <a:pPr marL="228600" lvl="1" indent="-228600" algn="l" defTabSz="889000">
            <a:lnSpc>
              <a:spcPct val="90000"/>
            </a:lnSpc>
            <a:spcBef>
              <a:spcPct val="0"/>
            </a:spcBef>
            <a:spcAft>
              <a:spcPct val="15000"/>
            </a:spcAft>
            <a:buChar char="•"/>
          </a:pPr>
          <a:r>
            <a:rPr lang="en-US" sz="2000" b="0" i="0" kern="1200" dirty="0">
              <a:solidFill>
                <a:schemeClr val="tx1"/>
              </a:solidFill>
            </a:rPr>
            <a:t>Is </a:t>
          </a:r>
          <a:r>
            <a:rPr lang="en-US" sz="2000" b="1" i="0" kern="1200" dirty="0">
              <a:solidFill>
                <a:schemeClr val="tx1"/>
              </a:solidFill>
            </a:rPr>
            <a:t>a person who establishes and manages the enterprise</a:t>
          </a:r>
          <a:r>
            <a:rPr lang="en-US" sz="2000" b="0" i="0" kern="1200" dirty="0">
              <a:solidFill>
                <a:schemeClr val="tx1"/>
              </a:solidFill>
            </a:rPr>
            <a:t>. He/she is often the founder of the business.</a:t>
          </a:r>
          <a:endParaRPr lang="en-US" sz="2000" kern="1200" dirty="0">
            <a:solidFill>
              <a:schemeClr val="tx1"/>
            </a:solidFill>
          </a:endParaRPr>
        </a:p>
      </dsp:txBody>
      <dsp:txXfrm>
        <a:off x="4500285" y="71859"/>
        <a:ext cx="4090215" cy="2454129"/>
      </dsp:txXfrm>
    </dsp:sp>
    <dsp:sp modelId="{7B4DAE8D-E9B7-49BA-A66B-65D12EEFF897}">
      <dsp:nvSpPr>
        <dsp:cNvPr id="0" name=""/>
        <dsp:cNvSpPr/>
      </dsp:nvSpPr>
      <dsp:spPr>
        <a:xfrm>
          <a:off x="2250667" y="2935010"/>
          <a:ext cx="4090215" cy="2454129"/>
        </a:xfrm>
        <a:prstGeom prst="rect">
          <a:avLst/>
        </a:prstGeom>
        <a:gradFill rotWithShape="0">
          <a:gsLst>
            <a:gs pos="0">
              <a:schemeClr val="accent4">
                <a:hueOff val="-4464770"/>
                <a:satOff val="26899"/>
                <a:lumOff val="2156"/>
                <a:alphaOff val="0"/>
                <a:shade val="51000"/>
                <a:satMod val="130000"/>
              </a:schemeClr>
            </a:gs>
            <a:gs pos="80000">
              <a:schemeClr val="accent4">
                <a:hueOff val="-4464770"/>
                <a:satOff val="26899"/>
                <a:lumOff val="2156"/>
                <a:alphaOff val="0"/>
                <a:shade val="93000"/>
                <a:satMod val="130000"/>
              </a:schemeClr>
            </a:gs>
            <a:gs pos="100000">
              <a:schemeClr val="accent4">
                <a:hueOff val="-4464770"/>
                <a:satOff val="26899"/>
                <a:lumOff val="2156"/>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99060" tIns="99060" rIns="99060" bIns="99060" numCol="1" spcCol="1270" anchor="t" anchorCtr="0">
          <a:noAutofit/>
        </a:bodyPr>
        <a:lstStyle/>
        <a:p>
          <a:pPr marL="0" lvl="0" indent="0" algn="l" defTabSz="1155700">
            <a:lnSpc>
              <a:spcPct val="90000"/>
            </a:lnSpc>
            <a:spcBef>
              <a:spcPct val="0"/>
            </a:spcBef>
            <a:spcAft>
              <a:spcPct val="35000"/>
            </a:spcAft>
            <a:buNone/>
          </a:pPr>
          <a:r>
            <a:rPr lang="en-US" sz="2600" b="1" i="0" kern="1200" dirty="0">
              <a:solidFill>
                <a:schemeClr val="tx1"/>
              </a:solidFill>
            </a:rPr>
            <a:t>Entrepreneurship</a:t>
          </a:r>
          <a:endParaRPr lang="en-US" sz="2600" kern="1200" dirty="0">
            <a:solidFill>
              <a:schemeClr val="tx1"/>
            </a:solidFill>
          </a:endParaRPr>
        </a:p>
        <a:p>
          <a:pPr marL="228600" lvl="1" indent="-228600" algn="l" defTabSz="889000">
            <a:lnSpc>
              <a:spcPct val="90000"/>
            </a:lnSpc>
            <a:spcBef>
              <a:spcPct val="0"/>
            </a:spcBef>
            <a:spcAft>
              <a:spcPct val="15000"/>
            </a:spcAft>
            <a:buChar char="•"/>
          </a:pPr>
          <a:r>
            <a:rPr lang="en-US" sz="2000" b="0" i="0" kern="1200" dirty="0">
              <a:solidFill>
                <a:schemeClr val="tx1"/>
              </a:solidFill>
            </a:rPr>
            <a:t>Is the </a:t>
          </a:r>
          <a:r>
            <a:rPr lang="en-US" sz="2000" b="1" i="0" kern="1200" dirty="0">
              <a:solidFill>
                <a:schemeClr val="tx1"/>
              </a:solidFill>
            </a:rPr>
            <a:t>process of establishing new business enterprise </a:t>
          </a:r>
          <a:r>
            <a:rPr lang="en-US" sz="2000" b="0" i="0" kern="1200" dirty="0">
              <a:solidFill>
                <a:schemeClr val="tx1"/>
              </a:solidFill>
            </a:rPr>
            <a:t>along with the capacity to </a:t>
          </a:r>
          <a:r>
            <a:rPr lang="en-US" sz="2000" b="1" i="0" kern="1200" dirty="0">
              <a:solidFill>
                <a:schemeClr val="tx1"/>
              </a:solidFill>
            </a:rPr>
            <a:t>identify the opportunities and threats </a:t>
          </a:r>
          <a:r>
            <a:rPr lang="en-US" sz="2000" b="0" i="0" kern="1200" dirty="0">
              <a:solidFill>
                <a:schemeClr val="tx1"/>
              </a:solidFill>
            </a:rPr>
            <a:t>and to </a:t>
          </a:r>
          <a:r>
            <a:rPr lang="en-US" sz="2000" b="1" i="0" kern="1200" dirty="0">
              <a:solidFill>
                <a:schemeClr val="tx1"/>
              </a:solidFill>
            </a:rPr>
            <a:t>undertake all the risks to gain profits in results</a:t>
          </a:r>
          <a:r>
            <a:rPr lang="en-US" sz="2000" b="0" i="0" kern="1200" dirty="0">
              <a:solidFill>
                <a:schemeClr val="tx1"/>
              </a:solidFill>
            </a:rPr>
            <a:t>.</a:t>
          </a:r>
          <a:endParaRPr lang="en-US" sz="2000" kern="1200" dirty="0">
            <a:solidFill>
              <a:schemeClr val="tx1"/>
            </a:solidFill>
          </a:endParaRPr>
        </a:p>
      </dsp:txBody>
      <dsp:txXfrm>
        <a:off x="2250667" y="2935010"/>
        <a:ext cx="4090215" cy="2454129"/>
      </dsp:txXfrm>
    </dsp:sp>
  </dsp:spTree>
</dsp:drawing>
</file>

<file path=ppt/diagrams/layout1.xml><?xml version="1.0" encoding="utf-8"?>
<dgm:layoutDef xmlns:dgm="http://schemas.openxmlformats.org/drawingml/2006/diagram" xmlns:a="http://schemas.openxmlformats.org/drawingml/2006/main" uniqueId="urn:microsoft.com/office/officeart/2005/8/layout/default#2">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3T04:13:56.510"/>
    </inkml:context>
    <inkml:brush xml:id="br0">
      <inkml:brushProperty name="width" value="0.2" units="cm"/>
      <inkml:brushProperty name="height" value="0.4" units="cm"/>
      <inkml:brushProperty name="color" value="#A9D8FF"/>
      <inkml:brushProperty name="tip" value="rectangle"/>
      <inkml:brushProperty name="rasterOp" value="maskPen"/>
      <inkml:brushProperty name="ignorePressure" value="1"/>
    </inkml:brush>
  </inkml:definitions>
  <inkml:trace contextRef="#ctx0" brushRef="#br0">0 1 0,'4954'42'0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1-13T04:14:13.531"/>
    </inkml:context>
    <inkml:brush xml:id="br0">
      <inkml:brushProperty name="width" value="0.2" units="cm"/>
      <inkml:brushProperty name="height" value="0.4" units="cm"/>
      <inkml:brushProperty name="color" value="#A9D8FF"/>
      <inkml:brushProperty name="tip" value="rectangle"/>
      <inkml:brushProperty name="rasterOp" value="maskPen"/>
      <inkml:brushProperty name="ignorePressure" value="1"/>
    </inkml:brush>
  </inkml:definitions>
  <inkml:trace contextRef="#ctx0" brushRef="#br0">0 45,'823'0,"-797"-1,-1-2,0-1,38-10,-38 8,0 0,0 2,40-2,1141 7,-1188-1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3T04:14:18.221"/>
    </inkml:context>
    <inkml:brush xml:id="br0">
      <inkml:brushProperty name="width" value="0.2" units="cm"/>
      <inkml:brushProperty name="height" value="0.4" units="cm"/>
      <inkml:brushProperty name="color" value="#A9D8FF"/>
      <inkml:brushProperty name="tip" value="rectangle"/>
      <inkml:brushProperty name="rasterOp" value="maskPen"/>
      <inkml:brushProperty name="ignorePressure" value="1"/>
    </inkml:brush>
  </inkml:definitions>
  <inkml:trace contextRef="#ctx0" brushRef="#br0">1 85 0,'8615'-85'0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3T04:14:50.093"/>
    </inkml:context>
    <inkml:brush xml:id="br0">
      <inkml:brushProperty name="width" value="0.2" units="cm"/>
      <inkml:brushProperty name="height" value="0.4" units="cm"/>
      <inkml:brushProperty name="color" value="#A9D8FF"/>
      <inkml:brushProperty name="tip" value="rectangle"/>
      <inkml:brushProperty name="rasterOp" value="maskPen"/>
      <inkml:brushProperty name="ignorePressure" value="1"/>
    </inkml:brush>
  </inkml:definitions>
  <inkml:trace contextRef="#ctx0" brushRef="#br0">1 0 0,'2455'64'0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3T04:15:02.605"/>
    </inkml:context>
    <inkml:brush xml:id="br0">
      <inkml:brushProperty name="width" value="0.2" units="cm"/>
      <inkml:brushProperty name="height" value="0.4" units="cm"/>
      <inkml:brushProperty name="color" value="#A9D8FF"/>
      <inkml:brushProperty name="tip" value="rectangle"/>
      <inkml:brushProperty name="rasterOp" value="maskPen"/>
      <inkml:brushProperty name="ignorePressure" value="1"/>
    </inkml:brush>
  </inkml:definitions>
  <inkml:trace contextRef="#ctx0" brushRef="#br0">0 0 0,'1674'127'0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1-13T04:15:20.414"/>
    </inkml:context>
    <inkml:brush xml:id="br0">
      <inkml:brushProperty name="width" value="0.2" units="cm"/>
      <inkml:brushProperty name="height" value="0.4" units="cm"/>
      <inkml:brushProperty name="color" value="#A9D8FF"/>
      <inkml:brushProperty name="tip" value="rectangle"/>
      <inkml:brushProperty name="rasterOp" value="maskPen"/>
      <inkml:brushProperty name="ignorePressure" value="1"/>
    </inkml:brush>
  </inkml:definitions>
  <inkml:trace contextRef="#ctx0" brushRef="#br0">0 131,'1308'0,"-1281"-1,46-9,-43 6,32-2,1 5,-10 1,82-11,11-4,-52 7,74-1,12-3,-78 3,64-10,-98 8,111-3,71 15,-91 1,240-2,-373 1,45 9,-45-5,43 1,44 4,-6 1,12-1,9 1,-101-9,0 1,-1 1,30 8,-28-5,0-1,44 3,-18-8,-20-1,1 1,48 9,-37-4,1-2,-1-1,58-6,-14 1,587 2,-655 2,1 0,0 1,35 11,-30-7,47 6,9-2,-46-6,51 2,-77-7,44 0,101 12,-85-3,-40-6,34 7,-40-5,1-1,27-1,-23-1,33 5,-36-3,0-1,35-1,-54-2</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1-13T04:15:36.108"/>
    </inkml:context>
    <inkml:brush xml:id="br0">
      <inkml:brushProperty name="width" value="0.2" units="cm"/>
      <inkml:brushProperty name="height" value="0.4" units="cm"/>
      <inkml:brushProperty name="color" value="#A9D8FF"/>
      <inkml:brushProperty name="tip" value="rectangle"/>
      <inkml:brushProperty name="rasterOp" value="maskPen"/>
      <inkml:brushProperty name="ignorePressure" value="1"/>
    </inkml:brush>
  </inkml:definitions>
  <inkml:trace contextRef="#ctx0" brushRef="#br0">0 0,'4510'0,"-4492"0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3T04:16:37.165"/>
    </inkml:context>
    <inkml:brush xml:id="br0">
      <inkml:brushProperty name="width" value="0.2" units="cm"/>
      <inkml:brushProperty name="height" value="0.4" units="cm"/>
      <inkml:brushProperty name="color" value="#A9D8FF"/>
      <inkml:brushProperty name="tip" value="rectangle"/>
      <inkml:brushProperty name="rasterOp" value="maskPen"/>
      <inkml:brushProperty name="ignorePressure" value="1"/>
    </inkml:brush>
  </inkml:definitions>
  <inkml:trace contextRef="#ctx0" brushRef="#br0">0 0 0,'6351'44'0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1-13T04:16:42.818"/>
    </inkml:context>
    <inkml:brush xml:id="br0">
      <inkml:brushProperty name="width" value="0.2" units="cm"/>
      <inkml:brushProperty name="height" value="0.4" units="cm"/>
      <inkml:brushProperty name="color" value="#A9D8FF"/>
      <inkml:brushProperty name="tip" value="rectangle"/>
      <inkml:brushProperty name="rasterOp" value="maskPen"/>
      <inkml:brushProperty name="ignorePressure" value="1"/>
    </inkml:brush>
  </inkml:definitions>
  <inkml:trace contextRef="#ctx0" brushRef="#br0">0 81,'139'2,"153"-4,-202-9,-54 6,40-1,1684 5,-828 3,-898-3,44-9,-43 5,42-1,31 8,89-3,-132-10,-44 7,41-3,-56 7,-3 0,0 0,0 0,-1 0,1 0,0-1,-1 1,1-1,0 1,-1-1,1 0,-1 0,1 0,2-2,-4-1,-5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1-13T04:17:15.975"/>
    </inkml:context>
    <inkml:brush xml:id="br0">
      <inkml:brushProperty name="width" value="0.2" units="cm"/>
      <inkml:brushProperty name="height" value="0.4" units="cm"/>
      <inkml:brushProperty name="color" value="#A9D8FF"/>
      <inkml:brushProperty name="tip" value="rectangle"/>
      <inkml:brushProperty name="rasterOp" value="maskPen"/>
      <inkml:brushProperty name="ignorePressure" value="1"/>
    </inkml:brush>
  </inkml:definitions>
  <inkml:trace contextRef="#ctx0" brushRef="#br0">0 130,'4193'0,"-4165"-1,50-10,-15 1,-41 6,0 0,0-2,28-11,-33 10,1 1,0 1,0 0,1 1,30-2,-3 4,53-11,-97 13,168-18,-117 12,1 1,99 6,-54 1,706-2,-789 1,0 1,28 6,-27-4,0-1,21 1,-31-4,0 0,0 1,0 0,-1 1,1 0,0 0,0 0,9 5,-2 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1-13T04:17:34.373"/>
    </inkml:context>
    <inkml:brush xml:id="br0">
      <inkml:brushProperty name="width" value="0.2" units="cm"/>
      <inkml:brushProperty name="height" value="0.4" units="cm"/>
      <inkml:brushProperty name="color" value="#A9D8FF"/>
      <inkml:brushProperty name="tip" value="rectangle"/>
      <inkml:brushProperty name="rasterOp" value="maskPen"/>
      <inkml:brushProperty name="ignorePressure" value="1"/>
    </inkml:brush>
  </inkml:definitions>
  <inkml:trace contextRef="#ctx0" brushRef="#br0">0 1,'214'11,"11"1,-205-12,1 0,-1 2,0 0,21 6,-19-4,-1-1,42 1,-40-4,-1 1,38 8,-24-3,2-2,-1-1,0-3,38-3,11 1,739 2,-809-1,0 0,28-8,-27 6,1 0,19-1,120 6,67-4,-118-19,-61 12,-24 5,0 0,39-2,1444 7,-1480 0,-1 2,26 5,-25-4,47 3,61-9,97 4,-143 7,61 3,-118-11,46 8,-46-4,47 1,-33-6,-13-2,1 3,-1 0,57 11,-51-6,0-2,1-1,-1-2,43-5,6 2,254 2,-335 0,0 0,-1 1,0-1,0 0,0-1,0 1,0-1,0 1,0-1,0 0,0 0,0 0,3-2,-2-2</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1-13T04:17:39.862"/>
    </inkml:context>
    <inkml:brush xml:id="br0">
      <inkml:brushProperty name="width" value="0.2" units="cm"/>
      <inkml:brushProperty name="height" value="0.4" units="cm"/>
      <inkml:brushProperty name="color" value="#A9D8FF"/>
      <inkml:brushProperty name="tip" value="rectangle"/>
      <inkml:brushProperty name="rasterOp" value="maskPen"/>
      <inkml:brushProperty name="ignorePressure" value="1"/>
    </inkml:brush>
  </inkml:definitions>
  <inkml:trace contextRef="#ctx0" brushRef="#br0">0 111,'763'0,"-741"-1,-1-1,25-6,-23 4,38-2,57 7,57-2,-29-20,3 0,-97 15,165-11,-162 18,-7 0,-1-1,86-14,-81 8,-1 1,0 3,55 5,-7-1,1108-2,-1184 1,46 9,-45-6,38 3,18-8,43 2,-104 2,1 0,31 12,-34-10,0 0,0-1,32 4,31 2,-53-5,36 1,-45-5,1 1,17 5,-17-3,37 3,64-9,56 4,-119 8,-41-7,-1 0,24 2,-15-3,1 1,-1 1,30 9,15 3,-30-11,1-2,0-2,45-3,2-1,-5 5,90-4,-66-19,-37 10,-50 7,0 1,22-1,10 3,-25 2,1-2,-1-1,43-7,23-4,-78 8</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3T04:17:53.170"/>
    </inkml:context>
    <inkml:brush xml:id="br0">
      <inkml:brushProperty name="width" value="0.2" units="cm"/>
      <inkml:brushProperty name="height" value="0.4" units="cm"/>
      <inkml:brushProperty name="color" value="#A9D8FF"/>
      <inkml:brushProperty name="tip" value="rectangle"/>
      <inkml:brushProperty name="rasterOp" value="maskPen"/>
      <inkml:brushProperty name="ignorePressure" value="1"/>
    </inkml:brush>
  </inkml:definitions>
  <inkml:trace contextRef="#ctx0" brushRef="#br0">0 17 0,'6689'0'0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1-13T04:18:00.927"/>
    </inkml:context>
    <inkml:brush xml:id="br0">
      <inkml:brushProperty name="width" value="0.2" units="cm"/>
      <inkml:brushProperty name="height" value="0.4" units="cm"/>
      <inkml:brushProperty name="color" value="#A9D8FF"/>
      <inkml:brushProperty name="tip" value="rectangle"/>
      <inkml:brushProperty name="rasterOp" value="maskPen"/>
      <inkml:brushProperty name="ignorePressure" value="1"/>
    </inkml:brush>
  </inkml:definitions>
  <inkml:trace contextRef="#ctx0" brushRef="#br0">0 44,'1822'0,"-1803"-1,0-1,1-1,-1-1,21-7,-20 5,0 1,0 1,35-3,686 6,-351 3,448-2,-815 2,0 0,0 2,36 9,-34-6,0-2,43 5,358-9,-209-3,1264 2,-1463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3T04:18:06.323"/>
    </inkml:context>
    <inkml:brush xml:id="br0">
      <inkml:brushProperty name="width" value="0.2" units="cm"/>
      <inkml:brushProperty name="height" value="0.4" units="cm"/>
      <inkml:brushProperty name="color" value="#A9D8FF"/>
      <inkml:brushProperty name="tip" value="rectangle"/>
      <inkml:brushProperty name="rasterOp" value="maskPen"/>
      <inkml:brushProperty name="ignorePressure" value="1"/>
    </inkml:brush>
  </inkml:definitions>
  <inkml:trace contextRef="#ctx0" brushRef="#br0">1 62 0,'2582'-62'0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1-13T04:18:28.554"/>
    </inkml:context>
    <inkml:brush xml:id="br0">
      <inkml:brushProperty name="width" value="0.2" units="cm"/>
      <inkml:brushProperty name="height" value="0.4" units="cm"/>
      <inkml:brushProperty name="color" value="#A9D8FF"/>
      <inkml:brushProperty name="tip" value="rectangle"/>
      <inkml:brushProperty name="rasterOp" value="maskPen"/>
      <inkml:brushProperty name="ignorePressure" value="1"/>
    </inkml:brush>
  </inkml:definitions>
  <inkml:trace contextRef="#ctx0" brushRef="#br0">0 0,'0'0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1-13T04:18:32.632"/>
    </inkml:context>
    <inkml:brush xml:id="br0">
      <inkml:brushProperty name="width" value="0.2" units="cm"/>
      <inkml:brushProperty name="height" value="0.4" units="cm"/>
      <inkml:brushProperty name="color" value="#A9D8FF"/>
      <inkml:brushProperty name="tip" value="rectangle"/>
      <inkml:brushProperty name="rasterOp" value="maskPen"/>
      <inkml:brushProperty name="ignorePressure" value="1"/>
    </inkml:brush>
  </inkml:definitions>
  <inkml:trace contextRef="#ctx0" brushRef="#br0">0 128,'78'1,"0"0,142-16,-146 8,1 2,87 7,-43 0,-101-2,10 1,1-2,-1-1,46-9,-2-1,0 2,0 4,114 4,-130 2,-43-1,0 0,0-1,0-1,0 0,15-7,39-8,-9 8,-32 4,0 2,42-2,821 7,-871-1</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3T04:18:37.897"/>
    </inkml:context>
    <inkml:brush xml:id="br0">
      <inkml:brushProperty name="width" value="0.2" units="cm"/>
      <inkml:brushProperty name="height" value="0.4" units="cm"/>
      <inkml:brushProperty name="color" value="#A9D8FF"/>
      <inkml:brushProperty name="tip" value="rectangle"/>
      <inkml:brushProperty name="rasterOp" value="maskPen"/>
      <inkml:brushProperty name="ignorePressure" value="1"/>
    </inkml:brush>
  </inkml:definitions>
  <inkml:trace contextRef="#ctx0" brushRef="#br0">0 13 0,'6902'0'0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1-13T04:18:45.421"/>
    </inkml:context>
    <inkml:brush xml:id="br0">
      <inkml:brushProperty name="width" value="0.2" units="cm"/>
      <inkml:brushProperty name="height" value="0.4" units="cm"/>
      <inkml:brushProperty name="color" value="#A9D8FF"/>
      <inkml:brushProperty name="tip" value="rectangle"/>
      <inkml:brushProperty name="rasterOp" value="maskPen"/>
      <inkml:brushProperty name="ignorePressure" value="1"/>
    </inkml:brush>
  </inkml:definitions>
  <inkml:trace contextRef="#ctx0" brushRef="#br0">0 64,'2035'0,"-2000"-1,42-9,-41 5,40-1,656 7,-703-2,45-9,22 0,0-1,-66 6,42-1,1282 7,-1338 0,0 1,28 6,-26-4,-1-1,20 1,537-3,-280-3,743 2,-1019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3T04:18:56.585"/>
    </inkml:context>
    <inkml:brush xml:id="br0">
      <inkml:brushProperty name="width" value="0.2" units="cm"/>
      <inkml:brushProperty name="height" value="0.4" units="cm"/>
      <inkml:brushProperty name="color" value="#A9D8FF"/>
      <inkml:brushProperty name="tip" value="rectangle"/>
      <inkml:brushProperty name="rasterOp" value="maskPen"/>
      <inkml:brushProperty name="ignorePressure" value="1"/>
    </inkml:brush>
  </inkml:definitions>
  <inkml:trace contextRef="#ctx0" brushRef="#br0">0 0 0,'3302'0'0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1-13T04:19:05.083"/>
    </inkml:context>
    <inkml:brush xml:id="br0">
      <inkml:brushProperty name="width" value="0.2" units="cm"/>
      <inkml:brushProperty name="height" value="0.4" units="cm"/>
      <inkml:brushProperty name="color" value="#A9D8FF"/>
      <inkml:brushProperty name="tip" value="rectangle"/>
      <inkml:brushProperty name="rasterOp" value="maskPen"/>
      <inkml:brushProperty name="ignorePressure" value="1"/>
    </inkml:brush>
  </inkml:definitions>
  <inkml:trace contextRef="#ctx0" brushRef="#br0">0 30,'1441'0,"-1424"1,-1 1,28 6,-26-4,0-1,20 1,530-3,-276-3,-241 5,91 16,-89-10,79 3,-70-12,-15 0,0 1,-1 2,75 15,-82-10,0-1,66 1,82-9,-69-1,1111 2,-1213-1,-1 0,0-2,15-3,-14 2,1 1,22-1,-11 3,9 0,67-10,-35 0,0 2,111 0,-172 9,39 1,1-1,-1-3,0-2,48-11,-57 9,1 1,0 2,0 2,56 4,61-4,-85-8,-45 5,47-2,26 9,76-3,-157-3,-5-1</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1-13T04:19:09.216"/>
    </inkml:context>
    <inkml:brush xml:id="br0">
      <inkml:brushProperty name="width" value="0.2" units="cm"/>
      <inkml:brushProperty name="height" value="0.4" units="cm"/>
      <inkml:brushProperty name="color" value="#A9D8FF"/>
      <inkml:brushProperty name="tip" value="rectangle"/>
      <inkml:brushProperty name="rasterOp" value="maskPen"/>
      <inkml:brushProperty name="ignorePressure" value="1"/>
    </inkml:brush>
  </inkml:definitions>
  <inkml:trace contextRef="#ctx0" brushRef="#br0">0 0,'932'0,"-800"11,-10 1,-59-8,66 13,-68-8,75 3,816-11,-451-3,-483 2</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1T18:38:33.478"/>
    </inkml:context>
    <inkml:brush xml:id="br0">
      <inkml:brushProperty name="width" value="0.035" units="cm"/>
      <inkml:brushProperty name="height" value="0.035" units="cm"/>
      <inkml:brushProperty name="color" value="#FFFFFF"/>
    </inkml:brush>
  </inkml:definitions>
  <inkml:trace contextRef="#ctx0" brushRef="#br0">304 2 24575,'484'0'0,"-478"0"0,-3-1 0,1 1 0,-1 0 0,0 0 0,0 0 0,1 0 0,-1 1 0,0-1 0,0 1 0,0 0 0,0 0 0,0 0 0,0 0 0,6 4 0,-9-5 0,0 0 0,0 1 0,0-1 0,-1 1 0,1-1 0,0 0 0,0 1 0,0-1 0,0 0 0,-1 1 0,1-1 0,0 0 0,0 1 0,0-1 0,-1 0 0,1 1 0,0-1 0,-1 0 0,1 0 0,0 1 0,-1-1 0,1 0 0,0 0 0,-1 0 0,1 1 0,0-1 0,-1 0 0,1 0 0,-1 0 0,1 0 0,0 0 0,-1 0 0,1 0 0,-1 0 0,1 0 0,0 0 0,-1 0 0,0 0 0,-23 5 0,22-5 0,-87 14 0,-93 19 0,150-25 0,0 1 0,1 1 0,-49 25 0,69-30 0,1-1 0,-1 0 0,0-1 0,0 0 0,0-1 0,0 0 0,-17 0 0,-85-4 0,51-1 0,4 3-1365,35 0-5461</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1T18:38:46.051"/>
    </inkml:context>
    <inkml:brush xml:id="br0">
      <inkml:brushProperty name="width" value="0.3" units="cm"/>
      <inkml:brushProperty name="height" value="0.6" units="cm"/>
      <inkml:brushProperty name="color" value="#E6E6E6"/>
      <inkml:brushProperty name="tip" value="rectangle"/>
      <inkml:brushProperty name="rasterOp" value="maskPen"/>
      <inkml:brushProperty name="ignorePressure" value="1"/>
    </inkml:brush>
  </inkml:definitions>
  <inkml:trace contextRef="#ctx0" brushRef="#br0">0 1 0,'789'0'0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1T18:39:50.615"/>
    </inkml:context>
    <inkml:brush xml:id="br0">
      <inkml:brushProperty name="width" value="0.35" units="cm"/>
      <inkml:brushProperty name="height" value="0.35" units="cm"/>
      <inkml:brushProperty name="color" value="#FFFFFF"/>
    </inkml:brush>
  </inkml:definitions>
  <inkml:trace contextRef="#ctx0" brushRef="#br0">330 0 24575,'-10'6'0,"-158"64"0,130-55 0,15-9 0,19-5 0,1 0 0,0-1 0,0 1 0,-1 1 0,1-1 0,0 0 0,0 1 0,0-1 0,0 1 0,1 0 0,-1 0 0,-3 3 0,-4 3 0,9-7 0,0-1 0,0 1 0,1-1 0,-1 1 0,0-1 0,0 1 0,1 0 0,-1-1 0,0 1 0,1 0 0,-1 0 0,1-1 0,-1 1 0,1 0 0,-1 0 0,1 0 0,0 0 0,-1-1 0,1 1 0,-1 2 0,-12 27 0,12-28 0,-1-1 0,1 1 0,0-1 0,0 1 0,0 0 0,1 0 0,-1-1 0,0 1 0,0 0 0,1 0 0,0 0 0,-1 0 0,1 0 0,0-1 0,0 1 0,0 0 0,0 0 0,0 0 0,0 0 0,0 0 0,1 0 0,-1 0 0,1 0 0,0-1 0,-1 1 0,1 0 0,0 0 0,0-1 0,1 3 0,1 2 0,0 0 0,0 0 0,-1 0 0,0 0 0,0 1 0,0-1 0,-1 1 0,0-1 0,0 9 0,-2 65 0,-1-34 0,2-20-1365</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1T18:40:14.849"/>
    </inkml:context>
    <inkml:brush xml:id="br0">
      <inkml:brushProperty name="width" value="0.35" units="cm"/>
      <inkml:brushProperty name="height" value="0.35" units="cm"/>
      <inkml:brushProperty name="color" value="#FFFFFF"/>
    </inkml:brush>
  </inkml:definitions>
  <inkml:trace contextRef="#ctx0" brushRef="#br0">5 102 24575,'54'-3'0,"0"-2"0,57-13 0,-36 5 0,182-26 0,-194 31 0,-18 1 0,49-1 0,447 7 0,-254 3 0,-255-1 0,53 10 0,16 2 0,77-2 0,76 3 0,-101-1 0,5 0 0,-112-14 0,-22 0 0,0 0 0,0 2 0,1 1 0,-1 1 0,34 8 0,-31-5 0,-1-2 0,2-1 0,-1-1 0,0-1 0,43-4 0,4 0 0,206 4 0,92-3 0,-207 3 0,-158 0 0,-1 0 0,1 0 0,-1 0 0,1 1 0,-1 0 0,7 3 0,33 7 0,193-9 0,-123-5 0,-72 1 0,-24 0 0,0 0 0,0 2 0,0 0 0,0 2 0,25 5 0,-10-1 0,0-1 0,1-2 0,0-1 0,0-2 0,45-5 0,4 2 0,974 2 0,-1020 2 0,54 9 0,-52-4 0,49 0 0,-79-7 0,13-1 0,1 2 0,0 1 0,0 1 0,26 6 0,-38-6 0,0-1 0,1 0 0,-1-1 0,18-1 0,33 3 0,-21 9 0,-36-9 0,0 0 0,0-1 0,1 0 0,-1-1 0,1 0 0,10 1 0,-14-2 0,1 0 0,-1 0 0,0 1 0,0-1 0,0 1 0,0 0 0,0 1 0,-1-1 0,1 0 0,0 1 0,0 0 0,-1 0 0,1 0 0,-1 1 0,6 4 0,-15-8 0,1 0 0,-1 1 0,0 0 0,0 0 0,-10 2 0,9-2 0,-144 21 0,42-4 0,-35 1 0,-21 4 0,-222 1 0,-684-25 0,593 3 0,262-15 0,77 2 0,-8 2 0,-197-6 0,217 12 0,-41 2 0,-723 11 0,546-11 0,-599 2 0,914-2 0,-51-8 0,53 5 0,1 1 0,-34 0 0,-164 19 0,160-8 0,-99-4 0,155-2 0,1 1 0,0 0 0,-1 0 0,1 0 0,0 1 0,0 0 0,-11 7 0,17-9 0,1-1 0,0 1 0,0-1 0,0 1 0,-1 0 0,1-1 0,0 1 0,0 0 0,0 0 0,0 0 0,1 0 0,-1 0 0,0 0 0,0 0 0,0 0 0,1 0 0,-1 0 0,1 1 0,-1-1 0,1 0 0,-1 0 0,1 1 0,0-1 0,-1 0 0,1 1 0,0-1 0,0 0 0,0 1 0,0-1 0,0 0 0,0 0 0,1 1 0,-1-1 0,0 0 0,1 1 0,-1-1 0,1 0 0,-1 0 0,1 0 0,-1 1 0,1-1 0,0 0 0,0 0 0,0 0 0,1 1 0,2 4 0,0-1 0,1 0 0,0 0 0,0 0 0,0 0 0,12 7 0,10 2 0,0-1 0,1-1 0,1-1 0,0-2 0,0 0 0,1-3 0,37 5 0,106 15 0,35-1 0,-113-14 0,69 3 0,81-1 0,13 0 0,-89-15 0,180 3 0,-281 6 0,-44-4 0,0-1 0,45-1 0,294-30 0,-288 21 0,390-20 0,-96 14 0,-12 2 0,-72 4 0,580-79 0,-348 21 0,-287 41 0,-163 17 0,1 3 0,-1 4 0,0 2 0,75 11 0,28 10 0,168 28 0,-222-24 0,162 57 0,-234-68 0,-18-7 0,37 18 0,-59-24 0,0 0 0,0-1 0,0 0 0,0 1 0,1-1 0,-1-1 0,0 1 0,0-1 0,8 0 0,-11 0 0,-1 0 0,0 0 0,1 0 0,-1-1 0,0 1 0,0 0 0,1 0 0,-1-1 0,0 1 0,0 0 0,0-1 0,1 1 0,-1 0 0,0 0 0,0-1 0,0 1 0,0 0 0,0-1 0,0 1 0,0 0 0,0-1 0,0 1 0,0-1 0,0 1 0,0 0 0,0-1 0,0 1 0,0 0 0,0-1 0,0 1 0,0 0 0,0-1 0,0 1 0,0 0 0,-1 0 0,1-1 0,-6-14 0,0 8 0,0 0 0,-1 0 0,0 1 0,0 0 0,0 0 0,-1 1 0,0-1 0,-13-5 0,-75-30 0,79 35 0,-44-15 0,0 3 0,-1 2 0,-117-12 0,-194 13 0,326 17 0,-53 11 0,58-7 0,-73 2 0,111-8 0,0 0 0,0 1 0,0-1 0,1 0 0,-1 1 0,0 0 0,1 0 0,-1 0 0,0 1 0,1-1 0,0 1 0,-1 0 0,1-1 0,-5 5 0,8-5 0,0-1 0,0 1 0,0-1 0,0 1 0,0-1 0,0 0 0,0 1 0,0-1 0,1 1 0,-1-1 0,0 1 0,0-1 0,0 0 0,1 1 0,-1-1 0,0 0 0,1 1 0,-1-1 0,0 0 0,1 1 0,-1-1 0,0 0 0,1 0 0,-1 1 0,0-1 0,1 0 0,-1 0 0,1 0 0,-1 0 0,1 1 0,-1-1 0,1 0 0,-1 0 0,0 0 0,1 0 0,-1 0 0,1 0 0,0 0 0,23 7 0,257 43 0,-101-21 0,42 8 0,-215-36 0,0 1 0,0-1 0,0 1 0,0 1 0,0-1 0,0 1 0,8 5 0,-35-5 0,-285-14 0,23 0 0,-252 21 0,90 1 0,52 1 0,-68 0 0,-28-36 0,59 0 0,304 23 0,-176 20 0,-20 13 0,249-20 0,44-7 0,-36 3 0,-36 5 0,71-8 0,0-1 0,-33 0 0,40-4 0,0-1 0,0-2 0,0 0 0,-21-6 0,-83-19 0,-53-15 0,-390-96 0,469 117 0,-336-57 0,309 64 0,-187 1 0,301 14 0,0 1 0,0 1 0,-16 4 0,25-5 0,0 0 0,0 0 0,0 0 0,0 1 0,0 0 0,0-1 0,0 2 0,0-1 0,1 0 0,-1 1 0,1-1 0,0 1 0,-5 5 0,8-7 0,0-1 0,0 1 0,-1 0 0,1 0 0,0 0 0,0-1 0,0 1 0,0 0 0,0 0 0,0 0 0,0-1 0,1 1 0,-1 0 0,0 0 0,0 0 0,1-1 0,-1 1 0,0 0 0,1 0 0,-1-1 0,0 1 0,1 0 0,-1-1 0,1 1 0,-1-1 0,1 1 0,0 0 0,-1-1 0,1 0 0,0 1 0,-1-1 0,1 1 0,0-1 0,-1 0 0,1 1 0,1-1 0,28 14 0,45 9 0,117 21 0,82-5 0,922 164 0,-864-139 0,-174-41 0,213 2 0,-268-21 0,583 0 0,-610-9-341,0-3 0,0-4-1,101-28 1,-103 20-6485</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1T18:40:16.612"/>
    </inkml:context>
    <inkml:brush xml:id="br0">
      <inkml:brushProperty name="width" value="0.35" units="cm"/>
      <inkml:brushProperty name="height" value="0.35" units="cm"/>
      <inkml:brushProperty name="color" value="#FFFFFF"/>
    </inkml:brush>
  </inkml:definitions>
  <inkml:trace contextRef="#ctx0" brushRef="#br0">130 1 24575,'-15'14'0,"-8"9"0,-24 31 0,41-47 0,0 1 0,1 0 0,0 0 0,1 1 0,0-1 0,0 1 0,1 0 0,-4 16 0,7-21 0,0-1 0,0 0 0,0 0 0,0 1 0,1-1 0,0 0 0,-1 0 0,1 0 0,0 1 0,0-1 0,1 0 0,-1-1 0,1 1 0,-1 0 0,1 0 0,0-1 0,0 1 0,0-1 0,1 1 0,-1-1 0,0 0 0,1 0 0,4 3 0,2 1 0,0 0 0,0 0 0,1-1 0,0 0 0,17 5 0,17 1-241,0-2 1,1-2-1,48 2 0,-80-8-161</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1T18:40:17.317"/>
    </inkml:context>
    <inkml:brush xml:id="br0">
      <inkml:brushProperty name="width" value="0.35" units="cm"/>
      <inkml:brushProperty name="height" value="0.35" units="cm"/>
      <inkml:brushProperty name="color" value="#FFFFFF"/>
    </inkml:brush>
  </inkml:definitions>
  <inkml:trace contextRef="#ctx0" brushRef="#br0">1 0 24575,'22'18'0,"-15"-12"0,49 35-1365</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1T18:40:18.087"/>
    </inkml:context>
    <inkml:brush xml:id="br0">
      <inkml:brushProperty name="width" value="0.35" units="cm"/>
      <inkml:brushProperty name="height" value="0.35" units="cm"/>
      <inkml:brushProperty name="color" value="#FFFFFF"/>
    </inkml:brush>
  </inkml:definitions>
  <inkml:trace contextRef="#ctx0" brushRef="#br0">1 127 24575,'21'-5'0,"169"-35"0,106-30 0,-253 58-1365</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1T18:40:30.928"/>
    </inkml:context>
    <inkml:brush xml:id="br0">
      <inkml:brushProperty name="width" value="0.35" units="cm"/>
      <inkml:brushProperty name="height" value="0.35" units="cm"/>
      <inkml:brushProperty name="color" value="#FFFFFF"/>
    </inkml:brush>
  </inkml:definitions>
  <inkml:trace contextRef="#ctx0" brushRef="#br0">1094 306 24575,'0'0'0,"483"28"0,-156-3 0,-158-15 0,156 4 0,392-15 0,-676 3 0,46 8 0,-56-5 0,0-2 0,0 0 0,46-4 0,421-21 0,-483 21 0,0-1 0,28-8 0,-13 1 0,-24 5 0,-127 6 0,-214 7 0,-250-11 0,207-6 0,320 8 0,58 0 0,0 0 0,1 0 0,-1 0 0,0 0 0,0 0 0,0-1 0,0 1 0,0 0 0,1 0 0,-1 0 0,0 0 0,0 0 0,0 0 0,0-1 0,0 1 0,0 0 0,0 0 0,0 0 0,0 0 0,0 0 0,0-1 0,0 1 0,1 0 0,-1 0 0,0 0 0,0 0 0,0-1 0,0 1 0,0 0 0,0 0 0,-1 0 0,1 0 0,0 0 0,0-1 0,0 1 0,0 0 0,0 0 0,0 0 0,0 0 0,0 0 0,0-1 0,0 1 0,0 0 0,0 0 0,-1 0 0,1 0 0,0 0 0,0 0 0,0 0 0,0-1 0,0 1 0,0 0 0,-1 0 0,1 0 0,0 0 0,0 0 0,0 0 0,0 0 0,-1 0 0,1 0 0,0 0 0,0 0 0,0 0 0,-1 0 0,13-8 0,2 4 0,-1 1 0,1 1 0,0 0 0,-1 1 0,1 1 0,15 1 0,2-1 0,206-13 0,21 0 0,476 14 0,-513 13 0,-107-4 0,342 15 0,0-32 0,-148-5 0,-84 6 0,-104-6 0,26-1 0,-58 14 0,-39 1 0,1-3 0,73-10 0,74-20 0,-162 26 0,-15 2 0,-1-1 0,32-9 0,-24 8 0,-24 5 0,0 0 0,0 0 0,0 0 0,-1-1 0,1 1 0,0-1 0,0 0 0,0 0 0,0 0 0,0 0 0,-1 0 0,1-1 0,-1 1 0,5-4 0,-7 4 0,1 1 0,-1-1 0,0 1 0,-1-1 0,1 1 0,0-1 0,0 1 0,0-1 0,0 1 0,0-1 0,0 1 0,-1 0 0,1-1 0,0 1 0,0-1 0,-1 1 0,1-1 0,0 1 0,-1 0 0,1-1 0,0 1 0,-1 0 0,1-1 0,-1 1 0,1 0 0,0 0 0,-1-1 0,1 1 0,-1 0 0,1 0 0,-1 0 0,1-1 0,-1 1 0,1 0 0,-1 0 0,1 0 0,-1 0 0,1 0 0,-1 0 0,0 0 0,-23-2 0,-150 25 0,-121-4 0,-55-8 0,42-3 0,-374 8 0,571-16 0,96 1 0,0 1 0,-26 7 0,12 0 0,22-5 0,146 17 0,261 32 0,-243-46 0,-147-7 0,-6 1 0,1-1 0,-1-1 0,1 1 0,-1-1 0,1 0 0,5-1 0,-10 2 0,0-1 0,1 1 0,-1 0 0,0 0 0,0 0 0,1 0 0,-1 0 0,0 0 0,0 0 0,1-1 0,-1 1 0,0 0 0,0 0 0,0 0 0,1-1 0,-1 1 0,0 0 0,0 0 0,0-1 0,0 1 0,0 0 0,1 0 0,-1-1 0,0 1 0,0 0 0,0 0 0,0-1 0,0 1 0,0 0 0,0-1 0,0 1 0,0 0 0,0 0 0,0-1 0,0 1 0,0-1 0,-17-12 0,-24-6 0,-1 3 0,-1 2 0,0 1 0,-64-9 0,-21-7 0,-158-41 0,-2 13 0,-491-33 0,498 65 0,-96 19 0,220 8 0,-45 14 0,128-7 0,-135 17 0,142-15 0,41-6 0,-36 2 0,-86 9 0,58-5 0,4-1 0,-80 6 0,-23-4 0,-13 1 0,-200-14 0,392 2 0,0 0 0,0 1 0,0 0 0,-17 5 0,17-3 0,0-1 0,-1-1 0,1 0 0,-15 1 0,-47-4 0,72 1 0,0 0 0,0 0 0,0 0 0,0-1 0,0 1 0,-1 0 0,1 0 0,0 0 0,0 0 0,0 0 0,0 0 0,0 0 0,0 0 0,0 0 0,-1 0 0,1 0 0,0 0 0,0 0 0,0 0 0,0 0 0,0 0 0,0 0 0,0 0 0,-1 0 0,1 1 0,0-1 0,0 0 0,0 0 0,0 0 0,0 0 0,0 0 0,0 0 0,0 0 0,0 0 0,0 0 0,-1 0 0,1 0 0,0 0 0,0 1 0,0-1 0,0 0 0,0 0 0,0 0 0,0 0 0,0 0 0,0 0 0,0 0 0,0 1 0,0-1 0,0 0 0,0 0 0,0 0 0,0 0 0,0 0 0,0 0 0,0 0 0,0 0 0,0 1 0,0-1 0,0 0 0,0 0 0,9 8 0,12 5 0,28 5 0,1-3 0,0-2 0,69 9 0,-44-8 0,992 152 0,-764-125 0,206 8 0,-67-9 0,-279-10 0,-48-6 0,-62-14 0,-32-5 0,-1-1 0,1 0 0,0-2 0,0-1 0,25-1 0,-147 1 0,26-2 0,-726 49 0,552-29 0,109-12 0,0-5 0,-1-6 0,-200-33 0,319 33 0,0 2 0,0 1 0,0 0 0,0 2 0,0 0 0,0 1 0,-24 7 0,-3-3 0,40-6 0,0 1 0,0 0 0,1 0 0,-1 1 0,0 0 0,1 0 0,0 1 0,-1 0 0,-12 7 0,21-10 0,0 1 0,0-1 0,0 0 0,-1 0 0,1 0 0,0 0 0,0 0 0,0 0 0,0 1 0,0-1 0,0 0 0,-1 0 0,1 0 0,0 0 0,0 1 0,0-1 0,0 0 0,0 0 0,0 0 0,0 1 0,0-1 0,0 0 0,0 0 0,0 0 0,0 0 0,0 1 0,0-1 0,0 0 0,0 0 0,0 0 0,0 1 0,0-1 0,0 0 0,0 0 0,0 0 0,0 1 0,1-1 0,-1 0 0,0 0 0,0 0 0,10 8 0,13 3 0,13-1 0,1-2 0,0-1 0,-1-2 0,58 1 0,-38-3 0,558 4 0,2-51 0,-418 27 0,333 12 0,-238 42 0,-194-20 0,192 6 0,-260-23 0,-16 1 0,0-1 0,-1 0 0,1-1 0,-1-1 0,1 0 0,-1-1 0,19-7 0,-24 7 0,15-9 0,-22 4 0,-14-4 0,2 6 0,0 1 0,-1 0 0,1 0 0,-1 1 0,0 0 0,-13-2 0,-73-10 0,54 10 0,-809-99 0,309 44 0,-197-17 0,371 75 0,24 1 0,185-8 0,-147-6 0,-122 17 0,413 0 0,-1 0 0,1 1 0,-27 6 0,37-6 0,0-1 0,1 1 0,-1 0 0,0 0 0,1 1 0,0-1 0,0 1 0,-1 0 0,2 1 0,-1-1 0,0 1 0,1 0 0,-6 7 0,9-10 0,0 0 0,1 0 0,-1 0 0,0 0 0,1 0 0,-1 1 0,1-1 0,-1 0 0,1 0 0,0 1 0,0-1 0,-1 0 0,1 1 0,0-1 0,0 0 0,0 0 0,0 1 0,0-1 0,1 0 0,-1 1 0,0-1 0,2 2 0,-1 0 0,0-1 0,1 0 0,-1 0 0,1 0 0,0 0 0,-1 0 0,1 0 0,0 0 0,0-1 0,5 3 0,3 2 0,1 0 0,0-2 0,0 1 0,14 3 0,4-1 0,1-1 0,1-1 0,-1-1 0,55-1 0,-33-6 0,0-1 0,53-12 0,-99 15 0,0-1 0,0 0 0,0 1 0,0-2 0,0 1 0,0-1 0,-1 0 0,1 0 0,-1 0 0,0-1 0,0 0 0,0 0 0,5-6 0,-8 8 0,-1 0 0,0-1 0,1 1 0,-1 0 0,0 0 0,0 0 0,0-1 0,-1 1 0,1 0 0,-1-1 0,1 1 0,-1-1 0,0 1 0,1-1 0,-1 1 0,-1 0 0,1-1 0,0 1 0,-1-1 0,1 1 0,-1-1 0,0 1 0,1 0 0,-1 0 0,0-1 0,-1 1 0,1 0 0,0 0 0,0 0 0,-1 0 0,0 0 0,1 0 0,-1 1 0,0-1 0,-3-2 0,-5-5 0,-1 1 0,0 0 0,0 1 0,-1 0 0,0 1 0,0 0 0,0 1 0,-1 1 0,0-1 0,0 2 0,-15-3 0,-5 1 0,0 1 0,0 2 0,-44 2 0,74 0 0,-23 1 0,-1 0 0,0 2 0,1 1 0,-1 1 0,-29 9 0,41-9 0,-1-1 0,0-1 0,0 0 0,0-1 0,0-1 0,0-1 0,-22-2 0,38 2 0,0-1 0,0 1 0,0-1 0,0 1 0,0-1 0,0 1 0,0-1 0,0 1 0,0 0 0,0-1 0,0 1 0,1-1 0,-1 1 0,0-1 0,0 1 0,0-1 0,1 1 0,-1-1 0,0 1 0,0 0 0,1-1 0,-1 1 0,0-1 0,1 1 0,-1 0 0,0-1 0,1 1 0,-1 0 0,1-1 0,12-20 0,-12 21 0,-1 0 0,0-1 0,0 1 0,0-1 0,1 1 0,-1 0 0,0-1 0,0 1 0,0-1 0,0 1 0,0-1 0,0 1 0,0-1 0,0 1 0,0 0 0,0-1 0,0 1 0,0-1 0,0 1 0,0-1 0,0 1 0,0-1 0,-1 1 0,1 0 0,0-1 0,0 1 0,0-1 0,-1 1 0,1 0 0,0-1 0,-1 1 0,1 0 0,0-1 0,-1 1 0,1 0 0,0-1 0,-1 1 0,0 0 0,-12-6 0,0 2 0,0-1 0,0 2 0,-1 0 0,0 0 0,1 1 0,-1 1 0,0 0 0,0 1 0,0 1 0,0 0 0,0 1 0,1 0 0,-24 7 0,-12 3 0,48-13 0,1 0 0,0 0 0,0 0 0,-1 0 0,1 0 0,0 0 0,0 0 0,0 0 0,0 0 0,0 0 0,1 0 0,-1 0 0,0 0 0,0 0 0,1 0 0,-1 0 0,1 0 0,-1 0 0,1 0 0,-1 0 0,1 0 0,-1 1 0,2-2 0,-1 2 0,0-1 0,0 1 0,0 0 0,0-1 0,0 1 0,0-1 0,0 0 0,0 1 0,0-1 0,0 0 0,0 1 0,0-1 0,0 0 0,0 0 0,-1 0 0,1 0 0,0 0 0,-1 0 0,1 0 0,-1 0 0,1 0 0,-1 0 0,1 0 0,0-2 0,-2 1 0,1 1 0,-1 0 0,1 0 0,-1 0 0,1 0 0,-1 0 0,0 0 0,1 0 0,-1 0 0,0 1 0,0-1 0,0 0 0,0 0 0,0 1 0,0-1 0,0 0 0,0 1 0,0-1 0,-2 0 0,-2-2 0,0 1 0,-1 0 0,0 1 0,1-1 0,-1 1 0,0 0 0,0 0 0,0 1 0,-7-1 0,9 2 0,-1 0 0,1 0 0,-1 1 0,1-1 0,0 1 0,-1 0 0,1 0 0,0 0 0,0 1 0,1 0 0,-1-1 0,0 1 0,-5 7 0,8-9 0,0 1 0,0-1 0,0 0 0,0 1 0,0 0 0,1-1 0,-1 1 0,0-1 0,1 1 0,-1 0 0,1 0 0,0-1 0,0 1 0,0 0 0,0 0 0,0-1 0,0 1 0,0 0 0,0 0 0,0-1 0,1 1 0,-1 0 0,1-1 0,0 1 0,-1 0 0,1-1 0,0 1 0,0-1 0,0 1 0,0-1 0,0 0 0,0 1 0,0-1 0,1 0 0,-1 0 0,0 0 0,1 0 0,-1 0 0,3 2 0,12 6 0,1 0 0,0 0 0,1-2 0,-1 0 0,2-1 0,23 5 0,-37-10 0,83 21 0,2-5 0,100 7 0,188-13 0,-162-12 0,-393 11 0,46 0 0,-383-4 0,451-6 0,39 2 0,-1 2 0,-37 10 0,45-10 0,27-4 0,-1 1 0,1 0 0,15 4 0,18 3 0,654 29 0,-677-38 0,0-1 0,0 0 0,27-8 0,-32 6 0,-1 1 0,1 0 0,0 1 0,-1 1 0,1 0 0,24 3 0,-36-2 0,0 1 0,1 0 0,-1 0 0,0 0 0,0 0 0,0 0 0,0 1 0,-1-1 0,1 1 0,4 3 0,-6-4 0,-1-1 0,1 1 0,-1-1 0,1 1 0,-1-1 0,0 1 0,1-1 0,-1 1 0,0 0 0,1-1 0,-1 1 0,0-1 0,0 1 0,0 0 0,1-1 0,-1 1 0,0 0 0,0-1 0,0 1 0,0 0 0,0 1 0,-1-1 0,1 0 0,-1 0 0,1 0 0,-1 0 0,0 0 0,1 0 0,-1 0 0,0 0 0,0 0 0,0-1 0,0 1 0,0 0 0,0 0 0,0-1 0,0 1 0,0-1 0,-1 1 0,-23 10 0,0-2 0,-1 0 0,0-2 0,-43 6 0,37-7 0,-58 15 0,40-9 0,-61 8 0,68-18 0,-48-3 0,19-1 0,66 2 0,1-1 0,-1-1 0,1 1 0,-1-1 0,1 0 0,-8-4 0,-19-5 0,-57-15 0,55 15 0,27 8 0,-1 0 0,1 1 0,-1 0 0,0 0 0,1 1 0,-16-1 0,20 1 0,1 0 0,-1 1 0,0-1 0,1 0 0,-1 0 0,1 0 0,-1-1 0,1 1 0,-3-3 0,-1-4 0,6 7 0,1 1 0,-1-1 0,1 1 0,-1-1 0,1 1 0,-1 0 0,1-1 0,-1 1 0,1 0 0,-1 0 0,1-1 0,0 1 0,-1 0 0,1 0 0,0 0 0,-1 0 0,1 0 0,-1 0 0,1 0 0,0 0 0,-1 0 0,2 0 0,94-2 0,376-11 0,330-36 0,173-8 0,-733 47 0,514-11 0,-213-10 0,-5-47 0,-413 58 0,340-70 0,-231 36 0,-182 48 0,-32 6 0,-19 0 0,-8 2 0,-432 92 0,372-82 0,-53 9 0,-143 45 0,87-18 0,163-45 0,-45 9 0,-93 6 0,-74-7 0,-382-30 0,-218-80 0,802 96 0,-519-53 0,-1 55 0,107 16 0,201-10 0,-21 25 0,135-11 0,-129 32 0,243-49 0,-1 0 0,0 0 0,1 1 0,0 0 0,-1 0 0,1 1 0,1 0 0,-1 0 0,-6 6 0,11-8 0,1-1 0,-1 1 0,1-1 0,0 1 0,0 0 0,0-1 0,0 1 0,0 0 0,0 0 0,0 0 0,0 0 0,1 0 0,-1 0 0,1 0 0,-1 4 0,1-3 0,0-1 0,1 1 0,-1 0 0,1 0 0,0 0 0,0-1 0,0 1 0,0 0 0,0-1 0,0 1 0,1-1 0,-1 0 0,1 1 0,3 2 0,7 8 0,0-1 0,1-1 0,1 0 0,0 0 0,0-2 0,1 0 0,19 9 0,46 30 0,-79-47 0,0 0 0,0-1 0,0 1 0,0 0 0,-1 0 0,1 0 0,0 0 0,-1 0 0,1 0 0,0 0 0,-1 0 0,1 0 0,-1 0 0,0 0 0,1 0 0,-1 0 0,0 0 0,0 0 0,1 0 0,-1 1 0,0-1 0,0 0 0,0 0 0,0 0 0,-1 0 0,1 0 0,0 1 0,0-1 0,-1 0 0,1 0 0,-1 0 0,1 0 0,-1 0 0,1 0 0,-1 0 0,1 0 0,-1 0 0,0 0 0,0-1 0,0 1 0,1 0 0,-1 0 0,0 0 0,-1 0 0,-4 4 0,0 0 0,0 0 0,-1-1 0,-13 8 0,-10 2 0,-60 20 0,83-32 0,-7 2 0,24-10 0,164-62 132,-102 41-1629,40-15-5329</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1T18:40:00.432"/>
    </inkml:context>
    <inkml:brush xml:id="br0">
      <inkml:brushProperty name="width" value="0.35" units="cm"/>
      <inkml:brushProperty name="height" value="0.35" units="cm"/>
      <inkml:brushProperty name="color" value="#FFFFFF"/>
    </inkml:brush>
  </inkml:definitions>
  <inkml:trace contextRef="#ctx0" brushRef="#br0">1 0 24575,'0'0'0,"0"0"0,0 0 0,0 0 0,0 0 0,0 0 0,0 0 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1T18:40:03.152"/>
    </inkml:context>
    <inkml:brush xml:id="br0">
      <inkml:brushProperty name="width" value="0.35" units="cm"/>
      <inkml:brushProperty name="height" value="0.35" units="cm"/>
      <inkml:brushProperty name="color" value="#FFFFFF"/>
    </inkml:brush>
  </inkml:definitions>
  <inkml:trace contextRef="#ctx0" brushRef="#br0">1 129 24575,'0'0'0,"6"0"0,775 0 0,-812-20 0,-23 11 0,43 8 0,-1-1 0,1 0 0,-17-5 0,-86-19 0,12 0 0,93 24 0,-1-1 0,1 1 0,-1 1 0,0 0 0,-18 0 0,19 2 0,-1-2 0,1 1 0,-1-1 0,0-1 0,-17-4 0,12 1 0,-1 1 0,1 1 0,-1 1 0,0 0 0,0 1 0,-28 2 0,38-1 0,262 0-1365</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1T18:40:04.945"/>
    </inkml:context>
    <inkml:brush xml:id="br0">
      <inkml:brushProperty name="width" value="0.35" units="cm"/>
      <inkml:brushProperty name="height" value="0.35" units="cm"/>
      <inkml:brushProperty name="color" value="#FFFFFF"/>
    </inkml:brush>
  </inkml:definitions>
  <inkml:trace contextRef="#ctx0" brushRef="#br0">132 78 24575,'-2'-1'0,"1"-1"0,-1 1 0,0-1 0,1 1 0,-1 0 0,0 0 0,0 0 0,0 0 0,0 0 0,0 0 0,0 1 0,0-1 0,-3 0 0,4 1 0,-29-8 0,22 6 0,0 0 0,0 0 0,0-1 0,0 0 0,0-1 0,1 1 0,-8-6 0,14 8 8,1 1 0,0 0 0,0-1-1,0 1 1,-1-1 0,1 1 0,0-1-1,0 1 1,0-1 0,0 1 0,0-1-1,0 1 1,0-1 0,0 1 0,0-1-1,1 1 1,-1 0 0,0-1 0,0 1-1,0-1 1,0 1 0,1-1 0,-1 1-1,0 0 1,0-1 0,1 1 0,-1-1-1,0 1 1,1 0 0,-1-1 0,0 1-1,1 0 1,-1 0 0,0-1 0,1 1 0,-1 0-1,1 0 1,-1 0 0,1-1 0,-1 1-1,0 0 1,1 0 0,0 0 0,21-10-1715</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1T18:40:05.677"/>
    </inkml:context>
    <inkml:brush xml:id="br0">
      <inkml:brushProperty name="width" value="0.35" units="cm"/>
      <inkml:brushProperty name="height" value="0.35" units="cm"/>
      <inkml:brushProperty name="color" value="#FFFFFF"/>
    </inkml:brush>
  </inkml:definitions>
  <inkml:trace contextRef="#ctx0" brushRef="#br0">1 0 24575,'0'0'0</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1T18:40:35.920"/>
    </inkml:context>
    <inkml:brush xml:id="br0">
      <inkml:brushProperty name="width" value="0.35" units="cm"/>
      <inkml:brushProperty name="height" value="0.35" units="cm"/>
      <inkml:brushProperty name="color" value="#FFFFFF"/>
    </inkml:brush>
  </inkml:definitions>
  <inkml:trace contextRef="#ctx0" brushRef="#br0">1 0 24575,'0'0'0</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1T18:40:36.591"/>
    </inkml:context>
    <inkml:brush xml:id="br0">
      <inkml:brushProperty name="width" value="0.35" units="cm"/>
      <inkml:brushProperty name="height" value="0.35" units="cm"/>
      <inkml:brushProperty name="color" value="#FFFFFF"/>
    </inkml:brush>
  </inkml:definitions>
  <inkml:trace contextRef="#ctx0" brushRef="#br0">1 0 24575,'0'0'0</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1T18:40:37.216"/>
    </inkml:context>
    <inkml:brush xml:id="br0">
      <inkml:brushProperty name="width" value="0.35" units="cm"/>
      <inkml:brushProperty name="height" value="0.35" units="cm"/>
      <inkml:brushProperty name="color" value="#FFFFFF"/>
    </inkml:brush>
  </inkml:definitions>
  <inkml:trace contextRef="#ctx0" brushRef="#br0">0 0 24575,'11'10'0,"15"5"0,1 0 0,1-2 0,53 18 0,-44-17 0,17 6 0,2-2 0,0-3 0,0-2 0,59 6 0,184 7-1365</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1T18:40:39.304"/>
    </inkml:context>
    <inkml:brush xml:id="br0">
      <inkml:brushProperty name="width" value="0.35" units="cm"/>
      <inkml:brushProperty name="height" value="0.35" units="cm"/>
      <inkml:brushProperty name="color" value="#FFFFFF"/>
    </inkml:brush>
  </inkml:definitions>
  <inkml:trace contextRef="#ctx0" brushRef="#br0">0 1 24575,'0'0'0</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1-13T04:20:09.095"/>
    </inkml:context>
    <inkml:brush xml:id="br0">
      <inkml:brushProperty name="width" value="0.2" units="cm"/>
      <inkml:brushProperty name="height" value="0.4" units="cm"/>
      <inkml:brushProperty name="color" value="#A9D8FF"/>
      <inkml:brushProperty name="tip" value="rectangle"/>
      <inkml:brushProperty name="rasterOp" value="maskPen"/>
      <inkml:brushProperty name="ignorePressure" value="1"/>
    </inkml:brush>
  </inkml:definitions>
  <inkml:trace contextRef="#ctx0" brushRef="#br0">0 2,'91'0,"10"-2,140 17,-18 10,-159-16,-14-1,79 1,-67-10,114 14,-46-1,-4-2,-49-2,-47-6,46 9,-34-2,-21-5,0 1,-1 1,36 14,-42-14,1-1,0 0,-1-1,1 0,1-2,23 2,96-5,-55-1,28 4,119-4,-214-1,0 1,0-2,-1 0,1 0,19-10,-20 8,0 1,1 0,-1 0,1 2,20-4,20-3,-39 5</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1-13T04:20:18.518"/>
    </inkml:context>
    <inkml:brush xml:id="br0">
      <inkml:brushProperty name="width" value="0.2" units="cm"/>
      <inkml:brushProperty name="height" value="0.4" units="cm"/>
      <inkml:brushProperty name="color" value="#A9D8FF"/>
      <inkml:brushProperty name="tip" value="rectangle"/>
      <inkml:brushProperty name="rasterOp" value="maskPen"/>
      <inkml:brushProperty name="ignorePressure" value="1"/>
    </inkml:brush>
  </inkml:definitions>
  <inkml:trace contextRef="#ctx0" brushRef="#br0">0 67,'225'-16,"-56"10,-128 8,-1-3,1-1,-1-2,43-10,-45 5,1 2,74-3,81 11,-73 1,-81-2,-10-1,0 1,0 2,0 1,31 6,-45-5,0-1</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3T04:20:33.091"/>
    </inkml:context>
    <inkml:brush xml:id="br0">
      <inkml:brushProperty name="width" value="0.2" units="cm"/>
      <inkml:brushProperty name="height" value="0.4" units="cm"/>
      <inkml:brushProperty name="color" value="#A9D8FF"/>
      <inkml:brushProperty name="tip" value="rectangle"/>
      <inkml:brushProperty name="rasterOp" value="maskPen"/>
      <inkml:brushProperty name="ignorePressure" value="1"/>
    </inkml:brush>
  </inkml:definitions>
  <inkml:trace contextRef="#ctx0" brushRef="#br0">1 0 0,'7048'276'0</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1-13T04:20:40.150"/>
    </inkml:context>
    <inkml:brush xml:id="br0">
      <inkml:brushProperty name="width" value="0.2" units="cm"/>
      <inkml:brushProperty name="height" value="0.4" units="cm"/>
      <inkml:brushProperty name="color" value="#A9D8FF"/>
      <inkml:brushProperty name="tip" value="rectangle"/>
      <inkml:brushProperty name="rasterOp" value="maskPen"/>
      <inkml:brushProperty name="ignorePressure" value="1"/>
    </inkml:brush>
  </inkml:definitions>
  <inkml:trace contextRef="#ctx0" brushRef="#br0">0 293,'25'-1,"-1"-2,25-5,-2 1,3-3,0-2,49-18,-20 0,-58 21,0 1,0 0,1 2,0 1,0 0,43-2,-16 5,0-2,0-2,65-16,-81 17,1 1,0 1,-1 2,42 4,4-1,802-2,-853 2,48 8,-47-6,46 3,-30-7,-7-1,0 2,69 11,-18-1,-65-9,1 1,46 12,-47-9,0 0,0-2,45 2,77-7,-54-1,-18 3,84-2,-123-4,42-11,-51 9,0 2,0 1,39-2,35 8,96-3,-90-20,-65 14,-5 1,1 1,39 0,-41 5,-1-2,46-8,-45 6,0 2,52 1,31 0,-61-10,-42 8,1 0,22-1,46-7,-58 7,34-2,-57 6,-1 0,1 1,-1-1,1 0,-1-1,1 1,-1 0,1-1,-1 1,1-1,-1 0,1 0,-1 0,0 0,1 0,-1 0,0-1,0 1,0-1,0 1,0-1,-1 0,1 0,2-3,1-8</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3T04:20:44.885"/>
    </inkml:context>
    <inkml:brush xml:id="br0">
      <inkml:brushProperty name="width" value="0.2" units="cm"/>
      <inkml:brushProperty name="height" value="0.4" units="cm"/>
      <inkml:brushProperty name="color" value="#A9D8FF"/>
      <inkml:brushProperty name="tip" value="rectangle"/>
      <inkml:brushProperty name="rasterOp" value="maskPen"/>
      <inkml:brushProperty name="ignorePressure" value="1"/>
    </inkml:brush>
  </inkml:definitions>
  <inkml:trace contextRef="#ctx0" brushRef="#br0">0 213 0,'5187'-212'0</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3T04:21:16.479"/>
    </inkml:context>
    <inkml:brush xml:id="br0">
      <inkml:brushProperty name="width" value="0.2" units="cm"/>
      <inkml:brushProperty name="height" value="0.4" units="cm"/>
      <inkml:brushProperty name="color" value="#A9D8FF"/>
      <inkml:brushProperty name="tip" value="rectangle"/>
      <inkml:brushProperty name="rasterOp" value="maskPen"/>
      <inkml:brushProperty name="ignorePressure" value="1"/>
    </inkml:brush>
  </inkml:definitions>
  <inkml:trace contextRef="#ctx0" brushRef="#br0">0 1 0,'1228'64'0</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1-13T04:21:19.081"/>
    </inkml:context>
    <inkml:brush xml:id="br0">
      <inkml:brushProperty name="width" value="0.2" units="cm"/>
      <inkml:brushProperty name="height" value="0.4" units="cm"/>
      <inkml:brushProperty name="color" value="#A9D8FF"/>
      <inkml:brushProperty name="tip" value="rectangle"/>
      <inkml:brushProperty name="rasterOp" value="maskPen"/>
      <inkml:brushProperty name="ignorePressure" value="1"/>
    </inkml:brush>
  </inkml:definitions>
  <inkml:trace contextRef="#ctx0" brushRef="#br0">0 0,'38'2,"0"2,52 12,-48-8,63 5,-99-13,13 0,0 1,0 0,0 2,0 0,0 1,28 10,-24-5,1-2,0 0,1-2,-1 0,36 1,128-6,-83-3,361 3,-454 1,-1 0,0 1,19 5,14 2,-28-7</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1-13T04:21:22.418"/>
    </inkml:context>
    <inkml:brush xml:id="br0">
      <inkml:brushProperty name="width" value="0.2" units="cm"/>
      <inkml:brushProperty name="height" value="0.4" units="cm"/>
      <inkml:brushProperty name="color" value="#A9D8FF"/>
      <inkml:brushProperty name="tip" value="rectangle"/>
      <inkml:brushProperty name="rasterOp" value="maskPen"/>
      <inkml:brushProperty name="ignorePressure" value="1"/>
    </inkml:brush>
  </inkml:definitions>
  <inkml:trace contextRef="#ctx0" brushRef="#br0">0 1,'679'0,"-656"2,-1 0,1 1,38 12,-38-9,1 0,-1-2,32 2,-26-4,34 6,-35-3,42 1,735-7,-794 0,-1 0,1-1,-1 0,1-1,-1 0,15-6,-14 4,1 1,-1 0,1 1,22-3,2 6,-29 1,1-1,-1 0,0 0,0 0,1-1,-1 0,8-3,-5-3,-6-2</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1-13T04:21:33.469"/>
    </inkml:context>
    <inkml:brush xml:id="br0">
      <inkml:brushProperty name="width" value="0.2" units="cm"/>
      <inkml:brushProperty name="height" value="0.4" units="cm"/>
      <inkml:brushProperty name="color" value="#A9D8FF"/>
      <inkml:brushProperty name="tip" value="rectangle"/>
      <inkml:brushProperty name="rasterOp" value="maskPen"/>
      <inkml:brushProperty name="ignorePressure" value="1"/>
    </inkml:brush>
  </inkml:definitions>
  <inkml:trace contextRef="#ctx0" brushRef="#br0">0 0</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1-13T04:21:45.987"/>
    </inkml:context>
    <inkml:brush xml:id="br0">
      <inkml:brushProperty name="width" value="0.2" units="cm"/>
      <inkml:brushProperty name="height" value="0.4" units="cm"/>
      <inkml:brushProperty name="color" value="#A9D8FF"/>
      <inkml:brushProperty name="tip" value="rectangle"/>
      <inkml:brushProperty name="rasterOp" value="maskPen"/>
      <inkml:brushProperty name="ignorePressure" value="1"/>
    </inkml:brush>
  </inkml:definitions>
  <inkml:trace contextRef="#ctx0" brushRef="#br0">0 0,'699'0,"-674"1,46 9,-45-5,43 1,1805-5,-889-3,-848 0,145 5,-92 18,-120-12,-35-3,54 0,-59-7,-1 1,1 1,-1 2,1 1,-1 1,39 12,-66-16,-1-1,0 1,1 0,-1-1,0 1,0-1,0 1,1-1,-1 0,0 0,0 1,1-1,-1 0,0 0,1 0,-1 0,0 0,0-1,1 1,-1 0,0-1,0 1,1-1,-1 1,0-1,0 1,2-2,0-6</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1-13T04:21:49.014"/>
    </inkml:context>
    <inkml:brush xml:id="br0">
      <inkml:brushProperty name="width" value="0.2" units="cm"/>
      <inkml:brushProperty name="height" value="0.4" units="cm"/>
      <inkml:brushProperty name="color" value="#A9D8FF"/>
      <inkml:brushProperty name="tip" value="rectangle"/>
      <inkml:brushProperty name="rasterOp" value="maskPen"/>
      <inkml:brushProperty name="ignorePressure" value="1"/>
    </inkml:brush>
  </inkml:definitions>
  <inkml:trace contextRef="#ctx0" brushRef="#br0">0 2,'141'-1,"154"3,-184 8,36 1,-135-11,27-1,-1 1,0 2,0 2,0 1,46 13,-54-12,0 0,0-3,1 0,0-2,48-5,2 2,1147 2,-1224 0,-1 0,0 1,1-1,-1 0,0-1,0 1,0-1,0 1,0-1,0 0,0 0,0 0,3-2,-2-2</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1-13T04:22:10.642"/>
    </inkml:context>
    <inkml:brush xml:id="br0">
      <inkml:brushProperty name="width" value="0.2" units="cm"/>
      <inkml:brushProperty name="height" value="0.4" units="cm"/>
      <inkml:brushProperty name="color" value="#A9D8FF"/>
      <inkml:brushProperty name="tip" value="rectangle"/>
      <inkml:brushProperty name="rasterOp" value="maskPen"/>
      <inkml:brushProperty name="ignorePressure" value="1"/>
    </inkml:brush>
  </inkml:definitions>
  <inkml:trace contextRef="#ctx0" brushRef="#br0">0 279,'1822'0,"-1793"-2,-1-1,1-1,28-8,-20 3,37-2,-43 6,50-12,-57 10,0 2,1 0,44-1,-41 6,-3 1,1-2,0 0,47-9,66-12,-86 15,1 3,99 5,-53 1,408-2,-483-1,46-9,-46 6,45-3,-39 7,19 0,97-12,-107 7,68 0,-69 4,0-1,38-7,-39 4,0 2,1 1,41 4,62-2,-66-10,-43 5,46-2,690 8,-739-2,46-9,-45 5,43-1,-12 7,-27 0,0-1,0-2,-1-1,58-13,-59 8,-1 2,1 1,43-1,103 7,-66 1,-5-4,121 5,-102 17,-109-19</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1-13T04:38:44.033"/>
    </inkml:context>
    <inkml:brush xml:id="br0">
      <inkml:brushProperty name="width" value="0.2" units="cm"/>
      <inkml:brushProperty name="height" value="0.4" units="cm"/>
      <inkml:brushProperty name="color" value="#A9D8FF"/>
      <inkml:brushProperty name="tip" value="rectangle"/>
      <inkml:brushProperty name="rasterOp" value="maskPen"/>
      <inkml:brushProperty name="ignorePressure" value="1"/>
    </inkml:brush>
  </inkml:definitions>
  <inkml:trace contextRef="#ctx0" brushRef="#br0">0 0,'754'0,"-728"2,-1 1,1 1,46 13,-44-9,0-1,51 4,-76-11,21 0,0 2,0 0,0 2,0 0,-1 1,29 11,-38-11,0 0,1-2,-1 0,1 0,23 0,78-4,-47-2,-36 4,1 1,55 11,-26 0,81 13,-96-19,75 22,-86-18,2-1,-1-3,65 5,521-11,-288-3,-331 2,1 0,0-1,-1 1,1-1,-1-1,1 1,8-4,-13 4,0 1,0-1,0 1,0-1,0 1,0-1,0 0,-1 1,1-1,0 0,0 0,-1 0,1 1,0-1,-1 0,1 0,-1 0,1 0,-1 0,0 0,1 0,-1 0,0 0,0-1,0 1,0 0,0 0,0 0,0 0,0 0,0 0,0 0,0 0,-1 0,1 0,0 0,-1 0,1 0,-1 0,1 0,-1 0,0 0,1 0,-1 0,0 1,-1-2,-8-9</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3T04:38:54.070"/>
    </inkml:context>
    <inkml:brush xml:id="br0">
      <inkml:brushProperty name="width" value="0.2" units="cm"/>
      <inkml:brushProperty name="height" value="0.4" units="cm"/>
      <inkml:brushProperty name="color" value="#A9D8FF"/>
      <inkml:brushProperty name="tip" value="rectangle"/>
      <inkml:brushProperty name="rasterOp" value="maskPen"/>
      <inkml:brushProperty name="ignorePressure" value="1"/>
    </inkml:brush>
  </inkml:definitions>
  <inkml:trace contextRef="#ctx0" brushRef="#br0">1 0 0,'6972'416'0</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1-13T04:38:58.824"/>
    </inkml:context>
    <inkml:brush xml:id="br0">
      <inkml:brushProperty name="width" value="0.2" units="cm"/>
      <inkml:brushProperty name="height" value="0.4" units="cm"/>
      <inkml:brushProperty name="color" value="#A9D8FF"/>
      <inkml:brushProperty name="tip" value="rectangle"/>
      <inkml:brushProperty name="rasterOp" value="maskPen"/>
      <inkml:brushProperty name="ignorePressure" value="1"/>
    </inkml:brush>
  </inkml:definitions>
  <inkml:trace contextRef="#ctx0" brushRef="#br0">0 1,'0'0</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3T04:39:10.708"/>
    </inkml:context>
    <inkml:brush xml:id="br0">
      <inkml:brushProperty name="width" value="0.2" units="cm"/>
      <inkml:brushProperty name="height" value="0.4" units="cm"/>
      <inkml:brushProperty name="color" value="#A9D8FF"/>
      <inkml:brushProperty name="tip" value="rectangle"/>
      <inkml:brushProperty name="rasterOp" value="maskPen"/>
      <inkml:brushProperty name="ignorePressure" value="1"/>
    </inkml:brush>
  </inkml:definitions>
  <inkml:trace contextRef="#ctx0" brushRef="#br0">0 1 0,'5081'233'0</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1-13T04:39:41.325"/>
    </inkml:context>
    <inkml:brush xml:id="br0">
      <inkml:brushProperty name="width" value="0.2" units="cm"/>
      <inkml:brushProperty name="height" value="0.4" units="cm"/>
      <inkml:brushProperty name="color" value="#A9D8FF"/>
      <inkml:brushProperty name="tip" value="rectangle"/>
      <inkml:brushProperty name="rasterOp" value="maskPen"/>
      <inkml:brushProperty name="ignorePressure" value="1"/>
    </inkml:brush>
  </inkml:definitions>
  <inkml:trace contextRef="#ctx0" brushRef="#br0">0 88,'287'16,"-208"-10,103-7,28 2,-171 3,55 14,15 1,-46-11,-18-2,57 1,-5-6,96-4,-184 2,0-1,0 0,0-1,0 0,11-5,-11 3,0 2,1-1,-1 1,14-2,31 0,-31 4,0-2,28-6,-22 1,1 2,0 1,0 1,33 1,-38 2,45-8,-45 4,43-1,13 7,-33 0,1-2,85-12,-100 9,-1 1,1 1,36 4,52-3,-56-9,-41 5,37-1,-39 5,19 1,72-11,-67 5,0 2,-1 1,84 8,-101-1,46 13,-51-11,-1-1,1-1,31 2,-31-4,1 1,0 1,25 8,-26-6,1 0,0-2,26 1,115-6,-148 1</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1-13T04:40:58.412"/>
    </inkml:context>
    <inkml:brush xml:id="br0">
      <inkml:brushProperty name="width" value="0.2" units="cm"/>
      <inkml:brushProperty name="height" value="0.4" units="cm"/>
      <inkml:brushProperty name="color" value="#A9D8FF"/>
      <inkml:brushProperty name="tip" value="rectangle"/>
      <inkml:brushProperty name="rasterOp" value="maskPen"/>
      <inkml:brushProperty name="ignorePressure" value="1"/>
    </inkml:brush>
  </inkml:definitions>
  <inkml:trace contextRef="#ctx0" brushRef="#br0">1 2,'92'-1,"102"2,-112 9,-47-5,41 1,87 8,-96-7,-8 3,-39-6,1-1,24 1,929-5,-942-1,43-7,23-1,-58 9,178 3,-148 7,-44-4,45 2,1-6,126-4,-197 3,0 0,0 1,0-1,0 0,0 0,-1 0,1-1,0 1,0 0,0 0,0 0,0-1,0 1,0 0,-1-1,1 1,0-1,0 1,0-1,-1 1,1-1,0 0,-1 1,1-1,0 0,-1 1,1-1,-1 0,0 0,1 0,-1 1,1-1,-1 0,0 0,0 0,1 0,-1 0,0-1,-4-6</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1-13T04:41:04.295"/>
    </inkml:context>
    <inkml:brush xml:id="br0">
      <inkml:brushProperty name="width" value="0.2" units="cm"/>
      <inkml:brushProperty name="height" value="0.4" units="cm"/>
      <inkml:brushProperty name="color" value="#A9D8FF"/>
      <inkml:brushProperty name="tip" value="rectangle"/>
      <inkml:brushProperty name="rasterOp" value="maskPen"/>
      <inkml:brushProperty name="ignorePressure" value="1"/>
    </inkml:brush>
  </inkml:definitions>
  <inkml:trace contextRef="#ctx0" brushRef="#br0">0 65,'2979'0,"-2964"-1,1-1,27-6,-26 5,0 0,20-1,54 5,-57 0,1-1,0-1,42-8,-44 2,10-2,-1 1,1 2,45 1,953 6,-1026 0,0 0,0 1,15 5,-14-3,0-1,22 1,41 6,-57-6,43 3,290-8,-339 2,0 1,27 6,-26-5,0 0,19 1,59-5,39 2,-125 1,0 0,-1 0,1 0,-1 1,13 6,24 8,-31-14</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3T04:44:44.572"/>
    </inkml:context>
    <inkml:brush xml:id="br0">
      <inkml:brushProperty name="width" value="0.35" units="cm"/>
      <inkml:brushProperty name="height" value="0.35" units="cm"/>
      <inkml:brushProperty name="color" value="#FFFFFF"/>
    </inkml:brush>
  </inkml:definitions>
  <inkml:trace contextRef="#ctx0" brushRef="#br0">1 84 24524,'1541'-84'0</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3T04:44:53.999"/>
    </inkml:context>
    <inkml:brush xml:id="br0">
      <inkml:brushProperty name="width" value="0.35" units="cm"/>
      <inkml:brushProperty name="height" value="0.35" units="cm"/>
      <inkml:brushProperty name="color" value="#FFFFFF"/>
    </inkml:brush>
  </inkml:definitions>
  <inkml:trace contextRef="#ctx0" brushRef="#br0">0 116 24561,'6629'0'0</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3T04:45:04.010"/>
    </inkml:context>
    <inkml:brush xml:id="br0">
      <inkml:brushProperty name="width" value="0.35" units="cm"/>
      <inkml:brushProperty name="height" value="0.35" units="cm"/>
      <inkml:brushProperty name="color" value="#FFFFFF"/>
    </inkml:brush>
  </inkml:definitions>
  <inkml:trace contextRef="#ctx0" brushRef="#br0">1 0 24575,'55'1'0,"77"11"0,-102-8 0,1 1 0,-1 1 0,0 2 0,33 13 0,-13-2 0,81 18 0,-111-32 0,83 16 0,-50-10 0,0-2 0,78 1 0,111-10 0,-104-2 0,-80 3 0,-8 0 0,0-2 0,84-12 0,-110 10 0,0 0 0,29 2 0,12-1 0,-64 2-31,1-1-1,0 1 0,0 0 0,-1 0 0,1-1 1,0 1-1,-1-1 0,1 1 0,-1-1 1,1 0-1,-1 0 0,1 0 0,-1 0 1,1 0-1,-1 0 0,0 0 0,1 0 1,-1 0-1,0-1 0,0 1 0,0 0 1,0-1-1,0 1 0,0-1 0,0 1 1,-1-1-1,1 0 0,-1 1 0,1-1 1,-1 0-1,1 1 0,-1-1 0,0 0 1,0 1-1,0-1 0,0 0 0,0 0 1,0 1-1,0-1 0,-1 0 0,1 1 1,-2-4-1</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3T04:45:07.736"/>
    </inkml:context>
    <inkml:brush xml:id="br0">
      <inkml:brushProperty name="width" value="0.35" units="cm"/>
      <inkml:brushProperty name="height" value="0.35" units="cm"/>
      <inkml:brushProperty name="color" value="#FFFFFF"/>
    </inkml:brush>
  </inkml:definitions>
  <inkml:trace contextRef="#ctx0" brushRef="#br0">1 1 24575,'0'0'-8191</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3T04:45:18.617"/>
    </inkml:context>
    <inkml:brush xml:id="br0">
      <inkml:brushProperty name="width" value="0.35" units="cm"/>
      <inkml:brushProperty name="height" value="0.35" units="cm"/>
      <inkml:brushProperty name="color" value="#FFFFFF"/>
    </inkml:brush>
  </inkml:definitions>
  <inkml:trace contextRef="#ctx0" brushRef="#br0">1 1 24538,'6953'145'0</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3T04:45:19.509"/>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C7D00EC-2D0B-4545-8B89-8627D1C8FB03}" type="datetimeFigureOut">
              <a:rPr lang="en-IN" smtClean="0"/>
              <a:t>01-02-2026</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15F618-58E9-4373-B7A0-BB07C95025D6}" type="slidenum">
              <a:rPr lang="en-IN" smtClean="0"/>
              <a:t>‹#›</a:t>
            </a:fld>
            <a:endParaRPr lang="en-IN"/>
          </a:p>
        </p:txBody>
      </p:sp>
    </p:spTree>
    <p:extLst>
      <p:ext uri="{BB962C8B-B14F-4D97-AF65-F5344CB8AC3E}">
        <p14:creationId xmlns:p14="http://schemas.microsoft.com/office/powerpoint/2010/main" val="12389327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tech2.in.com/news/general/bose-founder-acoustics-pioneer-amar-bose-passes-away/907760" TargetMode="External"/><Relationship Id="rId2" Type="http://schemas.openxmlformats.org/officeDocument/2006/relationships/slide" Target="../slides/slide45.xml"/><Relationship Id="rId1" Type="http://schemas.openxmlformats.org/officeDocument/2006/relationships/notesMaster" Target="../notesMasters/notesMaster1.xml"/><Relationship Id="rId4" Type="http://schemas.openxmlformats.org/officeDocument/2006/relationships/hyperlink" Target="http://tech2.in.com/news/general/bose-founder-donates-majority-share-to-mit/216012" TargetMode="Externa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www.barefootcollege.org/" TargetMode="External"/><Relationship Id="rId2" Type="http://schemas.openxmlformats.org/officeDocument/2006/relationships/slide" Target="../slides/slide52.xml"/><Relationship Id="rId1" Type="http://schemas.openxmlformats.org/officeDocument/2006/relationships/notesMaster" Target="../notesMasters/notesMaster1.xml"/><Relationship Id="rId4" Type="http://schemas.openxmlformats.org/officeDocument/2006/relationships/hyperlink" Target="http://www.malala.org/" TargetMode="Externa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pPr algn="just"/>
            <a:r>
              <a:rPr lang="en-US" b="0" i="0" dirty="0">
                <a:solidFill>
                  <a:srgbClr val="373D3F"/>
                </a:solidFill>
                <a:effectLst/>
                <a:latin typeface="Lora" pitchFamily="2" charset="0"/>
              </a:rPr>
              <a:t>According to the McClelland, people who have high need for achievement have tendency to win and excel. People who have high need for achievement personally take the responsibility of solving problems and will always try to be better than others. He further explained that people with high need of achievement are more likely to succeed as entrepreneur because it is the need for achievement that motivates and promotes entrepreneurship.</a:t>
            </a:r>
          </a:p>
          <a:p>
            <a:pPr algn="just"/>
            <a:r>
              <a:rPr lang="en-US" b="0" i="0" dirty="0">
                <a:solidFill>
                  <a:srgbClr val="373D3F"/>
                </a:solidFill>
                <a:effectLst/>
                <a:latin typeface="Lora" pitchFamily="2" charset="0"/>
              </a:rPr>
              <a:t>The definite characteristics of a high achiever (entrepreneur) can be listed as follows:</a:t>
            </a:r>
          </a:p>
          <a:p>
            <a:pPr algn="just"/>
            <a:r>
              <a:rPr lang="en-US" b="0" i="0" dirty="0">
                <a:solidFill>
                  <a:srgbClr val="373D3F"/>
                </a:solidFill>
                <a:effectLst/>
                <a:latin typeface="Lora" pitchFamily="2" charset="0"/>
              </a:rPr>
              <a:t>(</a:t>
            </a:r>
            <a:r>
              <a:rPr lang="en-US" b="0" i="0" dirty="0" err="1">
                <a:solidFill>
                  <a:srgbClr val="373D3F"/>
                </a:solidFill>
                <a:effectLst/>
                <a:latin typeface="Lora" pitchFamily="2" charset="0"/>
              </a:rPr>
              <a:t>i</a:t>
            </a:r>
            <a:r>
              <a:rPr lang="en-US" b="0" i="0" dirty="0">
                <a:solidFill>
                  <a:srgbClr val="373D3F"/>
                </a:solidFill>
                <a:effectLst/>
                <a:latin typeface="Lora" pitchFamily="2" charset="0"/>
              </a:rPr>
              <a:t>)   They lay down moderate realistic and achievable goals for them.</a:t>
            </a:r>
          </a:p>
          <a:p>
            <a:pPr algn="just"/>
            <a:r>
              <a:rPr lang="en-US" b="0" i="0" dirty="0">
                <a:solidFill>
                  <a:srgbClr val="373D3F"/>
                </a:solidFill>
                <a:effectLst/>
                <a:latin typeface="Lora" pitchFamily="2" charset="0"/>
              </a:rPr>
              <a:t>(ii)  They take planned risks.</a:t>
            </a:r>
          </a:p>
          <a:p>
            <a:pPr algn="just"/>
            <a:r>
              <a:rPr lang="en-US" b="0" i="0" dirty="0">
                <a:solidFill>
                  <a:srgbClr val="373D3F"/>
                </a:solidFill>
                <a:effectLst/>
                <a:latin typeface="Lora" pitchFamily="2" charset="0"/>
              </a:rPr>
              <a:t>(iii) They favor situations wherein they can get individual responsibility for solving problems.</a:t>
            </a:r>
          </a:p>
          <a:p>
            <a:pPr algn="just"/>
            <a:r>
              <a:rPr lang="en-US" b="0" i="0" dirty="0">
                <a:solidFill>
                  <a:srgbClr val="373D3F"/>
                </a:solidFill>
                <a:effectLst/>
                <a:latin typeface="Lora" pitchFamily="2" charset="0"/>
              </a:rPr>
              <a:t>(iv) They need actual feedback on how well they are doing.</a:t>
            </a:r>
          </a:p>
          <a:p>
            <a:pPr algn="just"/>
            <a:r>
              <a:rPr lang="en-US" b="0" i="0" dirty="0">
                <a:solidFill>
                  <a:srgbClr val="373D3F"/>
                </a:solidFill>
                <a:effectLst/>
                <a:latin typeface="Lora" pitchFamily="2" charset="0"/>
              </a:rPr>
              <a:t>(v)  Their need for achievement live not only for the sake of economic rewards or social recognition rather personal achievement is essentially more satisfying to them.</a:t>
            </a:r>
          </a:p>
          <a:p>
            <a:br>
              <a:rPr lang="en-US" dirty="0"/>
            </a:br>
            <a:endParaRPr lang="en-IN" dirty="0"/>
          </a:p>
        </p:txBody>
      </p:sp>
      <p:sp>
        <p:nvSpPr>
          <p:cNvPr id="4" name="Slide Number Placeholder 3"/>
          <p:cNvSpPr>
            <a:spLocks noGrp="1"/>
          </p:cNvSpPr>
          <p:nvPr>
            <p:ph type="sldNum" sz="quarter" idx="5"/>
          </p:nvPr>
        </p:nvSpPr>
        <p:spPr/>
        <p:txBody>
          <a:bodyPr/>
          <a:lstStyle/>
          <a:p>
            <a:fld id="{1815F618-58E9-4373-B7A0-BB07C95025D6}" type="slidenum">
              <a:rPr lang="en-IN" smtClean="0"/>
              <a:t>22</a:t>
            </a:fld>
            <a:endParaRPr lang="en-IN"/>
          </a:p>
        </p:txBody>
      </p:sp>
    </p:spTree>
    <p:extLst>
      <p:ext uri="{BB962C8B-B14F-4D97-AF65-F5344CB8AC3E}">
        <p14:creationId xmlns:p14="http://schemas.microsoft.com/office/powerpoint/2010/main" val="11984839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pPr algn="just"/>
            <a:r>
              <a:rPr lang="en-US" b="0" i="0" dirty="0">
                <a:solidFill>
                  <a:srgbClr val="373D3F"/>
                </a:solidFill>
                <a:effectLst/>
                <a:latin typeface="Lora" pitchFamily="2" charset="0"/>
              </a:rPr>
              <a:t>It occurs when the member in the group perceive that their efforts and purposes in the life are not valued by the other members. He proposed four events which can lead to status withdrawal:</a:t>
            </a:r>
          </a:p>
          <a:p>
            <a:pPr algn="just">
              <a:buFont typeface="Arial" panose="020B0604020202020204" pitchFamily="34" charset="0"/>
              <a:buChar char="•"/>
            </a:pPr>
            <a:r>
              <a:rPr lang="en-US" b="0" i="0" dirty="0">
                <a:solidFill>
                  <a:srgbClr val="373D3F"/>
                </a:solidFill>
                <a:effectLst/>
                <a:latin typeface="Lora" pitchFamily="2" charset="0"/>
              </a:rPr>
              <a:t>Displacement of a conventional best group from its earlier status by another conventional supply physical force.</a:t>
            </a:r>
          </a:p>
          <a:p>
            <a:pPr algn="just">
              <a:buFont typeface="Arial" panose="020B0604020202020204" pitchFamily="34" charset="0"/>
              <a:buChar char="•"/>
            </a:pPr>
            <a:r>
              <a:rPr lang="en-US" b="0" i="0" dirty="0">
                <a:solidFill>
                  <a:srgbClr val="373D3F"/>
                </a:solidFill>
                <a:effectLst/>
                <a:latin typeface="Lora" pitchFamily="2" charset="0"/>
              </a:rPr>
              <a:t>Defamation of valued symbols through some change in the attitude of the superior group</a:t>
            </a:r>
          </a:p>
          <a:p>
            <a:pPr algn="just">
              <a:buFont typeface="Arial" panose="020B0604020202020204" pitchFamily="34" charset="0"/>
              <a:buChar char="•"/>
            </a:pPr>
            <a:r>
              <a:rPr lang="en-US" b="0" i="0" dirty="0">
                <a:solidFill>
                  <a:srgbClr val="373D3F"/>
                </a:solidFill>
                <a:effectLst/>
                <a:latin typeface="Lora" pitchFamily="2" charset="0"/>
              </a:rPr>
              <a:t>Inconsistency of status symbols with a changing‟ distribution of economic power.</a:t>
            </a:r>
          </a:p>
          <a:p>
            <a:pPr algn="just">
              <a:buFont typeface="Arial" panose="020B0604020202020204" pitchFamily="34" charset="0"/>
              <a:buChar char="•"/>
            </a:pPr>
            <a:r>
              <a:rPr lang="en-US" b="0" i="0" dirty="0">
                <a:solidFill>
                  <a:srgbClr val="373D3F"/>
                </a:solidFill>
                <a:effectLst/>
                <a:latin typeface="Lora" pitchFamily="2" charset="0"/>
              </a:rPr>
              <a:t>Acceptance of expected status on migration to a new society.</a:t>
            </a:r>
          </a:p>
          <a:p>
            <a:endParaRPr lang="en-IN" dirty="0"/>
          </a:p>
          <a:p>
            <a:endParaRPr lang="en-IN" dirty="0"/>
          </a:p>
        </p:txBody>
      </p:sp>
      <p:sp>
        <p:nvSpPr>
          <p:cNvPr id="4" name="Slide Number Placeholder 3"/>
          <p:cNvSpPr>
            <a:spLocks noGrp="1"/>
          </p:cNvSpPr>
          <p:nvPr>
            <p:ph type="sldNum" sz="quarter" idx="5"/>
          </p:nvPr>
        </p:nvSpPr>
        <p:spPr/>
        <p:txBody>
          <a:bodyPr/>
          <a:lstStyle/>
          <a:p>
            <a:fld id="{1815F618-58E9-4373-B7A0-BB07C95025D6}" type="slidenum">
              <a:rPr lang="en-IN" smtClean="0"/>
              <a:t>23</a:t>
            </a:fld>
            <a:endParaRPr lang="en-IN"/>
          </a:p>
        </p:txBody>
      </p:sp>
    </p:spTree>
    <p:extLst>
      <p:ext uri="{BB962C8B-B14F-4D97-AF65-F5344CB8AC3E}">
        <p14:creationId xmlns:p14="http://schemas.microsoft.com/office/powerpoint/2010/main" val="42724065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815F618-58E9-4373-B7A0-BB07C95025D6}" type="slidenum">
              <a:rPr lang="en-IN" smtClean="0"/>
              <a:t>25</a:t>
            </a:fld>
            <a:endParaRPr lang="en-IN"/>
          </a:p>
        </p:txBody>
      </p:sp>
    </p:spTree>
    <p:extLst>
      <p:ext uri="{BB962C8B-B14F-4D97-AF65-F5344CB8AC3E}">
        <p14:creationId xmlns:p14="http://schemas.microsoft.com/office/powerpoint/2010/main" val="42335634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b="0" i="0" dirty="0">
                <a:solidFill>
                  <a:srgbClr val="373D3F"/>
                </a:solidFill>
                <a:effectLst/>
                <a:latin typeface="Lora" pitchFamily="2" charset="0"/>
              </a:rPr>
              <a:t>ax Weber believes that religion has a large impact on the entrepreneurial development of the country because some religion has basic faith to earn more money whereas some has less. He calls them „spirit of capitalism‟ which can be enhanced in the country if there will be </a:t>
            </a:r>
            <a:r>
              <a:rPr lang="en-US" b="0" i="0" dirty="0" err="1">
                <a:solidFill>
                  <a:srgbClr val="373D3F"/>
                </a:solidFill>
                <a:effectLst/>
                <a:latin typeface="Lora" pitchFamily="2" charset="0"/>
              </a:rPr>
              <a:t>favourable</a:t>
            </a:r>
            <a:r>
              <a:rPr lang="en-US" b="0" i="0" dirty="0">
                <a:solidFill>
                  <a:srgbClr val="373D3F"/>
                </a:solidFill>
                <a:effectLst/>
                <a:latin typeface="Lora" pitchFamily="2" charset="0"/>
              </a:rPr>
              <a:t> attitude towards capitalism in the country. It is the religious beliefs that develop the sense of capitalism in the individual which generates the feeling of occupational chase and the addition of assets.</a:t>
            </a:r>
          </a:p>
          <a:p>
            <a:endParaRPr lang="en-IN" dirty="0"/>
          </a:p>
        </p:txBody>
      </p:sp>
      <p:sp>
        <p:nvSpPr>
          <p:cNvPr id="4" name="Slide Number Placeholder 3"/>
          <p:cNvSpPr>
            <a:spLocks noGrp="1"/>
          </p:cNvSpPr>
          <p:nvPr>
            <p:ph type="sldNum" sz="quarter" idx="5"/>
          </p:nvPr>
        </p:nvSpPr>
        <p:spPr/>
        <p:txBody>
          <a:bodyPr/>
          <a:lstStyle/>
          <a:p>
            <a:fld id="{1815F618-58E9-4373-B7A0-BB07C95025D6}" type="slidenum">
              <a:rPr lang="en-IN" smtClean="0"/>
              <a:t>27</a:t>
            </a:fld>
            <a:endParaRPr lang="en-IN"/>
          </a:p>
        </p:txBody>
      </p:sp>
    </p:spTree>
    <p:extLst>
      <p:ext uri="{BB962C8B-B14F-4D97-AF65-F5344CB8AC3E}">
        <p14:creationId xmlns:p14="http://schemas.microsoft.com/office/powerpoint/2010/main" val="14234539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normAutofit/>
          </a:bodyPr>
          <a:lstStyle/>
          <a:p>
            <a:r>
              <a:rPr lang="en-US" b="1" dirty="0"/>
              <a:t>(</a:t>
            </a:r>
            <a:endParaRPr lang="en-US" dirty="0"/>
          </a:p>
        </p:txBody>
      </p:sp>
      <p:sp>
        <p:nvSpPr>
          <p:cNvPr id="4" name="Slide Number Placeholder 3"/>
          <p:cNvSpPr>
            <a:spLocks noGrp="1"/>
          </p:cNvSpPr>
          <p:nvPr>
            <p:ph type="sldNum" sz="quarter" idx="10"/>
          </p:nvPr>
        </p:nvSpPr>
        <p:spPr/>
        <p:txBody>
          <a:bodyPr/>
          <a:lstStyle/>
          <a:p>
            <a:fld id="{4A7012A5-4911-49E2-8EA0-4E98E3D3D765}" type="slidenum">
              <a:rPr lang="en-US" smtClean="0"/>
              <a:pPr/>
              <a:t>43</a:t>
            </a:fld>
            <a:endParaRPr lang="en-US"/>
          </a:p>
        </p:txBody>
      </p:sp>
    </p:spTree>
    <p:extLst>
      <p:ext uri="{BB962C8B-B14F-4D97-AF65-F5344CB8AC3E}">
        <p14:creationId xmlns:p14="http://schemas.microsoft.com/office/powerpoint/2010/main" val="1983079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Gramophone works with farmers and provides them agronomy services and right inputs during the entire cropping cycle, at their doorstep.)</a:t>
            </a:r>
            <a:br>
              <a:rPr lang="en-US" dirty="0"/>
            </a:br>
            <a:endParaRPr lang="en-US" dirty="0"/>
          </a:p>
          <a:p>
            <a:endParaRPr lang="en-US" dirty="0"/>
          </a:p>
        </p:txBody>
      </p:sp>
      <p:sp>
        <p:nvSpPr>
          <p:cNvPr id="4" name="Slide Number Placeholder 3"/>
          <p:cNvSpPr>
            <a:spLocks noGrp="1"/>
          </p:cNvSpPr>
          <p:nvPr>
            <p:ph type="sldNum" sz="quarter" idx="10"/>
          </p:nvPr>
        </p:nvSpPr>
        <p:spPr/>
        <p:txBody>
          <a:bodyPr/>
          <a:lstStyle/>
          <a:p>
            <a:fld id="{4A7012A5-4911-49E2-8EA0-4E98E3D3D765}" type="slidenum">
              <a:rPr lang="en-US" smtClean="0"/>
              <a:pPr/>
              <a:t>44</a:t>
            </a:fld>
            <a:endParaRPr lang="en-US"/>
          </a:p>
        </p:txBody>
      </p:sp>
    </p:spTree>
    <p:extLst>
      <p:ext uri="{BB962C8B-B14F-4D97-AF65-F5344CB8AC3E}">
        <p14:creationId xmlns:p14="http://schemas.microsoft.com/office/powerpoint/2010/main" val="39142074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normAutofit/>
          </a:bodyPr>
          <a:lstStyle/>
          <a:p>
            <a:r>
              <a:rPr lang="en-US" sz="1200" b="0" i="0" kern="1200" dirty="0">
                <a:solidFill>
                  <a:schemeClr val="tx1"/>
                </a:solidFill>
                <a:latin typeface="+mn-lt"/>
                <a:ea typeface="+mn-ea"/>
                <a:cs typeface="+mn-cs"/>
              </a:rPr>
              <a:t>The founder and chairman of Bose Corp, </a:t>
            </a:r>
            <a:r>
              <a:rPr lang="en-US" sz="1200" b="0" i="0" kern="1200" dirty="0" err="1">
                <a:solidFill>
                  <a:schemeClr val="tx1"/>
                </a:solidFill>
                <a:latin typeface="+mn-lt"/>
                <a:ea typeface="+mn-ea"/>
                <a:cs typeface="+mn-cs"/>
              </a:rPr>
              <a:t>Amar</a:t>
            </a:r>
            <a:r>
              <a:rPr lang="en-US" sz="1200" b="0" i="0" kern="1200" dirty="0">
                <a:solidFill>
                  <a:schemeClr val="tx1"/>
                </a:solidFill>
                <a:latin typeface="+mn-lt"/>
                <a:ea typeface="+mn-ea"/>
                <a:cs typeface="+mn-cs"/>
              </a:rPr>
              <a:t> Bose </a:t>
            </a:r>
            <a:r>
              <a:rPr lang="en-US" sz="1200" b="1" i="0" u="none" strike="noStrike" kern="1200" dirty="0">
                <a:solidFill>
                  <a:schemeClr val="tx1"/>
                </a:solidFill>
                <a:latin typeface="+mn-lt"/>
                <a:ea typeface="+mn-ea"/>
                <a:cs typeface="+mn-cs"/>
                <a:hlinkClick r:id="rId3" tooltip="tech2.in.com"/>
              </a:rPr>
              <a:t>passed away earlier this month</a:t>
            </a:r>
            <a:r>
              <a:rPr lang="en-US" sz="1200" b="0" i="0" kern="1200" dirty="0">
                <a:solidFill>
                  <a:schemeClr val="tx1"/>
                </a:solidFill>
                <a:latin typeface="+mn-lt"/>
                <a:ea typeface="+mn-ea"/>
                <a:cs typeface="+mn-cs"/>
              </a:rPr>
              <a:t>. A graduate student from Massachusetts Institute of Technology (MIT), Bose was associated with the premiere tech school </a:t>
            </a:r>
            <a:r>
              <a:rPr lang="en-US" sz="1200" b="1" i="0" u="none" strike="noStrike" kern="1200" dirty="0">
                <a:solidFill>
                  <a:schemeClr val="tx1"/>
                </a:solidFill>
                <a:latin typeface="+mn-lt"/>
                <a:ea typeface="+mn-ea"/>
                <a:cs typeface="+mn-cs"/>
                <a:hlinkClick r:id="rId4" tooltip="tech2.in.com"/>
              </a:rPr>
              <a:t>through his life. </a:t>
            </a:r>
            <a:r>
              <a:rPr lang="en-US" sz="1200" b="0" i="0" kern="1200" dirty="0">
                <a:solidFill>
                  <a:schemeClr val="tx1"/>
                </a:solidFill>
                <a:latin typeface="+mn-lt"/>
                <a:ea typeface="+mn-ea"/>
                <a:cs typeface="+mn-cs"/>
              </a:rPr>
              <a:t>As a PhD student, and later as a professor and then professor emeritus, the idea of Bose Corp, set up in 1964, stemmed from his disappointment with the speakers in a stereo system that he bought as an MIT student that was the trigger for setting up Bose Corp in 1964. Bose Corp has, over the years, used the entrepreneur’s innovative research for some of the best known sound systems in the world. Furthering his company’s thought process, the entrepreneur was involved with many of the products that were seen in Bose’s stable, which included noise-canceling headphones as well as audio systems for cars.</a:t>
            </a:r>
          </a:p>
          <a:p>
            <a:endParaRPr lang="en-US" sz="1200" b="0" i="0" kern="1200" dirty="0">
              <a:solidFill>
                <a:schemeClr val="tx1"/>
              </a:solidFill>
              <a:latin typeface="+mn-lt"/>
              <a:ea typeface="+mn-ea"/>
              <a:cs typeface="+mn-cs"/>
            </a:endParaRPr>
          </a:p>
          <a:p>
            <a:r>
              <a:rPr lang="en-US" sz="1200" b="0" i="0" kern="1200" dirty="0">
                <a:solidFill>
                  <a:schemeClr val="tx1"/>
                </a:solidFill>
                <a:latin typeface="+mn-lt"/>
                <a:ea typeface="+mn-ea"/>
                <a:cs typeface="+mn-cs"/>
              </a:rPr>
              <a:t>McDonalds, </a:t>
            </a:r>
            <a:r>
              <a:rPr lang="en-US" sz="1200" b="0" i="0" kern="1200" dirty="0" err="1">
                <a:solidFill>
                  <a:schemeClr val="tx1"/>
                </a:solidFill>
                <a:latin typeface="+mn-lt"/>
                <a:ea typeface="+mn-ea"/>
                <a:cs typeface="+mn-cs"/>
              </a:rPr>
              <a:t>Wenky's</a:t>
            </a:r>
            <a:r>
              <a:rPr lang="en-US" sz="1200" b="0" i="0" kern="1200" dirty="0">
                <a:solidFill>
                  <a:schemeClr val="tx1"/>
                </a:solidFill>
                <a:latin typeface="+mn-lt"/>
                <a:ea typeface="+mn-ea"/>
                <a:cs typeface="+mn-cs"/>
              </a:rPr>
              <a:t>, Pizza Hut, Starbucks, Kelly Services, Zoom car- Rent A Car, Metropolitan Life Insurance</a:t>
            </a:r>
          </a:p>
          <a:p>
            <a:endParaRPr lang="en-US" sz="1200" b="0" i="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4A7012A5-4911-49E2-8EA0-4E98E3D3D765}" type="slidenum">
              <a:rPr lang="en-US" smtClean="0"/>
              <a:pPr/>
              <a:t>45</a:t>
            </a:fld>
            <a:endParaRPr lang="en-US"/>
          </a:p>
        </p:txBody>
      </p:sp>
    </p:spTree>
    <p:extLst>
      <p:ext uri="{BB962C8B-B14F-4D97-AF65-F5344CB8AC3E}">
        <p14:creationId xmlns:p14="http://schemas.microsoft.com/office/powerpoint/2010/main" val="36440708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0" i="0" kern="1200" dirty="0" err="1">
                <a:solidFill>
                  <a:schemeClr val="tx1"/>
                </a:solidFill>
                <a:latin typeface="+mn-lt"/>
                <a:ea typeface="+mn-ea"/>
                <a:cs typeface="+mn-cs"/>
              </a:rPr>
              <a:t>WhatsApp</a:t>
            </a:r>
            <a:r>
              <a:rPr lang="en-US" sz="1200" b="0" i="0" kern="1200" dirty="0">
                <a:solidFill>
                  <a:schemeClr val="tx1"/>
                </a:solidFill>
                <a:latin typeface="+mn-lt"/>
                <a:ea typeface="+mn-ea"/>
                <a:cs typeface="+mn-cs"/>
              </a:rPr>
              <a:t> was founded by </a:t>
            </a:r>
            <a:r>
              <a:rPr lang="en-US" sz="1200" b="1" i="0" kern="1200" dirty="0">
                <a:solidFill>
                  <a:schemeClr val="tx1"/>
                </a:solidFill>
                <a:latin typeface="+mn-lt"/>
                <a:ea typeface="+mn-ea"/>
                <a:cs typeface="+mn-cs"/>
              </a:rPr>
              <a:t>Jan </a:t>
            </a:r>
            <a:r>
              <a:rPr lang="en-US" sz="1200" b="1" i="0" kern="1200" dirty="0" err="1">
                <a:solidFill>
                  <a:schemeClr val="tx1"/>
                </a:solidFill>
                <a:latin typeface="+mn-lt"/>
                <a:ea typeface="+mn-ea"/>
                <a:cs typeface="+mn-cs"/>
              </a:rPr>
              <a:t>Koum</a:t>
            </a:r>
            <a:r>
              <a:rPr lang="en-US" sz="1200" b="0" i="0" kern="1200" dirty="0">
                <a:solidFill>
                  <a:schemeClr val="tx1"/>
                </a:solidFill>
                <a:latin typeface="+mn-lt"/>
                <a:ea typeface="+mn-ea"/>
                <a:cs typeface="+mn-cs"/>
              </a:rPr>
              <a:t> and </a:t>
            </a:r>
            <a:r>
              <a:rPr lang="en-US" sz="1200" b="1" i="0" kern="1200" dirty="0">
                <a:solidFill>
                  <a:schemeClr val="tx1"/>
                </a:solidFill>
                <a:latin typeface="+mn-lt"/>
                <a:ea typeface="+mn-ea"/>
                <a:cs typeface="+mn-cs"/>
              </a:rPr>
              <a:t>Brian Acton</a:t>
            </a:r>
            <a:r>
              <a:rPr lang="en-US" sz="1200" b="0" i="0" kern="1200" dirty="0">
                <a:solidFill>
                  <a:schemeClr val="tx1"/>
                </a:solidFill>
                <a:latin typeface="+mn-lt"/>
                <a:ea typeface="+mn-ea"/>
                <a:cs typeface="+mn-cs"/>
              </a:rPr>
              <a:t> who had previously spent 20 years combined at Yahoo. WhatsApp joined Facebook in 2014</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latin typeface="+mn-lt"/>
                <a:ea typeface="+mn-ea"/>
                <a:cs typeface="+mn-cs"/>
              </a:rPr>
              <a:t>Kishore </a:t>
            </a:r>
            <a:r>
              <a:rPr lang="en-US" sz="1200" b="0" i="0" kern="1200" dirty="0" err="1">
                <a:solidFill>
                  <a:schemeClr val="tx1"/>
                </a:solidFill>
                <a:latin typeface="+mn-lt"/>
                <a:ea typeface="+mn-ea"/>
                <a:cs typeface="+mn-cs"/>
              </a:rPr>
              <a:t>Biyani</a:t>
            </a:r>
            <a:r>
              <a:rPr lang="en-US" sz="1200" b="0" i="0" kern="1200" dirty="0">
                <a:solidFill>
                  <a:schemeClr val="tx1"/>
                </a:solidFill>
                <a:latin typeface="+mn-lt"/>
                <a:ea typeface="+mn-ea"/>
                <a:cs typeface="+mn-cs"/>
              </a:rPr>
              <a:t> sold Big Bazaar, Central, Brand Factory, and </a:t>
            </a:r>
            <a:r>
              <a:rPr lang="en-US" sz="1200" b="0" i="0" kern="1200" dirty="0" err="1">
                <a:solidFill>
                  <a:schemeClr val="tx1"/>
                </a:solidFill>
                <a:latin typeface="+mn-lt"/>
                <a:ea typeface="+mn-ea"/>
                <a:cs typeface="+mn-cs"/>
              </a:rPr>
              <a:t>Pentaloons</a:t>
            </a:r>
            <a:r>
              <a:rPr lang="en-US" sz="1200" b="0" i="0" kern="1200" dirty="0">
                <a:solidFill>
                  <a:schemeClr val="tx1"/>
                </a:solidFill>
                <a:latin typeface="+mn-lt"/>
                <a:ea typeface="+mn-ea"/>
                <a:cs typeface="+mn-cs"/>
              </a:rPr>
              <a:t> </a:t>
            </a:r>
            <a:r>
              <a:rPr lang="en-US" sz="1200" b="0" i="0" kern="1200" dirty="0" err="1">
                <a:solidFill>
                  <a:schemeClr val="tx1"/>
                </a:solidFill>
                <a:latin typeface="+mn-lt"/>
                <a:ea typeface="+mn-ea"/>
                <a:cs typeface="+mn-cs"/>
              </a:rPr>
              <a:t>etc</a:t>
            </a:r>
            <a:r>
              <a:rPr lang="en-US" sz="1200" b="0" i="0" kern="1200" dirty="0">
                <a:solidFill>
                  <a:schemeClr val="tx1"/>
                </a:solidFill>
                <a:latin typeface="+mn-lt"/>
                <a:ea typeface="+mn-ea"/>
                <a:cs typeface="+mn-cs"/>
              </a:rPr>
              <a:t> to Reliance Ind. And Aditya </a:t>
            </a:r>
            <a:r>
              <a:rPr lang="en-US" sz="1200" b="0" i="0" kern="1200">
                <a:solidFill>
                  <a:schemeClr val="tx1"/>
                </a:solidFill>
                <a:latin typeface="+mn-lt"/>
                <a:ea typeface="+mn-ea"/>
                <a:cs typeface="+mn-cs"/>
              </a:rPr>
              <a:t>Birla group.</a:t>
            </a:r>
            <a:endParaRPr lang="en-US" sz="1200" b="0" i="0" kern="1200" dirty="0">
              <a:solidFill>
                <a:schemeClr val="tx1"/>
              </a:solidFill>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4A7012A5-4911-49E2-8EA0-4E98E3D3D765}" type="slidenum">
              <a:rPr lang="en-US" smtClean="0"/>
              <a:pPr/>
              <a:t>46</a:t>
            </a:fld>
            <a:endParaRPr lang="en-US"/>
          </a:p>
        </p:txBody>
      </p:sp>
    </p:spTree>
    <p:extLst>
      <p:ext uri="{BB962C8B-B14F-4D97-AF65-F5344CB8AC3E}">
        <p14:creationId xmlns:p14="http://schemas.microsoft.com/office/powerpoint/2010/main" val="34218814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normAutofit/>
          </a:bodyPr>
          <a:lstStyle/>
          <a:p>
            <a:r>
              <a:rPr lang="en-US" dirty="0"/>
              <a:t>Example of </a:t>
            </a:r>
            <a:r>
              <a:rPr lang="en-US" dirty="0" err="1"/>
              <a:t>sidhdharth</a:t>
            </a:r>
            <a:endParaRPr lang="en-US" dirty="0"/>
          </a:p>
          <a:p>
            <a:endParaRPr lang="en-US" dirty="0"/>
          </a:p>
          <a:p>
            <a:r>
              <a:rPr lang="en-US" dirty="0"/>
              <a:t>Case of bewakoof.com</a:t>
            </a:r>
          </a:p>
          <a:p>
            <a:endParaRPr lang="en-US" dirty="0"/>
          </a:p>
          <a:p>
            <a:endParaRPr lang="en-US" dirty="0"/>
          </a:p>
        </p:txBody>
      </p:sp>
      <p:sp>
        <p:nvSpPr>
          <p:cNvPr id="4" name="Slide Number Placeholder 3"/>
          <p:cNvSpPr>
            <a:spLocks noGrp="1"/>
          </p:cNvSpPr>
          <p:nvPr>
            <p:ph type="sldNum" sz="quarter" idx="10"/>
          </p:nvPr>
        </p:nvSpPr>
        <p:spPr/>
        <p:txBody>
          <a:bodyPr/>
          <a:lstStyle/>
          <a:p>
            <a:fld id="{4A7012A5-4911-49E2-8EA0-4E98E3D3D765}" type="slidenum">
              <a:rPr lang="en-US" smtClean="0"/>
              <a:pPr/>
              <a:t>47</a:t>
            </a:fld>
            <a:endParaRPr lang="en-US"/>
          </a:p>
        </p:txBody>
      </p:sp>
    </p:spTree>
    <p:extLst>
      <p:ext uri="{BB962C8B-B14F-4D97-AF65-F5344CB8AC3E}">
        <p14:creationId xmlns:p14="http://schemas.microsoft.com/office/powerpoint/2010/main" val="331613313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normAutofit/>
          </a:bodyPr>
          <a:lstStyle/>
          <a:p>
            <a:r>
              <a:rPr lang="en-US" dirty="0"/>
              <a:t>It based, healthcare, </a:t>
            </a:r>
            <a:r>
              <a:rPr lang="en-US" dirty="0" err="1"/>
              <a:t>jio</a:t>
            </a:r>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4A7012A5-4911-49E2-8EA0-4E98E3D3D765}" type="slidenum">
              <a:rPr lang="en-US" smtClean="0"/>
              <a:pPr/>
              <a:t>49</a:t>
            </a:fld>
            <a:endParaRPr lang="en-US"/>
          </a:p>
        </p:txBody>
      </p:sp>
    </p:spTree>
    <p:extLst>
      <p:ext uri="{BB962C8B-B14F-4D97-AF65-F5344CB8AC3E}">
        <p14:creationId xmlns:p14="http://schemas.microsoft.com/office/powerpoint/2010/main" val="40114468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normAutofit fontScale="92500" lnSpcReduction="10000"/>
          </a:bodyPr>
          <a:lstStyle/>
          <a:p>
            <a:r>
              <a:rPr lang="en-US" sz="1200" b="0" i="0" kern="1200" dirty="0">
                <a:solidFill>
                  <a:schemeClr val="tx1"/>
                </a:solidFill>
                <a:latin typeface="+mn-lt"/>
                <a:ea typeface="+mn-ea"/>
                <a:cs typeface="+mn-cs"/>
              </a:rPr>
              <a:t>For instance, when </a:t>
            </a:r>
            <a:r>
              <a:rPr lang="en-US" sz="1200" b="1" i="0" kern="1200" dirty="0">
                <a:solidFill>
                  <a:schemeClr val="tx1"/>
                </a:solidFill>
                <a:latin typeface="+mn-lt"/>
                <a:ea typeface="+mn-ea"/>
                <a:cs typeface="+mn-cs"/>
              </a:rPr>
              <a:t>Bill Gates</a:t>
            </a:r>
            <a:r>
              <a:rPr lang="en-US" sz="1200" b="0" i="0" kern="1200" dirty="0">
                <a:solidFill>
                  <a:schemeClr val="tx1"/>
                </a:solidFill>
                <a:latin typeface="+mn-lt"/>
                <a:ea typeface="+mn-ea"/>
                <a:cs typeface="+mn-cs"/>
              </a:rPr>
              <a:t> (who is one of the richest persons in the world) initiates philanthropic activities through his charitable foundation 'The </a:t>
            </a:r>
            <a:r>
              <a:rPr lang="en-US" sz="1200" b="1" i="0" kern="1200" dirty="0">
                <a:solidFill>
                  <a:schemeClr val="tx1"/>
                </a:solidFill>
                <a:latin typeface="+mn-lt"/>
                <a:ea typeface="+mn-ea"/>
                <a:cs typeface="+mn-cs"/>
              </a:rPr>
              <a:t>Gates</a:t>
            </a:r>
            <a:r>
              <a:rPr lang="en-US" sz="1200" b="0" i="0" kern="1200" dirty="0">
                <a:solidFill>
                  <a:schemeClr val="tx1"/>
                </a:solidFill>
                <a:latin typeface="+mn-lt"/>
                <a:ea typeface="+mn-ea"/>
                <a:cs typeface="+mn-cs"/>
              </a:rPr>
              <a:t> Foundation' such acts are claimed as </a:t>
            </a:r>
            <a:r>
              <a:rPr lang="en-US" sz="1200" b="1" i="0" kern="1200" dirty="0">
                <a:solidFill>
                  <a:schemeClr val="tx1"/>
                </a:solidFill>
                <a:latin typeface="+mn-lt"/>
                <a:ea typeface="+mn-ea"/>
                <a:cs typeface="+mn-cs"/>
              </a:rPr>
              <a:t>social entrepreneurial</a:t>
            </a:r>
            <a:r>
              <a:rPr lang="en-US" sz="1200" b="0" i="0" kern="1200" dirty="0">
                <a:solidFill>
                  <a:schemeClr val="tx1"/>
                </a:solidFill>
                <a:latin typeface="+mn-lt"/>
                <a:ea typeface="+mn-ea"/>
                <a:cs typeface="+mn-cs"/>
              </a:rPr>
              <a:t> because </a:t>
            </a:r>
            <a:r>
              <a:rPr lang="en-US" sz="1200" b="1" i="0" kern="1200" dirty="0">
                <a:solidFill>
                  <a:schemeClr val="tx1"/>
                </a:solidFill>
                <a:latin typeface="+mn-lt"/>
                <a:ea typeface="+mn-ea"/>
                <a:cs typeface="+mn-cs"/>
              </a:rPr>
              <a:t>Bill Gates</a:t>
            </a:r>
            <a:r>
              <a:rPr lang="en-US" sz="1200" b="0" i="0" kern="1200" dirty="0">
                <a:solidFill>
                  <a:schemeClr val="tx1"/>
                </a:solidFill>
                <a:latin typeface="+mn-lt"/>
                <a:ea typeface="+mn-ea"/>
                <a:cs typeface="+mn-cs"/>
              </a:rPr>
              <a:t> is also a </a:t>
            </a:r>
            <a:r>
              <a:rPr lang="en-US" sz="1200" b="1" i="0" kern="1200" dirty="0">
                <a:solidFill>
                  <a:schemeClr val="tx1"/>
                </a:solidFill>
                <a:latin typeface="+mn-lt"/>
                <a:ea typeface="+mn-ea"/>
                <a:cs typeface="+mn-cs"/>
              </a:rPr>
              <a:t>social entrepreneur</a:t>
            </a:r>
            <a:r>
              <a:rPr lang="en-US" sz="1200" b="0" i="0" kern="1200" dirty="0">
                <a:solidFill>
                  <a:schemeClr val="tx1"/>
                </a:solidFill>
                <a:latin typeface="+mn-lt"/>
                <a:ea typeface="+mn-ea"/>
                <a:cs typeface="+mn-cs"/>
              </a:rPr>
              <a:t>.</a:t>
            </a:r>
          </a:p>
          <a:p>
            <a:endParaRPr lang="en-US" sz="1200" b="0" i="0" kern="1200" dirty="0">
              <a:solidFill>
                <a:schemeClr val="tx1"/>
              </a:solidFill>
              <a:latin typeface="+mn-lt"/>
              <a:ea typeface="+mn-ea"/>
              <a:cs typeface="+mn-cs"/>
            </a:endParaRPr>
          </a:p>
          <a:p>
            <a:r>
              <a:rPr lang="en-US" sz="1200" b="0" i="0" kern="1200" dirty="0">
                <a:solidFill>
                  <a:schemeClr val="tx1"/>
                </a:solidFill>
                <a:latin typeface="+mn-lt"/>
                <a:ea typeface="+mn-ea"/>
                <a:cs typeface="+mn-cs"/>
              </a:rPr>
              <a:t>Through Tesla Motors, </a:t>
            </a:r>
            <a:r>
              <a:rPr lang="en-US" sz="1200" b="0" i="0" kern="1200" dirty="0" err="1">
                <a:solidFill>
                  <a:schemeClr val="tx1"/>
                </a:solidFill>
                <a:latin typeface="+mn-lt"/>
                <a:ea typeface="+mn-ea"/>
                <a:cs typeface="+mn-cs"/>
              </a:rPr>
              <a:t>SolarCity</a:t>
            </a:r>
            <a:r>
              <a:rPr lang="en-US" sz="1200" b="0" i="0" kern="1200" dirty="0">
                <a:solidFill>
                  <a:schemeClr val="tx1"/>
                </a:solidFill>
                <a:latin typeface="+mn-lt"/>
                <a:ea typeface="+mn-ea"/>
                <a:cs typeface="+mn-cs"/>
              </a:rPr>
              <a:t>, and </a:t>
            </a:r>
            <a:r>
              <a:rPr lang="en-US" sz="1200" b="0" i="0" kern="1200" dirty="0" err="1">
                <a:solidFill>
                  <a:schemeClr val="tx1"/>
                </a:solidFill>
                <a:latin typeface="+mn-lt"/>
                <a:ea typeface="+mn-ea"/>
                <a:cs typeface="+mn-cs"/>
              </a:rPr>
              <a:t>SpaceX</a:t>
            </a:r>
            <a:r>
              <a:rPr lang="en-US" sz="1200" b="0" i="0" kern="1200" dirty="0">
                <a:solidFill>
                  <a:schemeClr val="tx1"/>
                </a:solidFill>
                <a:latin typeface="+mn-lt"/>
                <a:ea typeface="+mn-ea"/>
                <a:cs typeface="+mn-cs"/>
              </a:rPr>
              <a:t>, </a:t>
            </a:r>
            <a:r>
              <a:rPr lang="en-US" sz="1200" b="1" i="0" kern="1200" dirty="0">
                <a:solidFill>
                  <a:schemeClr val="tx1"/>
                </a:solidFill>
                <a:latin typeface="+mn-lt"/>
                <a:ea typeface="+mn-ea"/>
                <a:cs typeface="+mn-cs"/>
              </a:rPr>
              <a:t>Musk</a:t>
            </a:r>
            <a:r>
              <a:rPr lang="en-US" sz="1200" b="0" i="0" kern="1200" dirty="0">
                <a:solidFill>
                  <a:schemeClr val="tx1"/>
                </a:solidFill>
                <a:latin typeface="+mn-lt"/>
                <a:ea typeface="+mn-ea"/>
                <a:cs typeface="+mn-cs"/>
              </a:rPr>
              <a:t> has become a pioneer of </a:t>
            </a:r>
            <a:r>
              <a:rPr lang="en-US" sz="1200" b="1" i="0" kern="1200" dirty="0">
                <a:solidFill>
                  <a:schemeClr val="tx1"/>
                </a:solidFill>
                <a:latin typeface="+mn-lt"/>
                <a:ea typeface="+mn-ea"/>
                <a:cs typeface="+mn-cs"/>
              </a:rPr>
              <a:t>social entrepreneurship</a:t>
            </a:r>
            <a:r>
              <a:rPr lang="en-US" sz="1200" b="0" i="0" kern="1200" dirty="0">
                <a:solidFill>
                  <a:schemeClr val="tx1"/>
                </a:solidFill>
                <a:latin typeface="+mn-lt"/>
                <a:ea typeface="+mn-ea"/>
                <a:cs typeface="+mn-cs"/>
              </a:rPr>
              <a:t> in the modern age, as he seeks to build accessible solutions to renewable energy and push the limits on space exploration for mankind.</a:t>
            </a:r>
          </a:p>
          <a:p>
            <a:endParaRPr lang="en-US" sz="1200" b="0" i="0" kern="1200" dirty="0">
              <a:solidFill>
                <a:schemeClr val="tx1"/>
              </a:solidFill>
              <a:latin typeface="+mn-lt"/>
              <a:ea typeface="+mn-ea"/>
              <a:cs typeface="+mn-cs"/>
            </a:endParaRPr>
          </a:p>
          <a:p>
            <a:r>
              <a:rPr lang="en-US" sz="1200" b="0" i="0" kern="1200" dirty="0" err="1">
                <a:solidFill>
                  <a:schemeClr val="tx1"/>
                </a:solidFill>
                <a:latin typeface="+mn-lt"/>
                <a:ea typeface="+mn-ea"/>
                <a:cs typeface="+mn-cs"/>
              </a:rPr>
              <a:t>Sanjit</a:t>
            </a:r>
            <a:r>
              <a:rPr lang="en-US" sz="1200" b="0" i="0" kern="1200" dirty="0">
                <a:solidFill>
                  <a:schemeClr val="tx1"/>
                </a:solidFill>
                <a:latin typeface="+mn-lt"/>
                <a:ea typeface="+mn-ea"/>
                <a:cs typeface="+mn-cs"/>
              </a:rPr>
              <a:t> “Bunker” Roy had a privileged upbringing in India, in contrast to many Indians who live off of less than $1 per day. When Roy visited some of his country's rural villages, he had a life-altering experience and decided to find a way to improve the social-economic inequities in his country. He founded </a:t>
            </a:r>
            <a:r>
              <a:rPr lang="en-US" sz="1200" b="0" i="0" u="sng" kern="1200" dirty="0">
                <a:solidFill>
                  <a:schemeClr val="tx1"/>
                </a:solidFill>
                <a:latin typeface="+mn-lt"/>
                <a:ea typeface="+mn-ea"/>
                <a:cs typeface="+mn-cs"/>
                <a:hlinkClick r:id="rId3"/>
              </a:rPr>
              <a:t>Barefoot College</a:t>
            </a:r>
            <a:r>
              <a:rPr lang="en-US" sz="1200" b="0" i="0" kern="1200" dirty="0">
                <a:solidFill>
                  <a:schemeClr val="tx1"/>
                </a:solidFill>
                <a:latin typeface="+mn-lt"/>
                <a:ea typeface="+mn-ea"/>
                <a:cs typeface="+mn-cs"/>
              </a:rPr>
              <a:t> in 1972, a solar-powered college for the poor.</a:t>
            </a:r>
          </a:p>
          <a:p>
            <a:endParaRPr lang="en-US" sz="1200" b="0" i="0" kern="1200" dirty="0">
              <a:solidFill>
                <a:schemeClr val="tx1"/>
              </a:solidFill>
              <a:latin typeface="+mn-lt"/>
              <a:ea typeface="+mn-ea"/>
              <a:cs typeface="+mn-cs"/>
            </a:endParaRPr>
          </a:p>
          <a:p>
            <a:r>
              <a:rPr lang="en-US" sz="1200" b="0" i="0" kern="1200" dirty="0">
                <a:solidFill>
                  <a:schemeClr val="tx1"/>
                </a:solidFill>
                <a:latin typeface="+mn-lt"/>
                <a:ea typeface="+mn-ea"/>
                <a:cs typeface="+mn-cs"/>
              </a:rPr>
              <a:t>As co-founder and global ambassador of the </a:t>
            </a:r>
            <a:r>
              <a:rPr lang="en-US" sz="1200" b="0" i="0" u="sng" kern="1200" dirty="0" err="1">
                <a:solidFill>
                  <a:schemeClr val="tx1"/>
                </a:solidFill>
                <a:latin typeface="+mn-lt"/>
                <a:ea typeface="+mn-ea"/>
                <a:cs typeface="+mn-cs"/>
                <a:hlinkClick r:id="rId4"/>
              </a:rPr>
              <a:t>Malala</a:t>
            </a:r>
            <a:r>
              <a:rPr lang="en-US" sz="1200" b="0" i="0" u="sng" kern="1200" dirty="0">
                <a:solidFill>
                  <a:schemeClr val="tx1"/>
                </a:solidFill>
                <a:latin typeface="+mn-lt"/>
                <a:ea typeface="+mn-ea"/>
                <a:cs typeface="+mn-cs"/>
                <a:hlinkClick r:id="rId4"/>
              </a:rPr>
              <a:t> Fund</a:t>
            </a:r>
            <a:r>
              <a:rPr lang="en-US" sz="1200" b="0" i="0" kern="1200" dirty="0">
                <a:solidFill>
                  <a:schemeClr val="tx1"/>
                </a:solidFill>
                <a:latin typeface="+mn-lt"/>
                <a:ea typeface="+mn-ea"/>
                <a:cs typeface="+mn-cs"/>
              </a:rPr>
              <a:t>, </a:t>
            </a:r>
            <a:r>
              <a:rPr lang="en-US" sz="1200" b="0" i="0" kern="1200" dirty="0" err="1">
                <a:solidFill>
                  <a:schemeClr val="tx1"/>
                </a:solidFill>
                <a:latin typeface="+mn-lt"/>
                <a:ea typeface="+mn-ea"/>
                <a:cs typeface="+mn-cs"/>
              </a:rPr>
              <a:t>Shiza</a:t>
            </a:r>
            <a:r>
              <a:rPr lang="en-US" sz="1200" b="0" i="0" kern="1200" dirty="0">
                <a:solidFill>
                  <a:schemeClr val="tx1"/>
                </a:solidFill>
                <a:latin typeface="+mn-lt"/>
                <a:ea typeface="+mn-ea"/>
                <a:cs typeface="+mn-cs"/>
              </a:rPr>
              <a:t> </a:t>
            </a:r>
            <a:r>
              <a:rPr lang="en-US" sz="1200" b="0" i="0" kern="1200" dirty="0" err="1">
                <a:solidFill>
                  <a:schemeClr val="tx1"/>
                </a:solidFill>
                <a:latin typeface="+mn-lt"/>
                <a:ea typeface="+mn-ea"/>
                <a:cs typeface="+mn-cs"/>
              </a:rPr>
              <a:t>Shahid</a:t>
            </a:r>
            <a:r>
              <a:rPr lang="en-US" sz="1200" b="0" i="0" kern="1200" dirty="0">
                <a:solidFill>
                  <a:schemeClr val="tx1"/>
                </a:solidFill>
                <a:latin typeface="+mn-lt"/>
                <a:ea typeface="+mn-ea"/>
                <a:cs typeface="+mn-cs"/>
              </a:rPr>
              <a:t>, manages business operations for </a:t>
            </a:r>
            <a:r>
              <a:rPr lang="en-US" sz="1200" b="0" i="0" kern="1200" dirty="0" err="1">
                <a:solidFill>
                  <a:schemeClr val="tx1"/>
                </a:solidFill>
                <a:latin typeface="+mn-lt"/>
                <a:ea typeface="+mn-ea"/>
                <a:cs typeface="+mn-cs"/>
              </a:rPr>
              <a:t>Malala</a:t>
            </a:r>
            <a:r>
              <a:rPr lang="en-US" sz="1200" b="0" i="0" kern="1200" dirty="0">
                <a:solidFill>
                  <a:schemeClr val="tx1"/>
                </a:solidFill>
                <a:latin typeface="+mn-lt"/>
                <a:ea typeface="+mn-ea"/>
                <a:cs typeface="+mn-cs"/>
              </a:rPr>
              <a:t> </a:t>
            </a:r>
            <a:r>
              <a:rPr lang="en-US" sz="1200" b="0" i="0" kern="1200" dirty="0" err="1">
                <a:solidFill>
                  <a:schemeClr val="tx1"/>
                </a:solidFill>
                <a:latin typeface="+mn-lt"/>
                <a:ea typeface="+mn-ea"/>
                <a:cs typeface="+mn-cs"/>
              </a:rPr>
              <a:t>Yousafzai</a:t>
            </a:r>
            <a:r>
              <a:rPr lang="en-US" sz="1200" b="0" i="0" kern="1200" dirty="0">
                <a:solidFill>
                  <a:schemeClr val="tx1"/>
                </a:solidFill>
                <a:latin typeface="+mn-lt"/>
                <a:ea typeface="+mn-ea"/>
                <a:cs typeface="+mn-cs"/>
              </a:rPr>
              <a:t>, the teenager who became the youngest winner of the Nobel Peace Prize in 2014.</a:t>
            </a:r>
            <a:r>
              <a:rPr lang="en-US" sz="1200" b="0" i="0" u="none" strike="noStrike" kern="1200" baseline="30000" dirty="0">
                <a:solidFill>
                  <a:schemeClr val="tx1"/>
                </a:solidFill>
                <a:latin typeface="+mn-lt"/>
                <a:ea typeface="+mn-ea"/>
                <a:cs typeface="+mn-cs"/>
              </a:rPr>
              <a:t>4</a:t>
            </a:r>
            <a:r>
              <a:rPr lang="en-US" sz="1200" b="0" i="0" kern="1200" dirty="0">
                <a:solidFill>
                  <a:schemeClr val="tx1"/>
                </a:solidFill>
                <a:latin typeface="+mn-lt"/>
                <a:ea typeface="+mn-ea"/>
                <a:cs typeface="+mn-cs"/>
              </a:rPr>
              <a:t>﻿ Like </a:t>
            </a:r>
            <a:r>
              <a:rPr lang="en-US" sz="1200" b="0" i="0" kern="1200" dirty="0" err="1">
                <a:solidFill>
                  <a:schemeClr val="tx1"/>
                </a:solidFill>
                <a:latin typeface="+mn-lt"/>
                <a:ea typeface="+mn-ea"/>
                <a:cs typeface="+mn-cs"/>
              </a:rPr>
              <a:t>Malala</a:t>
            </a:r>
            <a:r>
              <a:rPr lang="en-US" sz="1200" b="0" i="0" kern="1200" dirty="0">
                <a:solidFill>
                  <a:schemeClr val="tx1"/>
                </a:solidFill>
                <a:latin typeface="+mn-lt"/>
                <a:ea typeface="+mn-ea"/>
                <a:cs typeface="+mn-cs"/>
              </a:rPr>
              <a:t>, </a:t>
            </a:r>
            <a:r>
              <a:rPr lang="en-US" sz="1200" b="0" i="0" kern="1200" dirty="0" err="1">
                <a:solidFill>
                  <a:schemeClr val="tx1"/>
                </a:solidFill>
                <a:latin typeface="+mn-lt"/>
                <a:ea typeface="+mn-ea"/>
                <a:cs typeface="+mn-cs"/>
              </a:rPr>
              <a:t>Shahid</a:t>
            </a:r>
            <a:r>
              <a:rPr lang="en-US" sz="1200" b="0" i="0" kern="1200" dirty="0">
                <a:solidFill>
                  <a:schemeClr val="tx1"/>
                </a:solidFill>
                <a:latin typeface="+mn-lt"/>
                <a:ea typeface="+mn-ea"/>
                <a:cs typeface="+mn-cs"/>
              </a:rPr>
              <a:t> was born in Pakistan. She initially reached out to </a:t>
            </a:r>
            <a:r>
              <a:rPr lang="en-US" sz="1200" b="0" i="0" kern="1200" dirty="0" err="1">
                <a:solidFill>
                  <a:schemeClr val="tx1"/>
                </a:solidFill>
                <a:latin typeface="+mn-lt"/>
                <a:ea typeface="+mn-ea"/>
                <a:cs typeface="+mn-cs"/>
              </a:rPr>
              <a:t>Malala</a:t>
            </a:r>
            <a:r>
              <a:rPr lang="en-US" sz="1200" b="0" i="0" kern="1200" dirty="0">
                <a:solidFill>
                  <a:schemeClr val="tx1"/>
                </a:solidFill>
                <a:latin typeface="+mn-lt"/>
                <a:ea typeface="+mn-ea"/>
                <a:cs typeface="+mn-cs"/>
              </a:rPr>
              <a:t> in 2009 and worked to organize a camp for her and other Pakistani girls. In 2012, </a:t>
            </a:r>
            <a:r>
              <a:rPr lang="en-US" sz="1200" b="0" i="0" kern="1200" dirty="0" err="1">
                <a:solidFill>
                  <a:schemeClr val="tx1"/>
                </a:solidFill>
                <a:latin typeface="+mn-lt"/>
                <a:ea typeface="+mn-ea"/>
                <a:cs typeface="+mn-cs"/>
              </a:rPr>
              <a:t>Shiza</a:t>
            </a:r>
            <a:r>
              <a:rPr lang="en-US" sz="1200" b="0" i="0" kern="1200" dirty="0">
                <a:solidFill>
                  <a:schemeClr val="tx1"/>
                </a:solidFill>
                <a:latin typeface="+mn-lt"/>
                <a:ea typeface="+mn-ea"/>
                <a:cs typeface="+mn-cs"/>
              </a:rPr>
              <a:t> flew to </a:t>
            </a:r>
            <a:r>
              <a:rPr lang="en-US" sz="1200" b="0" i="0" kern="1200" dirty="0" err="1">
                <a:solidFill>
                  <a:schemeClr val="tx1"/>
                </a:solidFill>
                <a:latin typeface="+mn-lt"/>
                <a:ea typeface="+mn-ea"/>
                <a:cs typeface="+mn-cs"/>
              </a:rPr>
              <a:t>Malala's</a:t>
            </a:r>
            <a:r>
              <a:rPr lang="en-US" sz="1200" b="0" i="0" kern="1200" dirty="0">
                <a:solidFill>
                  <a:schemeClr val="tx1"/>
                </a:solidFill>
                <a:latin typeface="+mn-lt"/>
                <a:ea typeface="+mn-ea"/>
                <a:cs typeface="+mn-cs"/>
              </a:rPr>
              <a:t> bedside after she was targeted and shot by the Taliban for promoting education for girls. Inspired by </a:t>
            </a:r>
            <a:r>
              <a:rPr lang="en-US" sz="1200" b="0" i="0" kern="1200" dirty="0" err="1">
                <a:solidFill>
                  <a:schemeClr val="tx1"/>
                </a:solidFill>
                <a:latin typeface="+mn-lt"/>
                <a:ea typeface="+mn-ea"/>
                <a:cs typeface="+mn-cs"/>
              </a:rPr>
              <a:t>Malala's</a:t>
            </a:r>
            <a:r>
              <a:rPr lang="en-US" sz="1200" b="0" i="0" kern="1200" dirty="0">
                <a:solidFill>
                  <a:schemeClr val="tx1"/>
                </a:solidFill>
                <a:latin typeface="+mn-lt"/>
                <a:ea typeface="+mn-ea"/>
                <a:cs typeface="+mn-cs"/>
              </a:rPr>
              <a:t> desire to continue campaigning for gender equality and education, </a:t>
            </a:r>
            <a:r>
              <a:rPr lang="en-US" sz="1200" b="0" i="0" kern="1200" dirty="0" err="1">
                <a:solidFill>
                  <a:schemeClr val="tx1"/>
                </a:solidFill>
                <a:latin typeface="+mn-lt"/>
                <a:ea typeface="+mn-ea"/>
                <a:cs typeface="+mn-cs"/>
              </a:rPr>
              <a:t>Shahid</a:t>
            </a:r>
            <a:r>
              <a:rPr lang="en-US" sz="1200" b="0" i="0" kern="1200" dirty="0">
                <a:solidFill>
                  <a:schemeClr val="tx1"/>
                </a:solidFill>
                <a:latin typeface="+mn-lt"/>
                <a:ea typeface="+mn-ea"/>
                <a:cs typeface="+mn-cs"/>
              </a:rPr>
              <a:t> decided to help </a:t>
            </a:r>
            <a:r>
              <a:rPr lang="en-US" sz="1200" b="0" i="0" kern="1200" dirty="0" err="1">
                <a:solidFill>
                  <a:schemeClr val="tx1"/>
                </a:solidFill>
                <a:latin typeface="+mn-lt"/>
                <a:ea typeface="+mn-ea"/>
                <a:cs typeface="+mn-cs"/>
              </a:rPr>
              <a:t>Malala</a:t>
            </a:r>
            <a:r>
              <a:rPr lang="en-US" sz="1200" b="0" i="0" kern="1200" dirty="0">
                <a:solidFill>
                  <a:schemeClr val="tx1"/>
                </a:solidFill>
                <a:latin typeface="+mn-lt"/>
                <a:ea typeface="+mn-ea"/>
                <a:cs typeface="+mn-cs"/>
              </a:rPr>
              <a:t> strategize her campaign. </a:t>
            </a:r>
            <a:r>
              <a:rPr lang="en-US" sz="1200" b="0" i="0" kern="1200" dirty="0" err="1">
                <a:solidFill>
                  <a:schemeClr val="tx1"/>
                </a:solidFill>
                <a:latin typeface="+mn-lt"/>
                <a:ea typeface="+mn-ea"/>
                <a:cs typeface="+mn-cs"/>
              </a:rPr>
              <a:t>Shahid</a:t>
            </a:r>
            <a:r>
              <a:rPr lang="en-US" sz="1200" b="0" i="0" kern="1200" dirty="0">
                <a:solidFill>
                  <a:schemeClr val="tx1"/>
                </a:solidFill>
                <a:latin typeface="+mn-lt"/>
                <a:ea typeface="+mn-ea"/>
                <a:cs typeface="+mn-cs"/>
              </a:rPr>
              <a:t> created the </a:t>
            </a:r>
            <a:r>
              <a:rPr lang="en-US" sz="1200" b="0" i="0" kern="1200" dirty="0" err="1">
                <a:solidFill>
                  <a:schemeClr val="tx1"/>
                </a:solidFill>
                <a:latin typeface="+mn-lt"/>
                <a:ea typeface="+mn-ea"/>
                <a:cs typeface="+mn-cs"/>
              </a:rPr>
              <a:t>Malala</a:t>
            </a:r>
            <a:r>
              <a:rPr lang="en-US" sz="1200" b="0" i="0" kern="1200" dirty="0">
                <a:solidFill>
                  <a:schemeClr val="tx1"/>
                </a:solidFill>
                <a:latin typeface="+mn-lt"/>
                <a:ea typeface="+mn-ea"/>
                <a:cs typeface="+mn-cs"/>
              </a:rPr>
              <a:t> Fund, which helps empower women and girls by advocating and spreading access to education.</a:t>
            </a:r>
            <a:endParaRPr lang="en-US" dirty="0"/>
          </a:p>
        </p:txBody>
      </p:sp>
      <p:sp>
        <p:nvSpPr>
          <p:cNvPr id="4" name="Slide Number Placeholder 3"/>
          <p:cNvSpPr>
            <a:spLocks noGrp="1"/>
          </p:cNvSpPr>
          <p:nvPr>
            <p:ph type="sldNum" sz="quarter" idx="10"/>
          </p:nvPr>
        </p:nvSpPr>
        <p:spPr/>
        <p:txBody>
          <a:bodyPr/>
          <a:lstStyle/>
          <a:p>
            <a:fld id="{4A7012A5-4911-49E2-8EA0-4E98E3D3D765}" type="slidenum">
              <a:rPr lang="en-US" smtClean="0"/>
              <a:pPr/>
              <a:t>52</a:t>
            </a:fld>
            <a:endParaRPr lang="en-US"/>
          </a:p>
        </p:txBody>
      </p:sp>
    </p:spTree>
    <p:extLst>
      <p:ext uri="{BB962C8B-B14F-4D97-AF65-F5344CB8AC3E}">
        <p14:creationId xmlns:p14="http://schemas.microsoft.com/office/powerpoint/2010/main" val="30112973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normAutofit/>
          </a:bodyPr>
          <a:lstStyle/>
          <a:p>
            <a:r>
              <a:rPr lang="en-US" dirty="0" err="1"/>
              <a:t>saregama</a:t>
            </a:r>
            <a:endParaRPr lang="en-US" dirty="0"/>
          </a:p>
        </p:txBody>
      </p:sp>
      <p:sp>
        <p:nvSpPr>
          <p:cNvPr id="4" name="Slide Number Placeholder 3"/>
          <p:cNvSpPr>
            <a:spLocks noGrp="1"/>
          </p:cNvSpPr>
          <p:nvPr>
            <p:ph type="sldNum" sz="quarter" idx="10"/>
          </p:nvPr>
        </p:nvSpPr>
        <p:spPr/>
        <p:txBody>
          <a:bodyPr/>
          <a:lstStyle/>
          <a:p>
            <a:fld id="{4A7012A5-4911-49E2-8EA0-4E98E3D3D765}" type="slidenum">
              <a:rPr lang="en-US" smtClean="0"/>
              <a:pPr/>
              <a:t>55</a:t>
            </a:fld>
            <a:endParaRPr lang="en-US"/>
          </a:p>
        </p:txBody>
      </p:sp>
    </p:spTree>
    <p:extLst>
      <p:ext uri="{BB962C8B-B14F-4D97-AF65-F5344CB8AC3E}">
        <p14:creationId xmlns:p14="http://schemas.microsoft.com/office/powerpoint/2010/main" val="4850988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normAutofit/>
          </a:bodyPr>
          <a:lstStyle/>
          <a:p>
            <a:r>
              <a:rPr lang="en-US" dirty="0" err="1"/>
              <a:t>motorola.,xiomi</a:t>
            </a:r>
            <a:r>
              <a:rPr lang="en-US" dirty="0"/>
              <a:t>, </a:t>
            </a:r>
            <a:r>
              <a:rPr lang="en-US" dirty="0" err="1"/>
              <a:t>oppo</a:t>
            </a:r>
            <a:r>
              <a:rPr lang="en-US" dirty="0"/>
              <a:t>, </a:t>
            </a:r>
            <a:r>
              <a:rPr lang="en-US" dirty="0" err="1"/>
              <a:t>bluetooth</a:t>
            </a:r>
            <a:r>
              <a:rPr lang="en-US" dirty="0"/>
              <a:t> speakers</a:t>
            </a:r>
          </a:p>
        </p:txBody>
      </p:sp>
      <p:sp>
        <p:nvSpPr>
          <p:cNvPr id="4" name="Slide Number Placeholder 3"/>
          <p:cNvSpPr>
            <a:spLocks noGrp="1"/>
          </p:cNvSpPr>
          <p:nvPr>
            <p:ph type="sldNum" sz="quarter" idx="10"/>
          </p:nvPr>
        </p:nvSpPr>
        <p:spPr/>
        <p:txBody>
          <a:bodyPr/>
          <a:lstStyle/>
          <a:p>
            <a:fld id="{4A7012A5-4911-49E2-8EA0-4E98E3D3D765}" type="slidenum">
              <a:rPr lang="en-US" smtClean="0"/>
              <a:pPr/>
              <a:t>56</a:t>
            </a:fld>
            <a:endParaRPr lang="en-US"/>
          </a:p>
        </p:txBody>
      </p:sp>
    </p:spTree>
    <p:extLst>
      <p:ext uri="{BB962C8B-B14F-4D97-AF65-F5344CB8AC3E}">
        <p14:creationId xmlns:p14="http://schemas.microsoft.com/office/powerpoint/2010/main" val="212903721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dirty="0"/>
          </a:p>
        </p:txBody>
      </p:sp>
      <p:sp>
        <p:nvSpPr>
          <p:cNvPr id="3" name="Notes Placeholder 2"/>
          <p:cNvSpPr>
            <a:spLocks noGrp="1"/>
          </p:cNvSpPr>
          <p:nvPr>
            <p:ph type="body" idx="1"/>
          </p:nvPr>
        </p:nvSpPr>
        <p:spPr/>
        <p:txBody>
          <a:bodyPr>
            <a:normAutofit/>
          </a:bodyPr>
          <a:lstStyle/>
          <a:p>
            <a:r>
              <a:rPr lang="en-US" dirty="0"/>
              <a:t>Indian rural agricultural entrepreneurs</a:t>
            </a:r>
          </a:p>
          <a:p>
            <a:endParaRPr lang="en-US" dirty="0"/>
          </a:p>
          <a:p>
            <a:r>
              <a:rPr lang="en-US" dirty="0" err="1"/>
              <a:t>Jewellery</a:t>
            </a:r>
            <a:r>
              <a:rPr lang="en-US" dirty="0"/>
              <a:t> business</a:t>
            </a:r>
          </a:p>
        </p:txBody>
      </p:sp>
      <p:sp>
        <p:nvSpPr>
          <p:cNvPr id="4" name="Slide Number Placeholder 3"/>
          <p:cNvSpPr>
            <a:spLocks noGrp="1"/>
          </p:cNvSpPr>
          <p:nvPr>
            <p:ph type="sldNum" sz="quarter" idx="10"/>
          </p:nvPr>
        </p:nvSpPr>
        <p:spPr/>
        <p:txBody>
          <a:bodyPr/>
          <a:lstStyle/>
          <a:p>
            <a:fld id="{4A7012A5-4911-49E2-8EA0-4E98E3D3D765}" type="slidenum">
              <a:rPr lang="en-US" smtClean="0"/>
              <a:pPr/>
              <a:t>57</a:t>
            </a:fld>
            <a:endParaRPr lang="en-US"/>
          </a:p>
        </p:txBody>
      </p:sp>
    </p:spTree>
    <p:extLst>
      <p:ext uri="{BB962C8B-B14F-4D97-AF65-F5344CB8AC3E}">
        <p14:creationId xmlns:p14="http://schemas.microsoft.com/office/powerpoint/2010/main" val="57598819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815F618-58E9-4373-B7A0-BB07C95025D6}" type="slidenum">
              <a:rPr lang="en-IN" smtClean="0"/>
              <a:t>67</a:t>
            </a:fld>
            <a:endParaRPr lang="en-IN"/>
          </a:p>
        </p:txBody>
      </p:sp>
    </p:spTree>
    <p:extLst>
      <p:ext uri="{BB962C8B-B14F-4D97-AF65-F5344CB8AC3E}">
        <p14:creationId xmlns:p14="http://schemas.microsoft.com/office/powerpoint/2010/main" val="25648865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A7012A5-4911-49E2-8EA0-4E98E3D3D765}" type="slidenum">
              <a:rPr lang="en-US" smtClean="0"/>
              <a:pPr/>
              <a:t>83</a:t>
            </a:fld>
            <a:endParaRPr lang="en-US"/>
          </a:p>
        </p:txBody>
      </p:sp>
    </p:spTree>
    <p:extLst>
      <p:ext uri="{BB962C8B-B14F-4D97-AF65-F5344CB8AC3E}">
        <p14:creationId xmlns:p14="http://schemas.microsoft.com/office/powerpoint/2010/main" val="5587850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7DF95C9E-3D2C-43C1-BE34-38C5F5238EFD}" type="datetimeFigureOut">
              <a:rPr lang="en-US" smtClean="0"/>
              <a:pPr/>
              <a:t>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9C361DE-1588-4910-B8D9-87B62F5E7695}"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DF95C9E-3D2C-43C1-BE34-38C5F5238EFD}" type="datetimeFigureOut">
              <a:rPr lang="en-US" smtClean="0"/>
              <a:pPr/>
              <a:t>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9C361DE-1588-4910-B8D9-87B62F5E7695}"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DF95C9E-3D2C-43C1-BE34-38C5F5238EFD}" type="datetimeFigureOut">
              <a:rPr lang="en-US" smtClean="0"/>
              <a:pPr/>
              <a:t>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9C361DE-1588-4910-B8D9-87B62F5E7695}"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DF95C9E-3D2C-43C1-BE34-38C5F5238EFD}" type="datetimeFigureOut">
              <a:rPr lang="en-US" smtClean="0"/>
              <a:pPr/>
              <a:t>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9C361DE-1588-4910-B8D9-87B62F5E7695}"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DF95C9E-3D2C-43C1-BE34-38C5F5238EFD}" type="datetimeFigureOut">
              <a:rPr lang="en-US" smtClean="0"/>
              <a:pPr/>
              <a:t>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9C361DE-1588-4910-B8D9-87B62F5E7695}"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DF95C9E-3D2C-43C1-BE34-38C5F5238EFD}" type="datetimeFigureOut">
              <a:rPr lang="en-US" smtClean="0"/>
              <a:pPr/>
              <a:t>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9C361DE-1588-4910-B8D9-87B62F5E7695}"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DF95C9E-3D2C-43C1-BE34-38C5F5238EFD}" type="datetimeFigureOut">
              <a:rPr lang="en-US" smtClean="0"/>
              <a:pPr/>
              <a:t>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9C361DE-1588-4910-B8D9-87B62F5E7695}"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DF95C9E-3D2C-43C1-BE34-38C5F5238EFD}" type="datetimeFigureOut">
              <a:rPr lang="en-US" smtClean="0"/>
              <a:pPr/>
              <a:t>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9C361DE-1588-4910-B8D9-87B62F5E7695}"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DF95C9E-3D2C-43C1-BE34-38C5F5238EFD}" type="datetimeFigureOut">
              <a:rPr lang="en-US" smtClean="0"/>
              <a:pPr/>
              <a:t>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9C361DE-1588-4910-B8D9-87B62F5E7695}"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DF95C9E-3D2C-43C1-BE34-38C5F5238EFD}" type="datetimeFigureOut">
              <a:rPr lang="en-US" smtClean="0"/>
              <a:pPr/>
              <a:t>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9C361DE-1588-4910-B8D9-87B62F5E7695}"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DF95C9E-3D2C-43C1-BE34-38C5F5238EFD}" type="datetimeFigureOut">
              <a:rPr lang="en-US" smtClean="0"/>
              <a:pPr/>
              <a:t>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9C361DE-1588-4910-B8D9-87B62F5E7695}"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313509" y="1313155"/>
            <a:ext cx="4201342" cy="4863808"/>
          </a:xfrm>
          <a:ln w="57150">
            <a:solidFill>
              <a:srgbClr val="0070C0"/>
            </a:solidFill>
          </a:ln>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313155"/>
            <a:ext cx="4201341" cy="4863808"/>
          </a:xfrm>
          <a:ln w="57150">
            <a:solidFill>
              <a:srgbClr val="0070C0"/>
            </a:solidFill>
          </a:ln>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CD4581-7E84-4D1C-8BA1-D8CF07993537}" type="datetimeFigureOut">
              <a:rPr lang="en-US" smtClean="0"/>
              <a:pPr/>
              <a:t>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D6A951E-DCAC-4E7D-AFF0-F7E2B3CB9688}" type="slidenum">
              <a:rPr lang="en-US" smtClean="0"/>
              <a:pPr/>
              <a:t>‹#›</a:t>
            </a:fld>
            <a:endParaRPr lang="en-US"/>
          </a:p>
        </p:txBody>
      </p:sp>
    </p:spTree>
    <p:extLst>
      <p:ext uri="{BB962C8B-B14F-4D97-AF65-F5344CB8AC3E}">
        <p14:creationId xmlns:p14="http://schemas.microsoft.com/office/powerpoint/2010/main" val="10991928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DF95C9E-3D2C-43C1-BE34-38C5F5238EFD}" type="datetimeFigureOut">
              <a:rPr lang="en-US" smtClean="0"/>
              <a:pPr/>
              <a:t>2/1/2026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9C361DE-1588-4910-B8D9-87B62F5E7695}"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3" Type="http://schemas.openxmlformats.org/officeDocument/2006/relationships/customXml" Target="../ink/ink6.xml"/><Relationship Id="rId18" Type="http://schemas.openxmlformats.org/officeDocument/2006/relationships/image" Target="../media/image14.png"/><Relationship Id="rId26" Type="http://schemas.openxmlformats.org/officeDocument/2006/relationships/image" Target="../media/image18.png"/><Relationship Id="rId39" Type="http://schemas.openxmlformats.org/officeDocument/2006/relationships/customXml" Target="../ink/ink19.xml"/><Relationship Id="rId21" Type="http://schemas.openxmlformats.org/officeDocument/2006/relationships/customXml" Target="../ink/ink10.xml"/><Relationship Id="rId34" Type="http://schemas.openxmlformats.org/officeDocument/2006/relationships/image" Target="../media/image22.png"/><Relationship Id="rId42" Type="http://schemas.openxmlformats.org/officeDocument/2006/relationships/image" Target="../media/image26.png"/><Relationship Id="rId7" Type="http://schemas.openxmlformats.org/officeDocument/2006/relationships/customXml" Target="../ink/ink3.xml"/><Relationship Id="rId2" Type="http://schemas.openxmlformats.org/officeDocument/2006/relationships/image" Target="../media/image6.jpeg"/><Relationship Id="rId16" Type="http://schemas.openxmlformats.org/officeDocument/2006/relationships/image" Target="../media/image13.png"/><Relationship Id="rId29" Type="http://schemas.openxmlformats.org/officeDocument/2006/relationships/customXml" Target="../ink/ink14.xml"/><Relationship Id="rId1" Type="http://schemas.openxmlformats.org/officeDocument/2006/relationships/slideLayout" Target="../slideLayouts/slideLayout2.xml"/><Relationship Id="rId6" Type="http://schemas.openxmlformats.org/officeDocument/2006/relationships/image" Target="../media/image8.png"/><Relationship Id="rId11" Type="http://schemas.openxmlformats.org/officeDocument/2006/relationships/customXml" Target="../ink/ink5.xml"/><Relationship Id="rId24" Type="http://schemas.openxmlformats.org/officeDocument/2006/relationships/image" Target="../media/image17.png"/><Relationship Id="rId32" Type="http://schemas.openxmlformats.org/officeDocument/2006/relationships/image" Target="../media/image21.png"/><Relationship Id="rId37" Type="http://schemas.openxmlformats.org/officeDocument/2006/relationships/customXml" Target="../ink/ink18.xml"/><Relationship Id="rId40" Type="http://schemas.openxmlformats.org/officeDocument/2006/relationships/image" Target="../media/image25.png"/><Relationship Id="rId45" Type="http://schemas.openxmlformats.org/officeDocument/2006/relationships/customXml" Target="../ink/ink22.xml"/><Relationship Id="rId5" Type="http://schemas.openxmlformats.org/officeDocument/2006/relationships/customXml" Target="../ink/ink2.xml"/><Relationship Id="rId15" Type="http://schemas.openxmlformats.org/officeDocument/2006/relationships/customXml" Target="../ink/ink7.xml"/><Relationship Id="rId23" Type="http://schemas.openxmlformats.org/officeDocument/2006/relationships/customXml" Target="../ink/ink11.xml"/><Relationship Id="rId28" Type="http://schemas.openxmlformats.org/officeDocument/2006/relationships/image" Target="../media/image19.png"/><Relationship Id="rId36" Type="http://schemas.openxmlformats.org/officeDocument/2006/relationships/image" Target="../media/image23.png"/><Relationship Id="rId10" Type="http://schemas.openxmlformats.org/officeDocument/2006/relationships/image" Target="../media/image10.png"/><Relationship Id="rId19" Type="http://schemas.openxmlformats.org/officeDocument/2006/relationships/customXml" Target="../ink/ink9.xml"/><Relationship Id="rId31" Type="http://schemas.openxmlformats.org/officeDocument/2006/relationships/customXml" Target="../ink/ink15.xml"/><Relationship Id="rId44" Type="http://schemas.openxmlformats.org/officeDocument/2006/relationships/image" Target="../media/image27.png"/><Relationship Id="rId4" Type="http://schemas.openxmlformats.org/officeDocument/2006/relationships/image" Target="../media/image7.png"/><Relationship Id="rId9" Type="http://schemas.openxmlformats.org/officeDocument/2006/relationships/customXml" Target="../ink/ink4.xml"/><Relationship Id="rId14" Type="http://schemas.openxmlformats.org/officeDocument/2006/relationships/image" Target="../media/image12.png"/><Relationship Id="rId22" Type="http://schemas.openxmlformats.org/officeDocument/2006/relationships/image" Target="../media/image16.png"/><Relationship Id="rId27" Type="http://schemas.openxmlformats.org/officeDocument/2006/relationships/customXml" Target="../ink/ink13.xml"/><Relationship Id="rId30" Type="http://schemas.openxmlformats.org/officeDocument/2006/relationships/image" Target="../media/image20.png"/><Relationship Id="rId35" Type="http://schemas.openxmlformats.org/officeDocument/2006/relationships/customXml" Target="../ink/ink17.xml"/><Relationship Id="rId43" Type="http://schemas.openxmlformats.org/officeDocument/2006/relationships/customXml" Target="../ink/ink21.xml"/><Relationship Id="rId8" Type="http://schemas.openxmlformats.org/officeDocument/2006/relationships/image" Target="../media/image9.png"/><Relationship Id="rId3" Type="http://schemas.openxmlformats.org/officeDocument/2006/relationships/customXml" Target="../ink/ink1.xml"/><Relationship Id="rId12" Type="http://schemas.openxmlformats.org/officeDocument/2006/relationships/image" Target="../media/image11.png"/><Relationship Id="rId17" Type="http://schemas.openxmlformats.org/officeDocument/2006/relationships/customXml" Target="../ink/ink8.xml"/><Relationship Id="rId25" Type="http://schemas.openxmlformats.org/officeDocument/2006/relationships/customXml" Target="../ink/ink12.xml"/><Relationship Id="rId33" Type="http://schemas.openxmlformats.org/officeDocument/2006/relationships/customXml" Target="../ink/ink16.xml"/><Relationship Id="rId38" Type="http://schemas.openxmlformats.org/officeDocument/2006/relationships/image" Target="../media/image24.png"/><Relationship Id="rId46" Type="http://schemas.openxmlformats.org/officeDocument/2006/relationships/image" Target="../media/image28.png"/><Relationship Id="rId20" Type="http://schemas.openxmlformats.org/officeDocument/2006/relationships/image" Target="../media/image15.png"/><Relationship Id="rId41" Type="http://schemas.openxmlformats.org/officeDocument/2006/relationships/customXml" Target="../ink/ink20.xml"/></Relationships>
</file>

<file path=ppt/slides/_rels/slide35.xml.rels><?xml version="1.0" encoding="UTF-8" standalone="yes"?>
<Relationships xmlns="http://schemas.openxmlformats.org/package/2006/relationships"><Relationship Id="rId26" Type="http://schemas.openxmlformats.org/officeDocument/2006/relationships/customXml" Target="../ink/ink35.xml"/><Relationship Id="rId21" Type="http://schemas.openxmlformats.org/officeDocument/2006/relationships/customXml" Target="../ink/ink32.xml"/><Relationship Id="rId42" Type="http://schemas.openxmlformats.org/officeDocument/2006/relationships/image" Target="../media/image35.png"/><Relationship Id="rId47" Type="http://schemas.openxmlformats.org/officeDocument/2006/relationships/customXml" Target="../ink/ink47.xml"/><Relationship Id="rId63" Type="http://schemas.openxmlformats.org/officeDocument/2006/relationships/customXml" Target="../ink/ink55.xml"/><Relationship Id="rId68" Type="http://schemas.openxmlformats.org/officeDocument/2006/relationships/image" Target="../media/image46.png"/><Relationship Id="rId16" Type="http://schemas.openxmlformats.org/officeDocument/2006/relationships/image" Target="../media/image140.png"/><Relationship Id="rId11" Type="http://schemas.openxmlformats.org/officeDocument/2006/relationships/customXml" Target="../ink/ink27.xml"/><Relationship Id="rId24" Type="http://schemas.openxmlformats.org/officeDocument/2006/relationships/image" Target="../media/image180.png"/><Relationship Id="rId32" Type="http://schemas.openxmlformats.org/officeDocument/2006/relationships/image" Target="../media/image30.png"/><Relationship Id="rId37" Type="http://schemas.openxmlformats.org/officeDocument/2006/relationships/customXml" Target="../ink/ink42.xml"/><Relationship Id="rId40" Type="http://schemas.openxmlformats.org/officeDocument/2006/relationships/image" Target="../media/image34.png"/><Relationship Id="rId45" Type="http://schemas.openxmlformats.org/officeDocument/2006/relationships/customXml" Target="../ink/ink46.xml"/><Relationship Id="rId53" Type="http://schemas.openxmlformats.org/officeDocument/2006/relationships/customXml" Target="../ink/ink50.xml"/><Relationship Id="rId58" Type="http://schemas.openxmlformats.org/officeDocument/2006/relationships/image" Target="../media/image41.png"/><Relationship Id="rId66" Type="http://schemas.openxmlformats.org/officeDocument/2006/relationships/image" Target="../media/image45.png"/><Relationship Id="rId74" Type="http://schemas.openxmlformats.org/officeDocument/2006/relationships/image" Target="../media/image49.png"/><Relationship Id="rId79" Type="http://schemas.openxmlformats.org/officeDocument/2006/relationships/customXml" Target="../ink/ink63.xml"/><Relationship Id="rId5" Type="http://schemas.openxmlformats.org/officeDocument/2006/relationships/customXml" Target="../ink/ink24.xml"/><Relationship Id="rId61" Type="http://schemas.openxmlformats.org/officeDocument/2006/relationships/customXml" Target="../ink/ink54.xml"/><Relationship Id="rId19" Type="http://schemas.openxmlformats.org/officeDocument/2006/relationships/customXml" Target="../ink/ink31.xml"/><Relationship Id="rId14" Type="http://schemas.openxmlformats.org/officeDocument/2006/relationships/image" Target="../media/image130.png"/><Relationship Id="rId22" Type="http://schemas.openxmlformats.org/officeDocument/2006/relationships/image" Target="../media/image170.png"/><Relationship Id="rId27" Type="http://schemas.openxmlformats.org/officeDocument/2006/relationships/customXml" Target="../ink/ink36.xml"/><Relationship Id="rId30" Type="http://schemas.openxmlformats.org/officeDocument/2006/relationships/customXml" Target="../ink/ink38.xml"/><Relationship Id="rId35" Type="http://schemas.openxmlformats.org/officeDocument/2006/relationships/customXml" Target="../ink/ink41.xml"/><Relationship Id="rId43" Type="http://schemas.openxmlformats.org/officeDocument/2006/relationships/customXml" Target="../ink/ink45.xml"/><Relationship Id="rId48" Type="http://schemas.openxmlformats.org/officeDocument/2006/relationships/image" Target="../media/image22.png"/><Relationship Id="rId56" Type="http://schemas.openxmlformats.org/officeDocument/2006/relationships/image" Target="../media/image29.png"/><Relationship Id="rId64" Type="http://schemas.openxmlformats.org/officeDocument/2006/relationships/image" Target="../media/image44.png"/><Relationship Id="rId69" Type="http://schemas.openxmlformats.org/officeDocument/2006/relationships/customXml" Target="../ink/ink58.xml"/><Relationship Id="rId77" Type="http://schemas.openxmlformats.org/officeDocument/2006/relationships/customXml" Target="../ink/ink62.xml"/><Relationship Id="rId8" Type="http://schemas.openxmlformats.org/officeDocument/2006/relationships/image" Target="../media/image100.png"/><Relationship Id="rId51" Type="http://schemas.openxmlformats.org/officeDocument/2006/relationships/customXml" Target="../ink/ink49.xml"/><Relationship Id="rId72" Type="http://schemas.openxmlformats.org/officeDocument/2006/relationships/image" Target="../media/image48.png"/><Relationship Id="rId3" Type="http://schemas.openxmlformats.org/officeDocument/2006/relationships/customXml" Target="../ink/ink23.xml"/><Relationship Id="rId12" Type="http://schemas.openxmlformats.org/officeDocument/2006/relationships/image" Target="../media/image120.png"/><Relationship Id="rId17" Type="http://schemas.openxmlformats.org/officeDocument/2006/relationships/customXml" Target="../ink/ink30.xml"/><Relationship Id="rId25" Type="http://schemas.openxmlformats.org/officeDocument/2006/relationships/customXml" Target="../ink/ink34.xml"/><Relationship Id="rId33" Type="http://schemas.openxmlformats.org/officeDocument/2006/relationships/customXml" Target="../ink/ink40.xml"/><Relationship Id="rId38" Type="http://schemas.openxmlformats.org/officeDocument/2006/relationships/image" Target="../media/image33.png"/><Relationship Id="rId46" Type="http://schemas.openxmlformats.org/officeDocument/2006/relationships/image" Target="../media/image37.png"/><Relationship Id="rId59" Type="http://schemas.openxmlformats.org/officeDocument/2006/relationships/customXml" Target="../ink/ink53.xml"/><Relationship Id="rId67" Type="http://schemas.openxmlformats.org/officeDocument/2006/relationships/customXml" Target="../ink/ink57.xml"/><Relationship Id="rId20" Type="http://schemas.openxmlformats.org/officeDocument/2006/relationships/image" Target="../media/image160.png"/><Relationship Id="rId41" Type="http://schemas.openxmlformats.org/officeDocument/2006/relationships/customXml" Target="../ink/ink44.xml"/><Relationship Id="rId54" Type="http://schemas.openxmlformats.org/officeDocument/2006/relationships/image" Target="../media/image40.png"/><Relationship Id="rId62" Type="http://schemas.openxmlformats.org/officeDocument/2006/relationships/image" Target="../media/image43.png"/><Relationship Id="rId70" Type="http://schemas.openxmlformats.org/officeDocument/2006/relationships/image" Target="../media/image47.png"/><Relationship Id="rId75" Type="http://schemas.openxmlformats.org/officeDocument/2006/relationships/customXml" Target="../ink/ink61.xml"/><Relationship Id="rId1" Type="http://schemas.openxmlformats.org/officeDocument/2006/relationships/slideLayout" Target="../slideLayouts/slideLayout2.xml"/><Relationship Id="rId6" Type="http://schemas.openxmlformats.org/officeDocument/2006/relationships/image" Target="../media/image90.png"/><Relationship Id="rId15" Type="http://schemas.openxmlformats.org/officeDocument/2006/relationships/customXml" Target="../ink/ink29.xml"/><Relationship Id="rId23" Type="http://schemas.openxmlformats.org/officeDocument/2006/relationships/customXml" Target="../ink/ink33.xml"/><Relationship Id="rId28" Type="http://schemas.openxmlformats.org/officeDocument/2006/relationships/customXml" Target="../ink/ink37.xml"/><Relationship Id="rId36" Type="http://schemas.openxmlformats.org/officeDocument/2006/relationships/image" Target="../media/image32.png"/><Relationship Id="rId49" Type="http://schemas.openxmlformats.org/officeDocument/2006/relationships/customXml" Target="../ink/ink48.xml"/><Relationship Id="rId57" Type="http://schemas.openxmlformats.org/officeDocument/2006/relationships/customXml" Target="../ink/ink52.xml"/><Relationship Id="rId10" Type="http://schemas.openxmlformats.org/officeDocument/2006/relationships/image" Target="../media/image110.png"/><Relationship Id="rId31" Type="http://schemas.openxmlformats.org/officeDocument/2006/relationships/customXml" Target="../ink/ink39.xml"/><Relationship Id="rId44" Type="http://schemas.openxmlformats.org/officeDocument/2006/relationships/image" Target="../media/image36.png"/><Relationship Id="rId52" Type="http://schemas.openxmlformats.org/officeDocument/2006/relationships/image" Target="../media/image39.png"/><Relationship Id="rId60" Type="http://schemas.openxmlformats.org/officeDocument/2006/relationships/image" Target="../media/image42.png"/><Relationship Id="rId65" Type="http://schemas.openxmlformats.org/officeDocument/2006/relationships/customXml" Target="../ink/ink56.xml"/><Relationship Id="rId73" Type="http://schemas.openxmlformats.org/officeDocument/2006/relationships/customXml" Target="../ink/ink60.xml"/><Relationship Id="rId78" Type="http://schemas.openxmlformats.org/officeDocument/2006/relationships/image" Target="../media/image51.png"/><Relationship Id="rId4" Type="http://schemas.openxmlformats.org/officeDocument/2006/relationships/image" Target="../media/image80.png"/><Relationship Id="rId9" Type="http://schemas.openxmlformats.org/officeDocument/2006/relationships/customXml" Target="../ink/ink26.xml"/><Relationship Id="rId13" Type="http://schemas.openxmlformats.org/officeDocument/2006/relationships/customXml" Target="../ink/ink28.xml"/><Relationship Id="rId18" Type="http://schemas.openxmlformats.org/officeDocument/2006/relationships/image" Target="../media/image150.png"/><Relationship Id="rId39" Type="http://schemas.openxmlformats.org/officeDocument/2006/relationships/customXml" Target="../ink/ink43.xml"/><Relationship Id="rId34" Type="http://schemas.openxmlformats.org/officeDocument/2006/relationships/image" Target="../media/image31.png"/><Relationship Id="rId50" Type="http://schemas.openxmlformats.org/officeDocument/2006/relationships/image" Target="../media/image38.png"/><Relationship Id="rId55" Type="http://schemas.openxmlformats.org/officeDocument/2006/relationships/customXml" Target="../ink/ink51.xml"/><Relationship Id="rId76" Type="http://schemas.openxmlformats.org/officeDocument/2006/relationships/image" Target="../media/image50.png"/><Relationship Id="rId7" Type="http://schemas.openxmlformats.org/officeDocument/2006/relationships/customXml" Target="../ink/ink25.xml"/><Relationship Id="rId71" Type="http://schemas.openxmlformats.org/officeDocument/2006/relationships/customXml" Target="../ink/ink59.xml"/><Relationship Id="rId2" Type="http://schemas.openxmlformats.org/officeDocument/2006/relationships/image" Target="../media/image7.jpeg"/><Relationship Id="rId29" Type="http://schemas.openxmlformats.org/officeDocument/2006/relationships/image" Target="../media/image190.png"/></Relationships>
</file>

<file path=ppt/slides/_rels/slide3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hyperlink" Target="http://2.http/www.governancenow.com/news/regular-story/fact-sheet-women-entrepreneurs-in-india" TargetMode="External"/><Relationship Id="rId2" Type="http://schemas.openxmlformats.org/officeDocument/2006/relationships/hyperlink" Target="https://www.tharawat-magazine.com/facts/9-incredible-business-facts-about-india/" TargetMode="External"/><Relationship Id="rId1" Type="http://schemas.openxmlformats.org/officeDocument/2006/relationships/slideLayout" Target="../slideLayouts/slideLayout2.xml"/><Relationship Id="rId5" Type="http://schemas.openxmlformats.org/officeDocument/2006/relationships/hyperlink" Target="https://yourstory.com/2017/10/top-startup-funding-2017/" TargetMode="External"/><Relationship Id="rId4" Type="http://schemas.openxmlformats.org/officeDocument/2006/relationships/hyperlink" Target="https://yourstory.com/2017/10/women-founders-startup-funding-2017/" TargetMode="External"/></Relationships>
</file>

<file path=ppt/slides/_rels/slide62.xml.rels><?xml version="1.0" encoding="UTF-8" standalone="yes"?>
<Relationships xmlns="http://schemas.openxmlformats.org/package/2006/relationships"><Relationship Id="rId3" Type="http://schemas.openxmlformats.org/officeDocument/2006/relationships/hyperlink" Target="http://6.http/www.cityam.com/271988/why-india-beats-britain-women-tech" TargetMode="External"/><Relationship Id="rId2" Type="http://schemas.openxmlformats.org/officeDocument/2006/relationships/hyperlink" Target="https://www.mckinsey.com/global-themes/employment-and-growth/indias-ascent-five-opportunities-for-growth-and-transformation" TargetMode="External"/><Relationship Id="rId1" Type="http://schemas.openxmlformats.org/officeDocument/2006/relationships/slideLayout" Target="../slideLayouts/slideLayout2.xml"/><Relationship Id="rId5" Type="http://schemas.openxmlformats.org/officeDocument/2006/relationships/hyperlink" Target="http://smartinvestor.business-standard.com/market/Compnews-447912-Compnewsdet-Meet_Radhika_Aggarwal_first_female_Indian_to_found_a_billion_dollar_firm.htm" TargetMode="External"/><Relationship Id="rId4" Type="http://schemas.openxmlformats.org/officeDocument/2006/relationships/hyperlink" Target="http://4.https/yourstory.com/2017/10/women-founders-startup-funding-2017/" TargetMode="Externa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46D2B77-C75F-4099-A903-0F2E61F4CA89}"/>
              </a:ext>
            </a:extLst>
          </p:cNvPr>
          <p:cNvSpPr>
            <a:spLocks noGrp="1"/>
          </p:cNvSpPr>
          <p:nvPr>
            <p:ph type="ctrTitle"/>
          </p:nvPr>
        </p:nvSpPr>
        <p:spPr/>
        <p:txBody>
          <a:bodyPr/>
          <a:lstStyle/>
          <a:p>
            <a:endParaRPr lang="en-US" dirty="0"/>
          </a:p>
        </p:txBody>
      </p:sp>
      <p:sp>
        <p:nvSpPr>
          <p:cNvPr id="5" name="Subtitle 4">
            <a:extLst>
              <a:ext uri="{FF2B5EF4-FFF2-40B4-BE49-F238E27FC236}">
                <a16:creationId xmlns:a16="http://schemas.microsoft.com/office/drawing/2014/main" id="{212E3586-76BD-4268-A846-F7EE57A2F364}"/>
              </a:ext>
            </a:extLst>
          </p:cNvPr>
          <p:cNvSpPr>
            <a:spLocks noGrp="1"/>
          </p:cNvSpPr>
          <p:nvPr>
            <p:ph type="subTitle" idx="1"/>
          </p:nvPr>
        </p:nvSpPr>
        <p:spPr/>
        <p:txBody>
          <a:bodyPr/>
          <a:lstStyle/>
          <a:p>
            <a:endParaRPr lang="en-US" dirty="0"/>
          </a:p>
        </p:txBody>
      </p:sp>
      <p:pic>
        <p:nvPicPr>
          <p:cNvPr id="27650" name="Picture 2" descr="Top 50 Entrepreneurs of India - List of 50 Successful Indian Entrepreneurs"/>
          <p:cNvPicPr>
            <a:picLocks noChangeAspect="1" noChangeArrowheads="1"/>
          </p:cNvPicPr>
          <p:nvPr/>
        </p:nvPicPr>
        <p:blipFill>
          <a:blip r:embed="rId2"/>
          <a:srcRect/>
          <a:stretch>
            <a:fillRect/>
          </a:stretch>
        </p:blipFill>
        <p:spPr bwMode="auto">
          <a:xfrm>
            <a:off x="457200" y="381000"/>
            <a:ext cx="8153400" cy="6248400"/>
          </a:xfrm>
          <a:prstGeom prst="rect">
            <a:avLst/>
          </a:prstGeom>
          <a:noFill/>
        </p:spPr>
      </p:pic>
    </p:spTree>
    <p:extLst>
      <p:ext uri="{BB962C8B-B14F-4D97-AF65-F5344CB8AC3E}">
        <p14:creationId xmlns:p14="http://schemas.microsoft.com/office/powerpoint/2010/main" val="35902443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51341B5-5818-7AF8-6390-0F4A4F8DB468}"/>
              </a:ext>
            </a:extLst>
          </p:cNvPr>
          <p:cNvPicPr>
            <a:picLocks noChangeAspect="1"/>
          </p:cNvPicPr>
          <p:nvPr/>
        </p:nvPicPr>
        <p:blipFill>
          <a:blip r:embed="rId2"/>
          <a:stretch>
            <a:fillRect/>
          </a:stretch>
        </p:blipFill>
        <p:spPr>
          <a:xfrm>
            <a:off x="9939" y="0"/>
            <a:ext cx="9173884" cy="6858000"/>
          </a:xfrm>
          <a:prstGeom prst="rect">
            <a:avLst/>
          </a:prstGeom>
        </p:spPr>
      </p:pic>
      <p:sp>
        <p:nvSpPr>
          <p:cNvPr id="6" name="Rectangle 5">
            <a:extLst>
              <a:ext uri="{FF2B5EF4-FFF2-40B4-BE49-F238E27FC236}">
                <a16:creationId xmlns:a16="http://schemas.microsoft.com/office/drawing/2014/main" id="{711F7BFF-831E-81FC-0806-960CED237C58}"/>
              </a:ext>
            </a:extLst>
          </p:cNvPr>
          <p:cNvSpPr/>
          <p:nvPr/>
        </p:nvSpPr>
        <p:spPr>
          <a:xfrm>
            <a:off x="-13252" y="0"/>
            <a:ext cx="9286461" cy="1569660"/>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wrap="square" lIns="91440" tIns="45720" rIns="91440" bIns="45720">
            <a:spAutoFit/>
          </a:bodyPr>
          <a:lstStyle/>
          <a:p>
            <a:pPr algn="ctr"/>
            <a:r>
              <a:rPr lang="en-US" sz="48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INNOVATION, INCUBATION </a:t>
            </a:r>
          </a:p>
          <a:p>
            <a:pPr algn="ctr"/>
            <a:r>
              <a:rPr lang="en-US" sz="48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AND </a:t>
            </a:r>
            <a:r>
              <a:rPr lang="en-US" sz="48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ENTREPRENEURSHIP</a:t>
            </a:r>
            <a:endParaRPr lang="en-US" sz="48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p:txBody>
      </p:sp>
    </p:spTree>
    <p:extLst>
      <p:ext uri="{BB962C8B-B14F-4D97-AF65-F5344CB8AC3E}">
        <p14:creationId xmlns:p14="http://schemas.microsoft.com/office/powerpoint/2010/main" val="15786662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14A55B31-CF47-D939-4750-39000B3262F3}"/>
              </a:ext>
            </a:extLst>
          </p:cNvPr>
          <p:cNvSpPr>
            <a:spLocks noGrp="1"/>
          </p:cNvSpPr>
          <p:nvPr>
            <p:ph type="subTitle" idx="1"/>
          </p:nvPr>
        </p:nvSpPr>
        <p:spPr>
          <a:xfrm>
            <a:off x="609600" y="762000"/>
            <a:ext cx="7543800" cy="5181600"/>
          </a:xfrm>
        </p:spPr>
        <p:txBody>
          <a:bodyPr>
            <a:normAutofit/>
          </a:bodyPr>
          <a:lstStyle/>
          <a:p>
            <a:pPr algn="just"/>
            <a:r>
              <a:rPr lang="en-US" sz="2400" b="1" dirty="0">
                <a:solidFill>
                  <a:schemeClr val="tx1"/>
                </a:solidFill>
              </a:rPr>
              <a:t>Innovation</a:t>
            </a:r>
            <a:r>
              <a:rPr lang="en-US" sz="2000" dirty="0">
                <a:solidFill>
                  <a:schemeClr val="tx1"/>
                </a:solidFill>
              </a:rPr>
              <a:t>: </a:t>
            </a:r>
          </a:p>
          <a:p>
            <a:pPr algn="just"/>
            <a:r>
              <a:rPr lang="en-US" sz="2000" dirty="0">
                <a:solidFill>
                  <a:schemeClr val="tx1"/>
                </a:solidFill>
              </a:rPr>
              <a:t>Introducing a </a:t>
            </a:r>
            <a:r>
              <a:rPr lang="en-US" sz="2000" b="1" dirty="0">
                <a:solidFill>
                  <a:schemeClr val="tx1"/>
                </a:solidFill>
              </a:rPr>
              <a:t>new idea, method, product, or improvement that creates value. </a:t>
            </a:r>
            <a:r>
              <a:rPr lang="en-US" sz="2000" dirty="0">
                <a:solidFill>
                  <a:schemeClr val="tx1"/>
                </a:solidFill>
              </a:rPr>
              <a:t>It is about doing something </a:t>
            </a:r>
            <a:r>
              <a:rPr lang="en-US" sz="2000" b="1" dirty="0">
                <a:solidFill>
                  <a:schemeClr val="tx1"/>
                </a:solidFill>
              </a:rPr>
              <a:t>better, faster, or differently than before.</a:t>
            </a:r>
          </a:p>
          <a:p>
            <a:pPr algn="just"/>
            <a:endParaRPr lang="en-US" sz="2000" dirty="0">
              <a:solidFill>
                <a:schemeClr val="tx1"/>
              </a:solidFill>
            </a:endParaRPr>
          </a:p>
          <a:p>
            <a:pPr algn="just"/>
            <a:r>
              <a:rPr lang="en-US" sz="2400" b="1" dirty="0">
                <a:solidFill>
                  <a:schemeClr val="tx1"/>
                </a:solidFill>
              </a:rPr>
              <a:t>Incubation</a:t>
            </a:r>
            <a:r>
              <a:rPr lang="en-US" sz="2000" dirty="0">
                <a:solidFill>
                  <a:schemeClr val="tx1"/>
                </a:solidFill>
              </a:rPr>
              <a:t>:</a:t>
            </a:r>
          </a:p>
          <a:p>
            <a:pPr algn="just"/>
            <a:r>
              <a:rPr lang="en-US" sz="2000" dirty="0">
                <a:solidFill>
                  <a:schemeClr val="tx1"/>
                </a:solidFill>
              </a:rPr>
              <a:t>The </a:t>
            </a:r>
            <a:r>
              <a:rPr lang="en-US" sz="2000" b="1" dirty="0">
                <a:solidFill>
                  <a:schemeClr val="tx1"/>
                </a:solidFill>
              </a:rPr>
              <a:t>process of supporting new business ideas or startups </a:t>
            </a:r>
            <a:r>
              <a:rPr lang="en-US" sz="2000" dirty="0">
                <a:solidFill>
                  <a:schemeClr val="tx1"/>
                </a:solidFill>
              </a:rPr>
              <a:t>during their early stages. </a:t>
            </a:r>
            <a:r>
              <a:rPr lang="en-US" sz="2000" b="1" dirty="0">
                <a:solidFill>
                  <a:schemeClr val="tx1"/>
                </a:solidFill>
              </a:rPr>
              <a:t>Incubation centers provide guidance, mentoring, funding support, workspace, and training.</a:t>
            </a:r>
          </a:p>
          <a:p>
            <a:pPr algn="just"/>
            <a:endParaRPr lang="en-US" sz="2000" b="1" dirty="0">
              <a:solidFill>
                <a:schemeClr val="tx1"/>
              </a:solidFill>
            </a:endParaRPr>
          </a:p>
          <a:p>
            <a:pPr algn="just"/>
            <a:r>
              <a:rPr lang="en-US" sz="2400" b="1" dirty="0">
                <a:solidFill>
                  <a:schemeClr val="tx1"/>
                </a:solidFill>
              </a:rPr>
              <a:t>Entrepreneurship</a:t>
            </a:r>
            <a:r>
              <a:rPr lang="en-US" sz="2000" dirty="0">
                <a:solidFill>
                  <a:schemeClr val="tx1"/>
                </a:solidFill>
              </a:rPr>
              <a:t>:</a:t>
            </a:r>
          </a:p>
          <a:p>
            <a:pPr algn="just"/>
            <a:r>
              <a:rPr lang="en-US" sz="2000" dirty="0">
                <a:solidFill>
                  <a:schemeClr val="tx1"/>
                </a:solidFill>
              </a:rPr>
              <a:t>The </a:t>
            </a:r>
            <a:r>
              <a:rPr lang="en-US" sz="2000" b="1" dirty="0">
                <a:solidFill>
                  <a:schemeClr val="tx1"/>
                </a:solidFill>
              </a:rPr>
              <a:t>ability and willingness </a:t>
            </a:r>
            <a:r>
              <a:rPr lang="en-US" sz="2000" dirty="0">
                <a:solidFill>
                  <a:schemeClr val="tx1"/>
                </a:solidFill>
              </a:rPr>
              <a:t>to </a:t>
            </a:r>
            <a:r>
              <a:rPr lang="en-US" sz="2000" b="1" dirty="0">
                <a:solidFill>
                  <a:schemeClr val="tx1"/>
                </a:solidFill>
              </a:rPr>
              <a:t>start, manage, and grow a business</a:t>
            </a:r>
            <a:r>
              <a:rPr lang="en-US" sz="2000" dirty="0">
                <a:solidFill>
                  <a:schemeClr val="tx1"/>
                </a:solidFill>
              </a:rPr>
              <a:t>, </a:t>
            </a:r>
            <a:r>
              <a:rPr lang="en-US" sz="2000" b="1" dirty="0">
                <a:solidFill>
                  <a:schemeClr val="tx1"/>
                </a:solidFill>
              </a:rPr>
              <a:t>taking risks to earn profit </a:t>
            </a:r>
            <a:r>
              <a:rPr lang="en-US" sz="2000" dirty="0">
                <a:solidFill>
                  <a:schemeClr val="tx1"/>
                </a:solidFill>
              </a:rPr>
              <a:t>and create value.</a:t>
            </a:r>
            <a:endParaRPr lang="en-IN" sz="2000" dirty="0">
              <a:solidFill>
                <a:schemeClr val="tx1"/>
              </a:solidFill>
            </a:endParaRPr>
          </a:p>
        </p:txBody>
      </p:sp>
    </p:spTree>
    <p:extLst>
      <p:ext uri="{BB962C8B-B14F-4D97-AF65-F5344CB8AC3E}">
        <p14:creationId xmlns:p14="http://schemas.microsoft.com/office/powerpoint/2010/main" val="36864810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D1063D8A-2787-4E7A-BC0D-508947E0F0ED}"/>
              </a:ext>
            </a:extLst>
          </p:cNvPr>
          <p:cNvSpPr>
            <a:spLocks noGrp="1"/>
          </p:cNvSpPr>
          <p:nvPr>
            <p:ph sz="half" idx="2"/>
          </p:nvPr>
        </p:nvSpPr>
        <p:spPr/>
        <p:txBody>
          <a:bodyPr/>
          <a:lstStyle/>
          <a:p>
            <a:pPr marL="0" indent="0">
              <a:buNone/>
            </a:pPr>
            <a:r>
              <a:rPr lang="en-US" dirty="0"/>
              <a:t>If You have confidence on own strength then you become entrepreneur, </a:t>
            </a:r>
          </a:p>
          <a:p>
            <a:pPr marL="0" indent="0">
              <a:buNone/>
            </a:pPr>
            <a:endParaRPr lang="en-US" dirty="0"/>
          </a:p>
          <a:p>
            <a:pPr marL="0" indent="0">
              <a:buNone/>
            </a:pPr>
            <a:r>
              <a:rPr lang="en-US" dirty="0"/>
              <a:t>But other have confidence on your strength then you become CEO.</a:t>
            </a:r>
          </a:p>
        </p:txBody>
      </p:sp>
      <p:pic>
        <p:nvPicPr>
          <p:cNvPr id="6146" name="Picture 2" descr="Image result for entrepreneur and employee">
            <a:extLst>
              <a:ext uri="{FF2B5EF4-FFF2-40B4-BE49-F238E27FC236}">
                <a16:creationId xmlns:a16="http://schemas.microsoft.com/office/drawing/2014/main" id="{B851E900-9680-4765-AFEA-7EF948CDF16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7460" y="785935"/>
            <a:ext cx="3660364" cy="48947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128244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5DDBA-8EDC-40C4-A299-28785808F836}"/>
              </a:ext>
            </a:extLst>
          </p:cNvPr>
          <p:cNvSpPr>
            <a:spLocks noGrp="1"/>
          </p:cNvSpPr>
          <p:nvPr>
            <p:ph type="title"/>
          </p:nvPr>
        </p:nvSpPr>
        <p:spPr/>
        <p:txBody>
          <a:bodyPr/>
          <a:lstStyle/>
          <a:p>
            <a:endParaRPr lang="en-US" dirty="0"/>
          </a:p>
        </p:txBody>
      </p:sp>
      <p:sp>
        <p:nvSpPr>
          <p:cNvPr id="3" name="Text Placeholder 2">
            <a:extLst>
              <a:ext uri="{FF2B5EF4-FFF2-40B4-BE49-F238E27FC236}">
                <a16:creationId xmlns:a16="http://schemas.microsoft.com/office/drawing/2014/main" id="{6D8B6312-61DF-4CDF-B3A3-86C3338E9C89}"/>
              </a:ext>
            </a:extLst>
          </p:cNvPr>
          <p:cNvSpPr>
            <a:spLocks noGrp="1"/>
          </p:cNvSpPr>
          <p:nvPr>
            <p:ph type="body" idx="1"/>
          </p:nvPr>
        </p:nvSpPr>
        <p:spPr/>
        <p:txBody>
          <a:bodyPr/>
          <a:lstStyle/>
          <a:p>
            <a:endParaRPr lang="en-US" dirty="0"/>
          </a:p>
        </p:txBody>
      </p:sp>
      <p:pic>
        <p:nvPicPr>
          <p:cNvPr id="3074" name="Picture 2" descr="(79) Pinterest  ||  Discover recipes, home ideas, style inspiration and other ideas to try.">
            <a:extLst>
              <a:ext uri="{FF2B5EF4-FFF2-40B4-BE49-F238E27FC236}">
                <a16:creationId xmlns:a16="http://schemas.microsoft.com/office/drawing/2014/main" id="{1E838DBC-FF85-4627-A41D-222D60F92A9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20479" y="605736"/>
            <a:ext cx="4112936" cy="548391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Image result for entrepreneur meaning">
            <a:extLst>
              <a:ext uri="{FF2B5EF4-FFF2-40B4-BE49-F238E27FC236}">
                <a16:creationId xmlns:a16="http://schemas.microsoft.com/office/drawing/2014/main" id="{E5504106-4438-4ACE-B19D-6CD5FB1F29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1061" y="605735"/>
            <a:ext cx="4517645" cy="58878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812133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71EEF9-C3BB-45FA-BB19-13788A5D674D}"/>
              </a:ext>
            </a:extLst>
          </p:cNvPr>
          <p:cNvSpPr>
            <a:spLocks noGrp="1"/>
          </p:cNvSpPr>
          <p:nvPr>
            <p:ph type="title"/>
          </p:nvPr>
        </p:nvSpPr>
        <p:spPr>
          <a:xfrm>
            <a:off x="504825" y="-26504"/>
            <a:ext cx="8229600" cy="1143000"/>
          </a:xfrm>
        </p:spPr>
        <p:txBody>
          <a:bodyPr>
            <a:normAutofit/>
          </a:bodyPr>
          <a:lstStyle/>
          <a:p>
            <a:r>
              <a:rPr lang="en-US" dirty="0"/>
              <a:t>CONCEPT </a:t>
            </a:r>
          </a:p>
        </p:txBody>
      </p:sp>
      <p:graphicFrame>
        <p:nvGraphicFramePr>
          <p:cNvPr id="4" name="Content Placeholder 3">
            <a:extLst>
              <a:ext uri="{FF2B5EF4-FFF2-40B4-BE49-F238E27FC236}">
                <a16:creationId xmlns:a16="http://schemas.microsoft.com/office/drawing/2014/main" id="{7098B335-B845-482E-90F3-C44105DD6F12}"/>
              </a:ext>
            </a:extLst>
          </p:cNvPr>
          <p:cNvGraphicFramePr>
            <a:graphicFrameLocks noGrp="1"/>
          </p:cNvGraphicFramePr>
          <p:nvPr>
            <p:ph idx="1"/>
            <p:extLst>
              <p:ext uri="{D42A27DB-BD31-4B8C-83A1-F6EECF244321}">
                <p14:modId xmlns:p14="http://schemas.microsoft.com/office/powerpoint/2010/main" val="1197954273"/>
              </p:ext>
            </p:extLst>
          </p:nvPr>
        </p:nvGraphicFramePr>
        <p:xfrm>
          <a:off x="323850" y="1044575"/>
          <a:ext cx="8591550" cy="5461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807224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8E152D-204F-49C0-B37D-D0BB519C0365}"/>
              </a:ext>
            </a:extLst>
          </p:cNvPr>
          <p:cNvSpPr>
            <a:spLocks noGrp="1"/>
          </p:cNvSpPr>
          <p:nvPr>
            <p:ph type="title"/>
          </p:nvPr>
        </p:nvSpPr>
        <p:spPr/>
        <p:txBody>
          <a:bodyPr>
            <a:normAutofit/>
          </a:bodyPr>
          <a:lstStyle/>
          <a:p>
            <a:pPr algn="ctr"/>
            <a:r>
              <a:rPr lang="en-US" dirty="0"/>
              <a:t>CONCEPT </a:t>
            </a:r>
          </a:p>
        </p:txBody>
      </p:sp>
      <p:sp>
        <p:nvSpPr>
          <p:cNvPr id="3" name="Content Placeholder 2">
            <a:extLst>
              <a:ext uri="{FF2B5EF4-FFF2-40B4-BE49-F238E27FC236}">
                <a16:creationId xmlns:a16="http://schemas.microsoft.com/office/drawing/2014/main" id="{434CE8CD-9C4E-45EA-8940-9D589F4E0BCD}"/>
              </a:ext>
            </a:extLst>
          </p:cNvPr>
          <p:cNvSpPr>
            <a:spLocks noGrp="1"/>
          </p:cNvSpPr>
          <p:nvPr>
            <p:ph idx="1"/>
          </p:nvPr>
        </p:nvSpPr>
        <p:spPr/>
        <p:txBody>
          <a:bodyPr>
            <a:normAutofit fontScale="70000" lnSpcReduction="20000"/>
          </a:bodyPr>
          <a:lstStyle/>
          <a:p>
            <a:pPr algn="just" defTabSz="517525">
              <a:spcBef>
                <a:spcPct val="0"/>
              </a:spcBef>
              <a:spcAft>
                <a:spcPct val="70000"/>
              </a:spcAft>
              <a:defRPr/>
            </a:pPr>
            <a:r>
              <a:rPr lang="en-US" dirty="0"/>
              <a:t>It was the beginning of 18</a:t>
            </a:r>
            <a:r>
              <a:rPr lang="en-US" baseline="30000" dirty="0"/>
              <a:t>th</a:t>
            </a:r>
            <a:r>
              <a:rPr lang="en-US" dirty="0"/>
              <a:t> Century when the word was used to refer to economic aspect</a:t>
            </a:r>
          </a:p>
          <a:p>
            <a:pPr marL="225425" indent="-212725" algn="just" defTabSz="517525">
              <a:spcBef>
                <a:spcPct val="0"/>
              </a:spcBef>
              <a:spcAft>
                <a:spcPct val="70000"/>
              </a:spcAft>
              <a:defRPr/>
            </a:pPr>
            <a:r>
              <a:rPr lang="en-US" dirty="0">
                <a:solidFill>
                  <a:srgbClr val="FF0000"/>
                </a:solidFill>
              </a:rPr>
              <a:t>Richard Cantillon </a:t>
            </a:r>
            <a:r>
              <a:rPr lang="en-US" dirty="0"/>
              <a:t>is the first one who introduced the term Entrepreneur with some economical aspect</a:t>
            </a:r>
          </a:p>
          <a:p>
            <a:pPr marL="12700" algn="just" defTabSz="517525">
              <a:spcBef>
                <a:spcPct val="0"/>
              </a:spcBef>
              <a:spcAft>
                <a:spcPct val="70000"/>
              </a:spcAft>
              <a:defRPr/>
            </a:pPr>
            <a:r>
              <a:rPr lang="en-US" dirty="0">
                <a:solidFill>
                  <a:srgbClr val="FF0000"/>
                </a:solidFill>
              </a:rPr>
              <a:t>According to  him</a:t>
            </a:r>
            <a:r>
              <a:rPr lang="en-US" dirty="0"/>
              <a:t> - “Entrepreneur as an agent who buy factors of production at certain price in order to combine them to produce product with a view to selling it in uncertain price in the future” (FARMER)</a:t>
            </a:r>
          </a:p>
          <a:p>
            <a:pPr marL="225425" indent="-212725" algn="just" defTabSz="517525">
              <a:spcBef>
                <a:spcPct val="0"/>
              </a:spcBef>
              <a:spcAft>
                <a:spcPct val="70000"/>
              </a:spcAft>
              <a:defRPr/>
            </a:pPr>
            <a:r>
              <a:rPr lang="en-US" dirty="0"/>
              <a:t>According to Knight - “Entrepreneur is the economic functionary who undertakes such responsibility of uncertainty which is not insured nor capitalized nor salaried”</a:t>
            </a:r>
          </a:p>
          <a:p>
            <a:pPr marL="225425" indent="-212725" algn="just" defTabSz="517525">
              <a:spcBef>
                <a:spcPct val="0"/>
              </a:spcBef>
              <a:spcAft>
                <a:spcPct val="70000"/>
              </a:spcAft>
              <a:defRPr/>
            </a:pPr>
            <a:r>
              <a:rPr lang="en-US" dirty="0"/>
              <a:t>Entrepreneur earns profit by bearing uncertainty.</a:t>
            </a:r>
          </a:p>
          <a:p>
            <a:endParaRPr lang="en-US" dirty="0"/>
          </a:p>
        </p:txBody>
      </p:sp>
    </p:spTree>
    <p:extLst>
      <p:ext uri="{BB962C8B-B14F-4D97-AF65-F5344CB8AC3E}">
        <p14:creationId xmlns:p14="http://schemas.microsoft.com/office/powerpoint/2010/main" val="11237959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a:t>DEFINITION </a:t>
            </a:r>
          </a:p>
        </p:txBody>
      </p:sp>
    </p:spTree>
    <p:extLst>
      <p:ext uri="{BB962C8B-B14F-4D97-AF65-F5344CB8AC3E}">
        <p14:creationId xmlns:p14="http://schemas.microsoft.com/office/powerpoint/2010/main" val="21665805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2740885794"/>
              </p:ext>
            </p:extLst>
          </p:nvPr>
        </p:nvGraphicFramePr>
        <p:xfrm>
          <a:off x="152400" y="273570"/>
          <a:ext cx="8810626" cy="6203430"/>
        </p:xfrm>
        <a:graphic>
          <a:graphicData uri="http://schemas.openxmlformats.org/drawingml/2006/table">
            <a:tbl>
              <a:tblPr firstRow="1" bandRow="1">
                <a:tableStyleId>{3B4B98B0-60AC-42C2-AFA5-B58CD77FA1E5}</a:tableStyleId>
              </a:tblPr>
              <a:tblGrid>
                <a:gridCol w="6797723">
                  <a:extLst>
                    <a:ext uri="{9D8B030D-6E8A-4147-A177-3AD203B41FA5}">
                      <a16:colId xmlns:a16="http://schemas.microsoft.com/office/drawing/2014/main" val="20000"/>
                    </a:ext>
                  </a:extLst>
                </a:gridCol>
                <a:gridCol w="2012903">
                  <a:extLst>
                    <a:ext uri="{9D8B030D-6E8A-4147-A177-3AD203B41FA5}">
                      <a16:colId xmlns:a16="http://schemas.microsoft.com/office/drawing/2014/main" val="20001"/>
                    </a:ext>
                  </a:extLst>
                </a:gridCol>
              </a:tblGrid>
              <a:tr h="927225">
                <a:tc>
                  <a:txBody>
                    <a:bodyPr/>
                    <a:lstStyle/>
                    <a:p>
                      <a:pPr algn="just"/>
                      <a:r>
                        <a:rPr lang="en-US" sz="1800" b="0" i="0" kern="1200" dirty="0">
                          <a:solidFill>
                            <a:schemeClr val="tx1"/>
                          </a:solidFill>
                          <a:effectLst/>
                          <a:latin typeface="+mn-lt"/>
                          <a:ea typeface="+mn-ea"/>
                          <a:cs typeface="+mn-cs"/>
                        </a:rPr>
                        <a:t>An individual who bears the risk of operating a business in the face of uncertainty about the future conditions.</a:t>
                      </a:r>
                      <a:endParaRPr lang="en-US" dirty="0"/>
                    </a:p>
                  </a:txBody>
                  <a:tcPr marL="68580" marR="68580"/>
                </a:tc>
                <a:tc>
                  <a:txBody>
                    <a:bodyPr/>
                    <a:lstStyle/>
                    <a:p>
                      <a:r>
                        <a:rPr lang="en-US" sz="1800" b="1" i="0" kern="1200" dirty="0">
                          <a:solidFill>
                            <a:schemeClr val="tx1"/>
                          </a:solidFill>
                          <a:effectLst/>
                          <a:latin typeface="+mn-lt"/>
                          <a:ea typeface="+mn-ea"/>
                          <a:cs typeface="+mn-cs"/>
                        </a:rPr>
                        <a:t>Encyclopedia Britannica</a:t>
                      </a:r>
                      <a:endParaRPr lang="en-US" dirty="0"/>
                    </a:p>
                  </a:txBody>
                  <a:tcPr marL="68580" marR="68580"/>
                </a:tc>
                <a:extLst>
                  <a:ext uri="{0D108BD9-81ED-4DB2-BD59-A6C34878D82A}">
                    <a16:rowId xmlns:a16="http://schemas.microsoft.com/office/drawing/2014/main" val="10000"/>
                  </a:ext>
                </a:extLst>
              </a:tr>
              <a:tr h="537202">
                <a:tc>
                  <a:txBody>
                    <a:bodyPr/>
                    <a:lstStyle/>
                    <a:p>
                      <a:pPr algn="just"/>
                      <a:r>
                        <a:rPr lang="en-US" sz="1800" b="0" i="0" kern="1200" dirty="0">
                          <a:solidFill>
                            <a:schemeClr val="tx1"/>
                          </a:solidFill>
                          <a:effectLst/>
                          <a:latin typeface="+mn-lt"/>
                          <a:ea typeface="+mn-ea"/>
                          <a:cs typeface="+mn-cs"/>
                        </a:rPr>
                        <a:t>He is the one who innovates, and introduces something new in the economy.</a:t>
                      </a:r>
                      <a:endParaRPr lang="en-US" dirty="0"/>
                    </a:p>
                  </a:txBody>
                  <a:tcPr marL="68580" marR="68580"/>
                </a:tc>
                <a:tc>
                  <a:txBody>
                    <a:bodyPr/>
                    <a:lstStyle/>
                    <a:p>
                      <a:r>
                        <a:rPr lang="en-US" sz="1800" b="1" i="0" kern="1200" dirty="0">
                          <a:solidFill>
                            <a:schemeClr val="tx1"/>
                          </a:solidFill>
                          <a:effectLst/>
                          <a:latin typeface="+mn-lt"/>
                          <a:ea typeface="+mn-ea"/>
                          <a:cs typeface="+mn-cs"/>
                        </a:rPr>
                        <a:t>Joseph A. Schumpeter</a:t>
                      </a:r>
                      <a:endParaRPr lang="en-US" dirty="0"/>
                    </a:p>
                  </a:txBody>
                  <a:tcPr marL="68580" marR="68580"/>
                </a:tc>
                <a:extLst>
                  <a:ext uri="{0D108BD9-81ED-4DB2-BD59-A6C34878D82A}">
                    <a16:rowId xmlns:a16="http://schemas.microsoft.com/office/drawing/2014/main" val="10001"/>
                  </a:ext>
                </a:extLst>
              </a:tr>
              <a:tr h="927225">
                <a:tc>
                  <a:txBody>
                    <a:bodyPr/>
                    <a:lstStyle/>
                    <a:p>
                      <a:pPr algn="just"/>
                      <a:r>
                        <a:rPr lang="en-US" sz="1800" b="0" i="0" kern="1200" dirty="0">
                          <a:solidFill>
                            <a:schemeClr val="tx1"/>
                          </a:solidFill>
                          <a:effectLst/>
                          <a:latin typeface="+mn-lt"/>
                          <a:ea typeface="+mn-ea"/>
                          <a:cs typeface="+mn-cs"/>
                        </a:rPr>
                        <a:t>He shifts economic resources out of an area of lower and into an area of higher productivity and greater yield.</a:t>
                      </a:r>
                      <a:endParaRPr lang="en-US" dirty="0"/>
                    </a:p>
                  </a:txBody>
                  <a:tcPr marL="68580" marR="68580"/>
                </a:tc>
                <a:tc>
                  <a:txBody>
                    <a:bodyPr/>
                    <a:lstStyle/>
                    <a:p>
                      <a:r>
                        <a:rPr lang="en-US" sz="1800" b="1" i="0" kern="1200" dirty="0">
                          <a:solidFill>
                            <a:schemeClr val="tx1"/>
                          </a:solidFill>
                          <a:effectLst/>
                          <a:latin typeface="+mn-lt"/>
                          <a:ea typeface="+mn-ea"/>
                          <a:cs typeface="+mn-cs"/>
                        </a:rPr>
                        <a:t>J. B. Say (French economist)</a:t>
                      </a:r>
                      <a:endParaRPr lang="en-US" dirty="0"/>
                    </a:p>
                  </a:txBody>
                  <a:tcPr marL="68580" marR="68580"/>
                </a:tc>
                <a:extLst>
                  <a:ext uri="{0D108BD9-81ED-4DB2-BD59-A6C34878D82A}">
                    <a16:rowId xmlns:a16="http://schemas.microsoft.com/office/drawing/2014/main" val="10002"/>
                  </a:ext>
                </a:extLst>
              </a:tr>
              <a:tr h="927225">
                <a:tc>
                  <a:txBody>
                    <a:bodyPr/>
                    <a:lstStyle/>
                    <a:p>
                      <a:pPr algn="just"/>
                      <a:r>
                        <a:rPr lang="en-US" sz="1800" b="0" i="0" kern="1200" dirty="0">
                          <a:solidFill>
                            <a:schemeClr val="tx1"/>
                          </a:solidFill>
                          <a:effectLst/>
                          <a:latin typeface="+mn-lt"/>
                          <a:ea typeface="+mn-ea"/>
                          <a:cs typeface="+mn-cs"/>
                        </a:rPr>
                        <a:t>He searches for change, responds to it and exploits opportunities. Innovation is the specific tool of an entrepreneur.</a:t>
                      </a:r>
                      <a:endParaRPr lang="en-US" dirty="0"/>
                    </a:p>
                  </a:txBody>
                  <a:tcPr marL="68580" marR="68580"/>
                </a:tc>
                <a:tc>
                  <a:txBody>
                    <a:bodyPr/>
                    <a:lstStyle/>
                    <a:p>
                      <a:r>
                        <a:rPr lang="en-US" sz="1800" b="1" i="0" kern="1200" dirty="0">
                          <a:solidFill>
                            <a:schemeClr val="tx1"/>
                          </a:solidFill>
                          <a:effectLst/>
                          <a:latin typeface="+mn-lt"/>
                          <a:ea typeface="+mn-ea"/>
                          <a:cs typeface="+mn-cs"/>
                        </a:rPr>
                        <a:t>Peter F. Drucker</a:t>
                      </a:r>
                      <a:endParaRPr lang="en-US" dirty="0"/>
                    </a:p>
                  </a:txBody>
                  <a:tcPr marL="68580" marR="68580"/>
                </a:tc>
                <a:extLst>
                  <a:ext uri="{0D108BD9-81ED-4DB2-BD59-A6C34878D82A}">
                    <a16:rowId xmlns:a16="http://schemas.microsoft.com/office/drawing/2014/main" val="10003"/>
                  </a:ext>
                </a:extLst>
              </a:tr>
              <a:tr h="927225">
                <a:tc>
                  <a:txBody>
                    <a:bodyPr/>
                    <a:lstStyle/>
                    <a:p>
                      <a:pPr algn="just"/>
                      <a:r>
                        <a:rPr lang="en-US" sz="1800" b="0" i="0" kern="1200" dirty="0">
                          <a:solidFill>
                            <a:schemeClr val="tx1"/>
                          </a:solidFill>
                          <a:effectLst/>
                          <a:latin typeface="+mn-lt"/>
                          <a:ea typeface="+mn-ea"/>
                          <a:cs typeface="+mn-cs"/>
                        </a:rPr>
                        <a:t>He is the one who is endowed with more than average capacities in the task of organizing and coordinating the various factors of production. He is a pioneer and captain of industry.</a:t>
                      </a:r>
                      <a:endParaRPr lang="en-US" dirty="0"/>
                    </a:p>
                  </a:txBody>
                  <a:tcPr marL="68580" marR="68580"/>
                </a:tc>
                <a:tc>
                  <a:txBody>
                    <a:bodyPr/>
                    <a:lstStyle/>
                    <a:p>
                      <a:r>
                        <a:rPr lang="en-US" sz="1800" b="1" i="0" kern="1200" dirty="0">
                          <a:solidFill>
                            <a:schemeClr val="tx1"/>
                          </a:solidFill>
                          <a:effectLst/>
                          <a:latin typeface="+mn-lt"/>
                          <a:ea typeface="+mn-ea"/>
                          <a:cs typeface="+mn-cs"/>
                        </a:rPr>
                        <a:t>Francis A. Walker</a:t>
                      </a:r>
                      <a:endParaRPr lang="en-US" dirty="0"/>
                    </a:p>
                  </a:txBody>
                  <a:tcPr marL="68580" marR="68580"/>
                </a:tc>
                <a:extLst>
                  <a:ext uri="{0D108BD9-81ED-4DB2-BD59-A6C34878D82A}">
                    <a16:rowId xmlns:a16="http://schemas.microsoft.com/office/drawing/2014/main" val="10004"/>
                  </a:ext>
                </a:extLst>
              </a:tr>
              <a:tr h="927225">
                <a:tc>
                  <a:txBody>
                    <a:bodyPr/>
                    <a:lstStyle/>
                    <a:p>
                      <a:pPr algn="just"/>
                      <a:r>
                        <a:rPr lang="en-US" sz="1800" b="0" i="0" kern="1200" dirty="0">
                          <a:solidFill>
                            <a:schemeClr val="tx1"/>
                          </a:solidFill>
                          <a:effectLst/>
                          <a:latin typeface="+mn-lt"/>
                          <a:ea typeface="+mn-ea"/>
                          <a:cs typeface="+mn-cs"/>
                        </a:rPr>
                        <a:t>He is a critical factor in economic development and an integral part of economic transformation.</a:t>
                      </a:r>
                      <a:endParaRPr lang="en-US" dirty="0"/>
                    </a:p>
                  </a:txBody>
                  <a:tcPr marL="68580" marR="68580"/>
                </a:tc>
                <a:tc>
                  <a:txBody>
                    <a:bodyPr/>
                    <a:lstStyle/>
                    <a:p>
                      <a:r>
                        <a:rPr lang="en-US" sz="1800" b="1" i="0" kern="1200" dirty="0">
                          <a:solidFill>
                            <a:schemeClr val="tx1"/>
                          </a:solidFill>
                          <a:effectLst/>
                          <a:latin typeface="+mn-lt"/>
                          <a:ea typeface="+mn-ea"/>
                          <a:cs typeface="+mn-cs"/>
                        </a:rPr>
                        <a:t>William Diamond</a:t>
                      </a:r>
                      <a:endParaRPr lang="en-US" dirty="0"/>
                    </a:p>
                  </a:txBody>
                  <a:tcPr marL="68580" marR="68580"/>
                </a:tc>
                <a:extLst>
                  <a:ext uri="{0D108BD9-81ED-4DB2-BD59-A6C34878D82A}">
                    <a16:rowId xmlns:a16="http://schemas.microsoft.com/office/drawing/2014/main" val="10005"/>
                  </a:ext>
                </a:extLst>
              </a:tr>
              <a:tr h="927225">
                <a:tc>
                  <a:txBody>
                    <a:bodyPr/>
                    <a:lstStyle/>
                    <a:p>
                      <a:pPr algn="just"/>
                      <a:endParaRPr lang="en-US" dirty="0"/>
                    </a:p>
                  </a:txBody>
                  <a:tcPr marL="68580" marR="68580"/>
                </a:tc>
                <a:tc>
                  <a:txBody>
                    <a:bodyPr/>
                    <a:lstStyle/>
                    <a:p>
                      <a:endParaRPr lang="en-US" dirty="0"/>
                    </a:p>
                  </a:txBody>
                  <a:tcPr marL="68580" marR="68580"/>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8075573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1143000" y="381000"/>
            <a:ext cx="7086600" cy="4267200"/>
          </a:xfrm>
        </p:spPr>
        <p:txBody>
          <a:bodyPr>
            <a:normAutofit/>
          </a:bodyPr>
          <a:lstStyle/>
          <a:p>
            <a:br>
              <a:rPr lang="en-US" dirty="0"/>
            </a:br>
            <a:r>
              <a:rPr lang="en-US" b="0" i="0" dirty="0"/>
              <a:t>Why Should You Become an Entrepreneur?</a:t>
            </a:r>
            <a:br>
              <a:rPr lang="en-US" b="0" i="0" dirty="0"/>
            </a:br>
            <a:endParaRPr lang="en-US" dirty="0"/>
          </a:p>
        </p:txBody>
      </p:sp>
    </p:spTree>
    <p:extLst>
      <p:ext uri="{BB962C8B-B14F-4D97-AF65-F5344CB8AC3E}">
        <p14:creationId xmlns:p14="http://schemas.microsoft.com/office/powerpoint/2010/main" val="11136314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0025" y="309754"/>
            <a:ext cx="8763000" cy="5860197"/>
          </a:xfrm>
        </p:spPr>
        <p:txBody>
          <a:bodyPr>
            <a:normAutofit fontScale="70000" lnSpcReduction="20000"/>
          </a:bodyPr>
          <a:lstStyle/>
          <a:p>
            <a:pPr algn="just">
              <a:lnSpc>
                <a:spcPct val="150000"/>
              </a:lnSpc>
            </a:pPr>
            <a:r>
              <a:rPr lang="en-US" dirty="0"/>
              <a:t>You will be your </a:t>
            </a:r>
            <a:r>
              <a:rPr lang="en-US" b="1" dirty="0">
                <a:solidFill>
                  <a:srgbClr val="FFC000"/>
                </a:solidFill>
              </a:rPr>
              <a:t>own boss </a:t>
            </a:r>
            <a:r>
              <a:rPr lang="en-US" dirty="0"/>
              <a:t>and boss to other people and </a:t>
            </a:r>
            <a:r>
              <a:rPr lang="en-US" b="1" dirty="0"/>
              <a:t>make decisions that are crucial to the business’ success or failure.</a:t>
            </a:r>
          </a:p>
          <a:p>
            <a:pPr algn="just">
              <a:lnSpc>
                <a:spcPct val="150000"/>
              </a:lnSpc>
            </a:pPr>
            <a:r>
              <a:rPr lang="en-US" dirty="0"/>
              <a:t>You will have the chance to </a:t>
            </a:r>
            <a:r>
              <a:rPr lang="en-US" b="1" dirty="0">
                <a:solidFill>
                  <a:srgbClr val="FF0000"/>
                </a:solidFill>
              </a:rPr>
              <a:t>put your ideas into practice</a:t>
            </a:r>
            <a:r>
              <a:rPr lang="en-US" dirty="0"/>
              <a:t>.</a:t>
            </a:r>
          </a:p>
          <a:p>
            <a:pPr algn="just">
              <a:lnSpc>
                <a:spcPct val="150000"/>
              </a:lnSpc>
            </a:pPr>
            <a:r>
              <a:rPr lang="en-US" dirty="0"/>
              <a:t>You will </a:t>
            </a:r>
            <a:r>
              <a:rPr lang="en-US" b="1" dirty="0">
                <a:solidFill>
                  <a:srgbClr val="7030A0"/>
                </a:solidFill>
              </a:rPr>
              <a:t>make money for yourself </a:t>
            </a:r>
            <a:r>
              <a:rPr lang="en-US" dirty="0"/>
              <a:t>rather than for someone else.</a:t>
            </a:r>
          </a:p>
          <a:p>
            <a:pPr algn="just">
              <a:lnSpc>
                <a:spcPct val="150000"/>
              </a:lnSpc>
            </a:pPr>
            <a:r>
              <a:rPr lang="en-US" dirty="0"/>
              <a:t>You may </a:t>
            </a:r>
            <a:r>
              <a:rPr lang="en-US" b="1" dirty="0">
                <a:solidFill>
                  <a:srgbClr val="00B050"/>
                </a:solidFill>
              </a:rPr>
              <a:t>participate in every aspect</a:t>
            </a:r>
            <a:r>
              <a:rPr lang="en-US" b="1" dirty="0"/>
              <a:t> </a:t>
            </a:r>
            <a:r>
              <a:rPr lang="en-US" dirty="0"/>
              <a:t>of running a business and learn and gain experience in a variety of disciplines.</a:t>
            </a:r>
          </a:p>
          <a:p>
            <a:pPr algn="just">
              <a:lnSpc>
                <a:spcPct val="150000"/>
              </a:lnSpc>
            </a:pPr>
            <a:r>
              <a:rPr lang="en-US" dirty="0"/>
              <a:t>You will have the </a:t>
            </a:r>
            <a:r>
              <a:rPr lang="en-US" b="1" dirty="0">
                <a:solidFill>
                  <a:srgbClr val="FF3399"/>
                </a:solidFill>
              </a:rPr>
              <a:t>chance to work directly with your customers</a:t>
            </a:r>
            <a:r>
              <a:rPr lang="en-US" dirty="0"/>
              <a:t>.</a:t>
            </a:r>
          </a:p>
          <a:p>
            <a:pPr algn="just">
              <a:lnSpc>
                <a:spcPct val="150000"/>
              </a:lnSpc>
            </a:pPr>
            <a:r>
              <a:rPr lang="en-US" dirty="0"/>
              <a:t>You will have the </a:t>
            </a:r>
            <a:r>
              <a:rPr lang="en-US" b="1" dirty="0">
                <a:solidFill>
                  <a:schemeClr val="accent6">
                    <a:lumMod val="75000"/>
                  </a:schemeClr>
                </a:solidFill>
              </a:rPr>
              <a:t>personal satisfaction </a:t>
            </a:r>
            <a:r>
              <a:rPr lang="en-US" b="1" dirty="0">
                <a:solidFill>
                  <a:srgbClr val="E46C0A"/>
                </a:solidFill>
              </a:rPr>
              <a:t>of creating and running a successful business.</a:t>
            </a:r>
          </a:p>
          <a:p>
            <a:pPr algn="just">
              <a:lnSpc>
                <a:spcPct val="150000"/>
              </a:lnSpc>
            </a:pPr>
            <a:r>
              <a:rPr lang="en-US" dirty="0"/>
              <a:t>You will be able to </a:t>
            </a:r>
            <a:r>
              <a:rPr lang="en-US" b="1" dirty="0">
                <a:solidFill>
                  <a:srgbClr val="0070C0"/>
                </a:solidFill>
              </a:rPr>
              <a:t>work in a field or area that you really enjoy</a:t>
            </a:r>
            <a:r>
              <a:rPr lang="en-US" dirty="0"/>
              <a:t>.</a:t>
            </a:r>
          </a:p>
          <a:p>
            <a:pPr algn="just">
              <a:lnSpc>
                <a:spcPct val="150000"/>
              </a:lnSpc>
            </a:pPr>
            <a:r>
              <a:rPr lang="en-US" dirty="0"/>
              <a:t>You will have the </a:t>
            </a:r>
            <a:r>
              <a:rPr lang="en-US" b="1" dirty="0">
                <a:solidFill>
                  <a:srgbClr val="993366"/>
                </a:solidFill>
              </a:rPr>
              <a:t>chance to build retirement value </a:t>
            </a:r>
            <a:r>
              <a:rPr lang="en-US" dirty="0"/>
              <a:t>(for example, by selling the business when you retire).</a:t>
            </a:r>
          </a:p>
          <a:p>
            <a:pPr>
              <a:lnSpc>
                <a:spcPct val="150000"/>
              </a:lnSpc>
            </a:pPr>
            <a:endParaRPr lang="en-US" dirty="0"/>
          </a:p>
        </p:txBody>
      </p:sp>
    </p:spTree>
    <p:extLst>
      <p:ext uri="{BB962C8B-B14F-4D97-AF65-F5344CB8AC3E}">
        <p14:creationId xmlns:p14="http://schemas.microsoft.com/office/powerpoint/2010/main" val="34902992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1143000" y="381000"/>
            <a:ext cx="7086600" cy="4267200"/>
          </a:xfrm>
        </p:spPr>
        <p:txBody>
          <a:bodyPr>
            <a:normAutofit/>
          </a:bodyPr>
          <a:lstStyle/>
          <a:p>
            <a:br>
              <a:rPr lang="en-US" dirty="0"/>
            </a:br>
            <a:r>
              <a:rPr lang="en-US" dirty="0"/>
              <a:t>Scope of Entrepreneurship</a:t>
            </a:r>
            <a:r>
              <a:rPr lang="en-US" b="0" i="0" dirty="0"/>
              <a:t>?</a:t>
            </a:r>
            <a:br>
              <a:rPr lang="en-US" b="0" i="0" dirty="0"/>
            </a:br>
            <a:endParaRPr lang="en-US" dirty="0"/>
          </a:p>
        </p:txBody>
      </p:sp>
    </p:spTree>
    <p:extLst>
      <p:ext uri="{BB962C8B-B14F-4D97-AF65-F5344CB8AC3E}">
        <p14:creationId xmlns:p14="http://schemas.microsoft.com/office/powerpoint/2010/main" val="11136314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0500" y="76200"/>
            <a:ext cx="8763000" cy="6296238"/>
          </a:xfrm>
        </p:spPr>
        <p:txBody>
          <a:bodyPr>
            <a:normAutofit fontScale="25000" lnSpcReduction="20000"/>
          </a:bodyPr>
          <a:lstStyle/>
          <a:p>
            <a:pPr marL="0" indent="0">
              <a:lnSpc>
                <a:spcPct val="150000"/>
              </a:lnSpc>
              <a:buNone/>
            </a:pPr>
            <a:r>
              <a:rPr lang="en-US" sz="8000" b="1" dirty="0"/>
              <a:t>1. Contribution to GNP and per capita income: </a:t>
            </a:r>
          </a:p>
          <a:p>
            <a:pPr algn="just">
              <a:lnSpc>
                <a:spcPct val="150000"/>
              </a:lnSpc>
            </a:pPr>
            <a:r>
              <a:rPr lang="en-US" sz="8000" dirty="0"/>
              <a:t>Entrepreneurship contributes to </a:t>
            </a:r>
            <a:r>
              <a:rPr lang="en-US" sz="8000" dirty="0">
                <a:solidFill>
                  <a:srgbClr val="FF0000"/>
                </a:solidFill>
              </a:rPr>
              <a:t>economic stability </a:t>
            </a:r>
            <a:r>
              <a:rPr lang="en-US" sz="8000" dirty="0">
                <a:solidFill>
                  <a:srgbClr val="FF3B3B"/>
                </a:solidFill>
              </a:rPr>
              <a:t>by introducing new products</a:t>
            </a:r>
            <a:r>
              <a:rPr lang="en-US" sz="8000" dirty="0"/>
              <a:t> </a:t>
            </a:r>
          </a:p>
          <a:p>
            <a:pPr algn="just">
              <a:lnSpc>
                <a:spcPct val="150000"/>
              </a:lnSpc>
            </a:pPr>
            <a:r>
              <a:rPr lang="en-US" sz="8000" dirty="0"/>
              <a:t>Render services in the market and encouraging effective </a:t>
            </a:r>
            <a:r>
              <a:rPr lang="en-US" sz="8000" dirty="0">
                <a:solidFill>
                  <a:srgbClr val="FF3399"/>
                </a:solidFill>
              </a:rPr>
              <a:t>resource mobilization. </a:t>
            </a:r>
          </a:p>
          <a:p>
            <a:pPr algn="just">
              <a:lnSpc>
                <a:spcPct val="150000"/>
              </a:lnSpc>
            </a:pPr>
            <a:r>
              <a:rPr lang="en-US" sz="8000" dirty="0"/>
              <a:t>This helps </a:t>
            </a:r>
            <a:r>
              <a:rPr lang="en-US" sz="8000" dirty="0">
                <a:solidFill>
                  <a:srgbClr val="92D050"/>
                </a:solidFill>
              </a:rPr>
              <a:t>in increasing the gross national product </a:t>
            </a:r>
            <a:r>
              <a:rPr lang="en-US" sz="8000" dirty="0"/>
              <a:t>as well </a:t>
            </a:r>
            <a:r>
              <a:rPr lang="en-US" sz="8000" dirty="0">
                <a:solidFill>
                  <a:srgbClr val="92D050"/>
                </a:solidFill>
              </a:rPr>
              <a:t>as per capita </a:t>
            </a:r>
            <a:r>
              <a:rPr lang="en-US" sz="8000" dirty="0"/>
              <a:t>income of the people in the country.</a:t>
            </a:r>
          </a:p>
          <a:p>
            <a:pPr algn="just">
              <a:lnSpc>
                <a:spcPct val="150000"/>
              </a:lnSpc>
            </a:pPr>
            <a:r>
              <a:rPr lang="en-US" sz="8000" dirty="0">
                <a:solidFill>
                  <a:srgbClr val="FFC000"/>
                </a:solidFill>
              </a:rPr>
              <a:t>Economic stability leads to increased institutional investment </a:t>
            </a:r>
            <a:r>
              <a:rPr lang="en-US" sz="8000" dirty="0"/>
              <a:t>for productive activities and is a sign of economic growth.</a:t>
            </a:r>
          </a:p>
          <a:p>
            <a:pPr marL="0" indent="0">
              <a:lnSpc>
                <a:spcPct val="150000"/>
              </a:lnSpc>
              <a:buNone/>
            </a:pPr>
            <a:r>
              <a:rPr lang="en-US" sz="8000" b="1" dirty="0"/>
              <a:t>2. Employment generation: </a:t>
            </a:r>
          </a:p>
          <a:p>
            <a:pPr algn="just">
              <a:lnSpc>
                <a:spcPct val="150000"/>
              </a:lnSpc>
            </a:pPr>
            <a:r>
              <a:rPr lang="en-US" sz="8000" dirty="0"/>
              <a:t>Entrepreneurs are </a:t>
            </a:r>
            <a:r>
              <a:rPr lang="en-US" sz="8000" dirty="0">
                <a:solidFill>
                  <a:srgbClr val="FF0000"/>
                </a:solidFill>
              </a:rPr>
              <a:t>not only self-employed but also provide employment to others. </a:t>
            </a:r>
          </a:p>
          <a:p>
            <a:pPr algn="just">
              <a:lnSpc>
                <a:spcPct val="150000"/>
              </a:lnSpc>
            </a:pPr>
            <a:r>
              <a:rPr lang="en-US" sz="8000" dirty="0"/>
              <a:t>For example, when the information technology boom occurred in India, it led to several successful entrepreneurial ventures. This provided employment to many and also led to the launch of a number of engineering colleges, development of real-estate and hospitality ventures, and infrastructural facilities.</a:t>
            </a:r>
            <a:endParaRPr lang="en-US" sz="8000" b="1" dirty="0"/>
          </a:p>
          <a:p>
            <a:pPr>
              <a:lnSpc>
                <a:spcPct val="150000"/>
              </a:lnSpc>
            </a:pPr>
            <a:endParaRPr lang="en-US" dirty="0"/>
          </a:p>
        </p:txBody>
      </p:sp>
    </p:spTree>
    <p:extLst>
      <p:ext uri="{BB962C8B-B14F-4D97-AF65-F5344CB8AC3E}">
        <p14:creationId xmlns:p14="http://schemas.microsoft.com/office/powerpoint/2010/main" val="1528124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0025" y="204716"/>
            <a:ext cx="8763000" cy="6238287"/>
          </a:xfrm>
        </p:spPr>
        <p:txBody>
          <a:bodyPr>
            <a:normAutofit fontScale="62500" lnSpcReduction="20000"/>
          </a:bodyPr>
          <a:lstStyle/>
          <a:p>
            <a:pPr marL="0" indent="0">
              <a:lnSpc>
                <a:spcPct val="150000"/>
              </a:lnSpc>
              <a:buNone/>
            </a:pPr>
            <a:r>
              <a:rPr lang="en-US" b="1" dirty="0"/>
              <a:t>3. Balanced regional development: </a:t>
            </a:r>
          </a:p>
          <a:p>
            <a:pPr lvl="1" algn="just">
              <a:lnSpc>
                <a:spcPct val="150000"/>
              </a:lnSpc>
            </a:pPr>
            <a:r>
              <a:rPr lang="en-US" dirty="0"/>
              <a:t>The development of enterprises in </a:t>
            </a:r>
            <a:r>
              <a:rPr lang="en-US" dirty="0">
                <a:solidFill>
                  <a:srgbClr val="FF0000"/>
                </a:solidFill>
              </a:rPr>
              <a:t>less-developed regions promotes </a:t>
            </a:r>
            <a:r>
              <a:rPr lang="en-US" dirty="0"/>
              <a:t>balanced regional development in the country. </a:t>
            </a:r>
          </a:p>
          <a:p>
            <a:pPr lvl="1" algn="just">
              <a:lnSpc>
                <a:spcPct val="150000"/>
              </a:lnSpc>
            </a:pPr>
            <a:r>
              <a:rPr lang="en-US" dirty="0"/>
              <a:t>Entrepreneurship stimulates the </a:t>
            </a:r>
            <a:r>
              <a:rPr lang="en-US" dirty="0">
                <a:solidFill>
                  <a:srgbClr val="FF3399"/>
                </a:solidFill>
              </a:rPr>
              <a:t>distribution of wealth and income to more and more individuals </a:t>
            </a:r>
            <a:r>
              <a:rPr lang="en-US" dirty="0"/>
              <a:t>(such as stakeholders) and geographical areas, thus benefiting larger sections of society.</a:t>
            </a:r>
          </a:p>
          <a:p>
            <a:pPr marL="0" indent="0">
              <a:lnSpc>
                <a:spcPct val="150000"/>
              </a:lnSpc>
              <a:buNone/>
            </a:pPr>
            <a:r>
              <a:rPr lang="en-US" b="1" dirty="0"/>
              <a:t>4. Promotion of export and trade:</a:t>
            </a:r>
          </a:p>
          <a:p>
            <a:pPr lvl="1">
              <a:lnSpc>
                <a:spcPct val="150000"/>
              </a:lnSpc>
            </a:pPr>
            <a:r>
              <a:rPr lang="en-US" b="1" dirty="0"/>
              <a:t> </a:t>
            </a:r>
            <a:r>
              <a:rPr lang="en-US" dirty="0"/>
              <a:t>Entrepreneurship promotes the country’s </a:t>
            </a:r>
            <a:r>
              <a:rPr lang="en-US" dirty="0">
                <a:solidFill>
                  <a:srgbClr val="92D050"/>
                </a:solidFill>
              </a:rPr>
              <a:t>export trade and earns foreign exchange</a:t>
            </a:r>
            <a:r>
              <a:rPr lang="en-US" dirty="0"/>
              <a:t>. </a:t>
            </a:r>
          </a:p>
          <a:p>
            <a:pPr lvl="1">
              <a:lnSpc>
                <a:spcPct val="150000"/>
              </a:lnSpc>
            </a:pPr>
            <a:r>
              <a:rPr lang="en-US" dirty="0"/>
              <a:t>This earning can help combat the country’s import dues requirements. </a:t>
            </a:r>
            <a:r>
              <a:rPr lang="en-US" dirty="0">
                <a:solidFill>
                  <a:srgbClr val="7030A0"/>
                </a:solidFill>
              </a:rPr>
              <a:t>International trade brings economic strength.</a:t>
            </a:r>
          </a:p>
          <a:p>
            <a:pPr marL="0" indent="0">
              <a:lnSpc>
                <a:spcPct val="150000"/>
              </a:lnSpc>
              <a:buNone/>
            </a:pPr>
            <a:r>
              <a:rPr lang="en-US" b="1" dirty="0"/>
              <a:t>5. Improvement in the standard of living: </a:t>
            </a:r>
          </a:p>
          <a:p>
            <a:pPr lvl="1" algn="just">
              <a:lnSpc>
                <a:spcPct val="150000"/>
              </a:lnSpc>
            </a:pPr>
            <a:r>
              <a:rPr lang="en-US" dirty="0"/>
              <a:t>Entrepreneurs bring a wide </a:t>
            </a:r>
            <a:r>
              <a:rPr lang="en-US" dirty="0">
                <a:solidFill>
                  <a:srgbClr val="0070C0"/>
                </a:solidFill>
              </a:rPr>
              <a:t>variety of products and services </a:t>
            </a:r>
            <a:r>
              <a:rPr lang="en-US" dirty="0"/>
              <a:t>into the market. </a:t>
            </a:r>
          </a:p>
          <a:p>
            <a:pPr lvl="1" algn="just">
              <a:lnSpc>
                <a:spcPct val="150000"/>
              </a:lnSpc>
            </a:pPr>
            <a:r>
              <a:rPr lang="en-US" dirty="0"/>
              <a:t>This increases competition in the market and makes it possible for people to avail of a </a:t>
            </a:r>
            <a:r>
              <a:rPr lang="en-US" dirty="0">
                <a:solidFill>
                  <a:srgbClr val="00B0F0"/>
                </a:solidFill>
              </a:rPr>
              <a:t>better quality of products and services at lower and more competitive prices</a:t>
            </a:r>
            <a:r>
              <a:rPr lang="en-US" dirty="0"/>
              <a:t>, resulting in an improvement of the country’s overall standard of living.</a:t>
            </a:r>
          </a:p>
          <a:p>
            <a:pPr>
              <a:lnSpc>
                <a:spcPct val="150000"/>
              </a:lnSpc>
            </a:pPr>
            <a:endParaRPr lang="en-US" dirty="0"/>
          </a:p>
        </p:txBody>
      </p:sp>
    </p:spTree>
    <p:extLst>
      <p:ext uri="{BB962C8B-B14F-4D97-AF65-F5344CB8AC3E}">
        <p14:creationId xmlns:p14="http://schemas.microsoft.com/office/powerpoint/2010/main" val="42845469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0025" y="464024"/>
            <a:ext cx="8763000" cy="6021182"/>
          </a:xfrm>
        </p:spPr>
        <p:txBody>
          <a:bodyPr>
            <a:normAutofit fontScale="70000" lnSpcReduction="20000"/>
          </a:bodyPr>
          <a:lstStyle/>
          <a:p>
            <a:pPr marL="0" indent="0">
              <a:lnSpc>
                <a:spcPct val="150000"/>
              </a:lnSpc>
              <a:buNone/>
            </a:pPr>
            <a:r>
              <a:rPr lang="en-US" b="1" dirty="0"/>
              <a:t>6. Increased innovation:</a:t>
            </a:r>
          </a:p>
          <a:p>
            <a:pPr algn="just">
              <a:lnSpc>
                <a:spcPct val="150000"/>
              </a:lnSpc>
            </a:pPr>
            <a:r>
              <a:rPr lang="en-US" dirty="0"/>
              <a:t>With </a:t>
            </a:r>
            <a:r>
              <a:rPr lang="en-US" dirty="0">
                <a:solidFill>
                  <a:srgbClr val="0070C0"/>
                </a:solidFill>
              </a:rPr>
              <a:t>the liberalization </a:t>
            </a:r>
            <a:r>
              <a:rPr lang="en-US" dirty="0"/>
              <a:t>of the Indian economy, the increased competition in the domestic and international market by giving freedom to the private players </a:t>
            </a:r>
            <a:r>
              <a:rPr lang="en-US" dirty="0">
                <a:solidFill>
                  <a:srgbClr val="0070C0"/>
                </a:solidFill>
              </a:rPr>
              <a:t>has encouraged entrepreneurs to be more creative</a:t>
            </a:r>
            <a:r>
              <a:rPr lang="en-US" dirty="0"/>
              <a:t>.</a:t>
            </a:r>
          </a:p>
          <a:p>
            <a:pPr marL="0" indent="0">
              <a:lnSpc>
                <a:spcPct val="150000"/>
              </a:lnSpc>
              <a:buNone/>
            </a:pPr>
            <a:r>
              <a:rPr lang="en-US" b="1" dirty="0"/>
              <a:t>7. Overall development of the economy: </a:t>
            </a:r>
          </a:p>
          <a:p>
            <a:pPr algn="just">
              <a:lnSpc>
                <a:spcPct val="150000"/>
              </a:lnSpc>
            </a:pPr>
            <a:r>
              <a:rPr lang="en-US" dirty="0"/>
              <a:t>Entrepreneurs create </a:t>
            </a:r>
            <a:r>
              <a:rPr lang="en-US" dirty="0">
                <a:solidFill>
                  <a:srgbClr val="FF3399"/>
                </a:solidFill>
              </a:rPr>
              <a:t>new technologies, products, processes, and services that become the next wave of new industries,</a:t>
            </a:r>
            <a:r>
              <a:rPr lang="en-US" dirty="0"/>
              <a:t> and these in turn drive the economy. Entrepreneurs are change agents in society. They </a:t>
            </a:r>
            <a:r>
              <a:rPr lang="en-US" dirty="0">
                <a:solidFill>
                  <a:srgbClr val="FF66CC"/>
                </a:solidFill>
              </a:rPr>
              <a:t>create wealth and value, and generate employment in society</a:t>
            </a:r>
            <a:r>
              <a:rPr lang="en-US" dirty="0"/>
              <a:t>. This naturally leads to social and economic growth.</a:t>
            </a:r>
          </a:p>
          <a:p>
            <a:endParaRPr lang="en-US" dirty="0"/>
          </a:p>
        </p:txBody>
      </p:sp>
    </p:spTree>
    <p:extLst>
      <p:ext uri="{BB962C8B-B14F-4D97-AF65-F5344CB8AC3E}">
        <p14:creationId xmlns:p14="http://schemas.microsoft.com/office/powerpoint/2010/main" val="924615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52986" y="551330"/>
            <a:ext cx="8330453" cy="5674658"/>
          </a:xfrm>
          <a:ln w="76200">
            <a:solidFill>
              <a:srgbClr val="0070C0"/>
            </a:solidFill>
          </a:ln>
        </p:spPr>
        <p:txBody>
          <a:bodyPr>
            <a:noAutofit/>
          </a:bodyPr>
          <a:lstStyle/>
          <a:p>
            <a:pPr>
              <a:lnSpc>
                <a:spcPct val="200000"/>
              </a:lnSpc>
            </a:pPr>
            <a:br>
              <a:rPr lang="en-US" sz="4400" b="0" i="0" dirty="0"/>
            </a:br>
            <a:r>
              <a:rPr lang="en-US" sz="4400" b="0" i="0" dirty="0"/>
              <a:t> Characteristics of an Entrepreneur</a:t>
            </a:r>
            <a:br>
              <a:rPr lang="en-US" sz="4400" b="0" i="0" dirty="0"/>
            </a:br>
            <a:br>
              <a:rPr lang="en-US" sz="4400" b="0" i="0" dirty="0"/>
            </a:br>
            <a:br>
              <a:rPr lang="en-US" sz="4400" b="0" i="0" dirty="0"/>
            </a:br>
            <a:r>
              <a:rPr lang="en-US" sz="4400" b="0" i="0" dirty="0"/>
              <a:t>	</a:t>
            </a:r>
            <a:endParaRPr lang="en-US" sz="4400" dirty="0"/>
          </a:p>
        </p:txBody>
      </p:sp>
    </p:spTree>
    <p:extLst>
      <p:ext uri="{BB962C8B-B14F-4D97-AF65-F5344CB8AC3E}">
        <p14:creationId xmlns:p14="http://schemas.microsoft.com/office/powerpoint/2010/main" val="17094791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715000"/>
          </a:xfrm>
        </p:spPr>
        <p:txBody>
          <a:bodyPr>
            <a:normAutofit fontScale="70000" lnSpcReduction="20000"/>
          </a:bodyPr>
          <a:lstStyle/>
          <a:p>
            <a:r>
              <a:rPr lang="en-US" b="1" dirty="0"/>
              <a:t>Mental ability</a:t>
            </a:r>
          </a:p>
          <a:p>
            <a:pPr marL="0" indent="0">
              <a:buNone/>
            </a:pPr>
            <a:r>
              <a:rPr lang="en-US" sz="3100" dirty="0"/>
              <a:t>An entrepreneur can </a:t>
            </a:r>
            <a:r>
              <a:rPr lang="en-US" sz="3100" b="1" dirty="0"/>
              <a:t>understand situations quickly</a:t>
            </a:r>
            <a:r>
              <a:rPr lang="en-US" sz="3100" dirty="0"/>
              <a:t>, and </a:t>
            </a:r>
            <a:r>
              <a:rPr lang="en-US" sz="3100" b="1" dirty="0"/>
              <a:t>make smart decisions even under pressure</a:t>
            </a:r>
            <a:r>
              <a:rPr lang="en-US" sz="3100" dirty="0"/>
              <a:t>.</a:t>
            </a:r>
            <a:endParaRPr lang="en-US" sz="3100" b="1" dirty="0"/>
          </a:p>
          <a:p>
            <a:r>
              <a:rPr lang="en-US" b="1" dirty="0"/>
              <a:t>Clear objective</a:t>
            </a:r>
          </a:p>
          <a:p>
            <a:pPr marL="0" indent="0">
              <a:buNone/>
            </a:pPr>
            <a:r>
              <a:rPr lang="en-US" sz="2900" dirty="0"/>
              <a:t>They </a:t>
            </a:r>
            <a:r>
              <a:rPr lang="en-US" sz="2900" b="1" dirty="0"/>
              <a:t>know exactly what they want to achieve</a:t>
            </a:r>
            <a:r>
              <a:rPr lang="en-US" sz="2900" dirty="0"/>
              <a:t> and </a:t>
            </a:r>
            <a:r>
              <a:rPr lang="en-US" sz="2900" b="1" dirty="0"/>
              <a:t>work with a clear goal </a:t>
            </a:r>
            <a:r>
              <a:rPr lang="en-US" sz="2900" dirty="0"/>
              <a:t>instead of being confused or directionless.</a:t>
            </a:r>
            <a:endParaRPr lang="en-US" dirty="0"/>
          </a:p>
          <a:p>
            <a:r>
              <a:rPr lang="en-US" b="1" dirty="0"/>
              <a:t>Business secrecy</a:t>
            </a:r>
          </a:p>
          <a:p>
            <a:pPr marL="0" indent="0">
              <a:buNone/>
            </a:pPr>
            <a:r>
              <a:rPr lang="en-US" dirty="0"/>
              <a:t>They know what information to share and what to keep private, such as business ideas, plans, and strategies.</a:t>
            </a:r>
          </a:p>
          <a:p>
            <a:r>
              <a:rPr lang="en-US" b="1" dirty="0"/>
              <a:t>Human relation ability</a:t>
            </a:r>
          </a:p>
          <a:p>
            <a:pPr marL="0" indent="0">
              <a:buNone/>
            </a:pPr>
            <a:r>
              <a:rPr lang="en-US" dirty="0"/>
              <a:t>An entrepreneur can </a:t>
            </a:r>
            <a:r>
              <a:rPr lang="en-US" b="1" dirty="0"/>
              <a:t>build good relationships with employees, customers, suppliers, and investors</a:t>
            </a:r>
            <a:r>
              <a:rPr lang="en-US" dirty="0"/>
              <a:t>.</a:t>
            </a:r>
          </a:p>
          <a:p>
            <a:r>
              <a:rPr lang="en-US" b="1" dirty="0"/>
              <a:t>Communication ability </a:t>
            </a:r>
          </a:p>
          <a:p>
            <a:pPr marL="0" indent="0">
              <a:buNone/>
            </a:pPr>
            <a:r>
              <a:rPr lang="en-US" dirty="0"/>
              <a:t>They can convince others, and express their thoughts confidently.</a:t>
            </a:r>
          </a:p>
          <a:p>
            <a:r>
              <a:rPr lang="en-US" b="1" dirty="0"/>
              <a:t>Technical knowledge </a:t>
            </a:r>
          </a:p>
          <a:p>
            <a:pPr marL="0" indent="0">
              <a:buNone/>
            </a:pPr>
            <a:r>
              <a:rPr lang="en-US" dirty="0"/>
              <a:t>They </a:t>
            </a:r>
            <a:r>
              <a:rPr lang="en-US" b="1" dirty="0"/>
              <a:t>understand practical side of their business</a:t>
            </a:r>
            <a:r>
              <a:rPr lang="en-US" dirty="0"/>
              <a:t>, whether it is production or service.</a:t>
            </a:r>
          </a:p>
          <a:p>
            <a:pPr marL="0" indent="0">
              <a:buNone/>
            </a:pPr>
            <a:endParaRPr lang="en-US" b="1" dirty="0"/>
          </a:p>
          <a:p>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E79A1CBD-0157-AB2A-B1E7-D03B19C8DC49}"/>
              </a:ext>
            </a:extLst>
          </p:cNvPr>
          <p:cNvSpPr>
            <a:spLocks noGrp="1"/>
          </p:cNvSpPr>
          <p:nvPr>
            <p:ph type="subTitle" idx="1"/>
          </p:nvPr>
        </p:nvSpPr>
        <p:spPr>
          <a:xfrm>
            <a:off x="533400" y="457200"/>
            <a:ext cx="8077200" cy="6019800"/>
          </a:xfrm>
        </p:spPr>
        <p:txBody>
          <a:bodyPr>
            <a:normAutofit fontScale="92500" lnSpcReduction="20000"/>
          </a:bodyPr>
          <a:lstStyle/>
          <a:p>
            <a:pPr marL="342900" indent="-342900" algn="l">
              <a:buFont typeface="Arial" panose="020B0604020202020204" pitchFamily="34" charset="0"/>
              <a:buChar char="•"/>
            </a:pPr>
            <a:r>
              <a:rPr lang="en-US" sz="2400" b="1" dirty="0">
                <a:solidFill>
                  <a:schemeClr val="tx1"/>
                </a:solidFill>
              </a:rPr>
              <a:t>Motivator</a:t>
            </a:r>
            <a:endParaRPr lang="en-US" sz="2400" dirty="0">
              <a:solidFill>
                <a:schemeClr val="tx1"/>
              </a:solidFill>
            </a:endParaRPr>
          </a:p>
          <a:p>
            <a:pPr algn="l"/>
            <a:r>
              <a:rPr lang="en-US" sz="2000" dirty="0">
                <a:solidFill>
                  <a:schemeClr val="tx1"/>
                </a:solidFill>
              </a:rPr>
              <a:t>An entrepreneur encourages and</a:t>
            </a:r>
            <a:r>
              <a:rPr lang="en-US" sz="2000" b="1" dirty="0">
                <a:solidFill>
                  <a:schemeClr val="tx1"/>
                </a:solidFill>
              </a:rPr>
              <a:t> inspires others, especially their team, to work better and stay positive</a:t>
            </a:r>
            <a:r>
              <a:rPr lang="en-US" sz="2000" dirty="0">
                <a:solidFill>
                  <a:schemeClr val="tx1"/>
                </a:solidFill>
              </a:rPr>
              <a:t>.</a:t>
            </a:r>
          </a:p>
          <a:p>
            <a:pPr marL="342900" indent="-342900" algn="l">
              <a:buFont typeface="Arial" panose="020B0604020202020204" pitchFamily="34" charset="0"/>
              <a:buChar char="•"/>
            </a:pPr>
            <a:r>
              <a:rPr lang="en-US" sz="2400" b="1" dirty="0">
                <a:solidFill>
                  <a:schemeClr val="tx1"/>
                </a:solidFill>
              </a:rPr>
              <a:t>Self-confidence</a:t>
            </a:r>
          </a:p>
          <a:p>
            <a:pPr algn="l"/>
            <a:r>
              <a:rPr lang="en-US" sz="2000" dirty="0">
                <a:solidFill>
                  <a:schemeClr val="tx1"/>
                </a:solidFill>
              </a:rPr>
              <a:t>They </a:t>
            </a:r>
            <a:r>
              <a:rPr lang="en-US" sz="2000" b="1" dirty="0">
                <a:solidFill>
                  <a:schemeClr val="tx1"/>
                </a:solidFill>
              </a:rPr>
              <a:t>believe in themselves and their ideas,</a:t>
            </a:r>
            <a:r>
              <a:rPr lang="en-US" sz="2000" dirty="0">
                <a:solidFill>
                  <a:schemeClr val="tx1"/>
                </a:solidFill>
              </a:rPr>
              <a:t> even when others doubt them.</a:t>
            </a:r>
          </a:p>
          <a:p>
            <a:pPr marL="342900" indent="-342900" algn="l">
              <a:buFont typeface="Arial" panose="020B0604020202020204" pitchFamily="34" charset="0"/>
              <a:buChar char="•"/>
            </a:pPr>
            <a:r>
              <a:rPr lang="en-US" sz="2400" b="1" dirty="0">
                <a:solidFill>
                  <a:schemeClr val="tx1"/>
                </a:solidFill>
              </a:rPr>
              <a:t>Long –term involvement</a:t>
            </a:r>
          </a:p>
          <a:p>
            <a:pPr algn="l"/>
            <a:r>
              <a:rPr lang="en-US" sz="2000" dirty="0">
                <a:solidFill>
                  <a:schemeClr val="tx1"/>
                </a:solidFill>
              </a:rPr>
              <a:t>They are </a:t>
            </a:r>
            <a:r>
              <a:rPr lang="en-US" sz="2000" b="1" dirty="0">
                <a:solidFill>
                  <a:schemeClr val="tx1"/>
                </a:solidFill>
              </a:rPr>
              <a:t>committed for the long run, not just for quick profit</a:t>
            </a:r>
            <a:r>
              <a:rPr lang="en-US" sz="2000" dirty="0">
                <a:solidFill>
                  <a:schemeClr val="tx1"/>
                </a:solidFill>
              </a:rPr>
              <a:t>. They </a:t>
            </a:r>
            <a:r>
              <a:rPr lang="en-US" sz="2000" b="1" dirty="0">
                <a:solidFill>
                  <a:schemeClr val="tx1"/>
                </a:solidFill>
              </a:rPr>
              <a:t>stay focused even during tough times.</a:t>
            </a:r>
          </a:p>
          <a:p>
            <a:pPr marL="342900" indent="-342900" algn="l">
              <a:buFont typeface="Arial" panose="020B0604020202020204" pitchFamily="34" charset="0"/>
              <a:buChar char="•"/>
            </a:pPr>
            <a:r>
              <a:rPr lang="en-US" sz="2400" b="1" dirty="0">
                <a:solidFill>
                  <a:schemeClr val="tx1"/>
                </a:solidFill>
              </a:rPr>
              <a:t>High energy level</a:t>
            </a:r>
          </a:p>
          <a:p>
            <a:pPr algn="l"/>
            <a:r>
              <a:rPr lang="en-US" sz="2200" dirty="0">
                <a:solidFill>
                  <a:schemeClr val="tx1"/>
                </a:solidFill>
              </a:rPr>
              <a:t>Entrepreneurs are </a:t>
            </a:r>
            <a:r>
              <a:rPr lang="en-US" sz="2200" b="1" dirty="0">
                <a:solidFill>
                  <a:schemeClr val="tx1"/>
                </a:solidFill>
              </a:rPr>
              <a:t>active, enthusiastic, and hardworking, </a:t>
            </a:r>
            <a:r>
              <a:rPr lang="en-US" sz="2200" dirty="0">
                <a:solidFill>
                  <a:schemeClr val="tx1"/>
                </a:solidFill>
              </a:rPr>
              <a:t>often</a:t>
            </a:r>
            <a:r>
              <a:rPr lang="en-US" sz="2200" b="1" dirty="0">
                <a:solidFill>
                  <a:schemeClr val="tx1"/>
                </a:solidFill>
              </a:rPr>
              <a:t> working long hours with passion</a:t>
            </a:r>
          </a:p>
          <a:p>
            <a:pPr marL="342900" indent="-342900" algn="l">
              <a:buFont typeface="Arial" panose="020B0604020202020204" pitchFamily="34" charset="0"/>
              <a:buChar char="•"/>
            </a:pPr>
            <a:r>
              <a:rPr lang="en-US" sz="2400" b="1" dirty="0">
                <a:solidFill>
                  <a:schemeClr val="tx1"/>
                </a:solidFill>
              </a:rPr>
              <a:t>Persistent problem solver</a:t>
            </a:r>
          </a:p>
          <a:p>
            <a:pPr algn="l"/>
            <a:r>
              <a:rPr lang="en-US" sz="2400" dirty="0">
                <a:solidFill>
                  <a:schemeClr val="tx1"/>
                </a:solidFill>
              </a:rPr>
              <a:t>They do </a:t>
            </a:r>
            <a:r>
              <a:rPr lang="en-US" sz="2400" b="1" dirty="0">
                <a:solidFill>
                  <a:schemeClr val="tx1"/>
                </a:solidFill>
              </a:rPr>
              <a:t>not give up easily</a:t>
            </a:r>
            <a:r>
              <a:rPr lang="en-US" sz="2400" dirty="0">
                <a:solidFill>
                  <a:schemeClr val="tx1"/>
                </a:solidFill>
              </a:rPr>
              <a:t>. When problems come, they </a:t>
            </a:r>
            <a:r>
              <a:rPr lang="en-US" sz="2400" b="1" dirty="0">
                <a:solidFill>
                  <a:schemeClr val="tx1"/>
                </a:solidFill>
              </a:rPr>
              <a:t>keep trying until they find a solution</a:t>
            </a:r>
            <a:r>
              <a:rPr lang="en-US" sz="2400" dirty="0">
                <a:solidFill>
                  <a:schemeClr val="tx1"/>
                </a:solidFill>
              </a:rPr>
              <a:t>.</a:t>
            </a:r>
          </a:p>
          <a:p>
            <a:pPr marL="342900" indent="-342900" algn="l">
              <a:buFont typeface="Arial" panose="020B0604020202020204" pitchFamily="34" charset="0"/>
              <a:buChar char="•"/>
            </a:pPr>
            <a:r>
              <a:rPr lang="en-US" sz="2400" b="1" dirty="0">
                <a:solidFill>
                  <a:schemeClr val="tx1"/>
                </a:solidFill>
              </a:rPr>
              <a:t>Initiative</a:t>
            </a:r>
          </a:p>
          <a:p>
            <a:pPr algn="l"/>
            <a:r>
              <a:rPr lang="en-US" sz="2200" dirty="0">
                <a:solidFill>
                  <a:schemeClr val="tx1"/>
                </a:solidFill>
              </a:rPr>
              <a:t>They </a:t>
            </a:r>
            <a:r>
              <a:rPr lang="en-US" sz="2200" b="1" dirty="0">
                <a:solidFill>
                  <a:schemeClr val="tx1"/>
                </a:solidFill>
              </a:rPr>
              <a:t>take action on their own instead of waiting for instructions</a:t>
            </a:r>
            <a:r>
              <a:rPr lang="en-US" sz="2200" dirty="0">
                <a:solidFill>
                  <a:schemeClr val="tx1"/>
                </a:solidFill>
              </a:rPr>
              <a:t> or opportunities to come to them.</a:t>
            </a:r>
          </a:p>
          <a:p>
            <a:pPr marL="342900" indent="-342900" algn="l">
              <a:buFont typeface="Arial" panose="020B0604020202020204" pitchFamily="34" charset="0"/>
              <a:buChar char="•"/>
            </a:pPr>
            <a:r>
              <a:rPr lang="en-US" sz="2400" b="1" dirty="0">
                <a:solidFill>
                  <a:schemeClr val="tx1"/>
                </a:solidFill>
              </a:rPr>
              <a:t>Moderate risk-taker</a:t>
            </a:r>
          </a:p>
          <a:p>
            <a:pPr algn="l"/>
            <a:r>
              <a:rPr lang="en-US" sz="2400" b="1" dirty="0">
                <a:solidFill>
                  <a:schemeClr val="tx1"/>
                </a:solidFill>
              </a:rPr>
              <a:t>They take calculated risks, not blind risks</a:t>
            </a:r>
            <a:r>
              <a:rPr lang="en-US" sz="2400" dirty="0">
                <a:solidFill>
                  <a:schemeClr val="tx1"/>
                </a:solidFill>
              </a:rPr>
              <a:t>. They think carefully before making decisions.</a:t>
            </a:r>
            <a:endParaRPr lang="en-IN" sz="2400" dirty="0">
              <a:solidFill>
                <a:schemeClr val="tx1"/>
              </a:solidFill>
            </a:endParaRPr>
          </a:p>
        </p:txBody>
      </p:sp>
    </p:spTree>
    <p:extLst>
      <p:ext uri="{BB962C8B-B14F-4D97-AF65-F5344CB8AC3E}">
        <p14:creationId xmlns:p14="http://schemas.microsoft.com/office/powerpoint/2010/main" val="27421495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1079127" y="1149658"/>
            <a:ext cx="6942346" cy="3180295"/>
          </a:xfrm>
        </p:spPr>
        <p:txBody>
          <a:bodyPr>
            <a:normAutofit/>
          </a:bodyPr>
          <a:lstStyle/>
          <a:p>
            <a:br>
              <a:rPr lang="en-US" dirty="0"/>
            </a:br>
            <a:br>
              <a:rPr lang="en-US" dirty="0"/>
            </a:br>
            <a:r>
              <a:rPr lang="en-US" dirty="0"/>
              <a:t>Models of Entrepreneurship Development</a:t>
            </a:r>
          </a:p>
        </p:txBody>
      </p:sp>
    </p:spTree>
    <p:extLst>
      <p:ext uri="{BB962C8B-B14F-4D97-AF65-F5344CB8AC3E}">
        <p14:creationId xmlns:p14="http://schemas.microsoft.com/office/powerpoint/2010/main" val="16093611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6021" y="514942"/>
            <a:ext cx="8433179" cy="5899110"/>
          </a:xfrm>
        </p:spPr>
        <p:txBody>
          <a:bodyPr>
            <a:normAutofit fontScale="92500"/>
          </a:bodyPr>
          <a:lstStyle/>
          <a:p>
            <a:pPr marL="0" indent="0">
              <a:buNone/>
            </a:pPr>
            <a:r>
              <a:rPr lang="en-US" sz="2700" dirty="0"/>
              <a:t>Theories explain why some people become entrepreneurs and what factors motivate them to start a business.</a:t>
            </a:r>
          </a:p>
          <a:p>
            <a:r>
              <a:rPr lang="en-US" dirty="0"/>
              <a:t>Psychological Model</a:t>
            </a:r>
          </a:p>
          <a:p>
            <a:pPr lvl="1"/>
            <a:r>
              <a:rPr lang="en-US" dirty="0"/>
              <a:t> David McClelland’s theory </a:t>
            </a:r>
          </a:p>
          <a:p>
            <a:pPr lvl="1"/>
            <a:r>
              <a:rPr lang="en-US" i="1" dirty="0"/>
              <a:t>Hagen’s Theory of Withdrawal of Status Respect (1964)</a:t>
            </a:r>
          </a:p>
          <a:p>
            <a:pPr lvl="1"/>
            <a:r>
              <a:rPr lang="en-US" i="1" dirty="0"/>
              <a:t>Rotter- Internal–External Locus of Control Theory </a:t>
            </a:r>
            <a:r>
              <a:rPr lang="en-US" dirty="0"/>
              <a:t> </a:t>
            </a:r>
          </a:p>
          <a:p>
            <a:r>
              <a:rPr lang="en-US" dirty="0"/>
              <a:t>Sociological Model</a:t>
            </a:r>
          </a:p>
          <a:p>
            <a:pPr lvl="1"/>
            <a:r>
              <a:rPr lang="en-US" i="1" dirty="0"/>
              <a:t>Max Weber’s Theory of Religious Beliefs</a:t>
            </a:r>
          </a:p>
          <a:p>
            <a:pPr lvl="1"/>
            <a:r>
              <a:rPr lang="en-US" i="1" dirty="0" err="1"/>
              <a:t>Hozelist’s</a:t>
            </a:r>
            <a:r>
              <a:rPr lang="en-US" i="1" dirty="0"/>
              <a:t> Sociocultural Theory</a:t>
            </a:r>
            <a:r>
              <a:rPr lang="en-US" dirty="0"/>
              <a:t>  </a:t>
            </a:r>
          </a:p>
          <a:p>
            <a:pPr lvl="1"/>
            <a:r>
              <a:rPr lang="en-US" i="1" dirty="0"/>
              <a:t>Thomas Cochran’s Theory of Entrepreneurial Supply</a:t>
            </a:r>
            <a:r>
              <a:rPr lang="en-US" dirty="0"/>
              <a:t>   </a:t>
            </a:r>
          </a:p>
          <a:p>
            <a:pPr lvl="1"/>
            <a:r>
              <a:rPr lang="en-US" i="1" dirty="0"/>
              <a:t>Frank W. Young’s Theory of Group Level Pattern</a:t>
            </a:r>
            <a:endParaRPr lang="en-US" dirty="0"/>
          </a:p>
          <a:p>
            <a:r>
              <a:rPr lang="en-US" dirty="0"/>
              <a:t>Integrated Model</a:t>
            </a:r>
          </a:p>
        </p:txBody>
      </p:sp>
    </p:spTree>
    <p:extLst>
      <p:ext uri="{BB962C8B-B14F-4D97-AF65-F5344CB8AC3E}">
        <p14:creationId xmlns:p14="http://schemas.microsoft.com/office/powerpoint/2010/main" val="36134685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1. Psychological Models</a:t>
            </a:r>
          </a:p>
        </p:txBody>
      </p:sp>
      <p:sp>
        <p:nvSpPr>
          <p:cNvPr id="3" name="Content Placeholder 2"/>
          <p:cNvSpPr>
            <a:spLocks noGrp="1"/>
          </p:cNvSpPr>
          <p:nvPr>
            <p:ph idx="1"/>
          </p:nvPr>
        </p:nvSpPr>
        <p:spPr/>
        <p:txBody>
          <a:bodyPr>
            <a:normAutofit fontScale="92500" lnSpcReduction="10000"/>
          </a:bodyPr>
          <a:lstStyle/>
          <a:p>
            <a:r>
              <a:rPr lang="en-US" dirty="0"/>
              <a:t>The essence of psychological theory is an </a:t>
            </a:r>
            <a:r>
              <a:rPr lang="en-US" dirty="0">
                <a:solidFill>
                  <a:srgbClr val="FF3399"/>
                </a:solidFill>
              </a:rPr>
              <a:t>understanding of the </a:t>
            </a:r>
            <a:r>
              <a:rPr lang="en-US" b="1" dirty="0">
                <a:solidFill>
                  <a:srgbClr val="FF3399"/>
                </a:solidFill>
              </a:rPr>
              <a:t>difference in individuals’ attitudes</a:t>
            </a:r>
            <a:r>
              <a:rPr lang="en-US" dirty="0">
                <a:solidFill>
                  <a:srgbClr val="FF3399"/>
                </a:solidFill>
              </a:rPr>
              <a:t>. </a:t>
            </a:r>
            <a:r>
              <a:rPr lang="en-US" b="1" dirty="0">
                <a:solidFill>
                  <a:srgbClr val="FF3399"/>
                </a:solidFill>
              </a:rPr>
              <a:t>Some people see problems, while other see opportunities</a:t>
            </a:r>
            <a:r>
              <a:rPr lang="en-US" dirty="0">
                <a:solidFill>
                  <a:srgbClr val="FF3399"/>
                </a:solidFill>
              </a:rPr>
              <a:t>.</a:t>
            </a:r>
          </a:p>
          <a:p>
            <a:r>
              <a:rPr lang="en-US" dirty="0"/>
              <a:t>According to this theory, the </a:t>
            </a:r>
            <a:r>
              <a:rPr lang="en-US" dirty="0">
                <a:solidFill>
                  <a:srgbClr val="0070C0"/>
                </a:solidFill>
              </a:rPr>
              <a:t>internal attitude and ability to judge and forecast any situation </a:t>
            </a:r>
            <a:r>
              <a:rPr lang="en-US" dirty="0"/>
              <a:t>lead a person to become a successful entrepreneur.</a:t>
            </a:r>
          </a:p>
          <a:p>
            <a:r>
              <a:rPr lang="en-US" dirty="0"/>
              <a:t>This model says that entrepreneurs are created because of their </a:t>
            </a:r>
            <a:r>
              <a:rPr lang="en-US" b="1" dirty="0"/>
              <a:t>mindset, personality, and inner motivation.</a:t>
            </a:r>
          </a:p>
          <a:p>
            <a:endParaRPr lang="en-US" dirty="0"/>
          </a:p>
        </p:txBody>
      </p:sp>
    </p:spTree>
    <p:extLst>
      <p:ext uri="{BB962C8B-B14F-4D97-AF65-F5344CB8AC3E}">
        <p14:creationId xmlns:p14="http://schemas.microsoft.com/office/powerpoint/2010/main" val="34688054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David McClelland’s theory of Achievement motivation </a:t>
            </a:r>
          </a:p>
        </p:txBody>
      </p:sp>
      <p:sp>
        <p:nvSpPr>
          <p:cNvPr id="3" name="Content Placeholder 2"/>
          <p:cNvSpPr>
            <a:spLocks noGrp="1"/>
          </p:cNvSpPr>
          <p:nvPr>
            <p:ph idx="1"/>
          </p:nvPr>
        </p:nvSpPr>
        <p:spPr>
          <a:xfrm>
            <a:off x="457200" y="1447800"/>
            <a:ext cx="8382000" cy="4953000"/>
          </a:xfrm>
        </p:spPr>
        <p:txBody>
          <a:bodyPr>
            <a:normAutofit fontScale="85000" lnSpcReduction="20000"/>
          </a:bodyPr>
          <a:lstStyle/>
          <a:p>
            <a:pPr algn="just"/>
            <a:r>
              <a:rPr lang="en-US" dirty="0"/>
              <a:t>In his theory, McClelland considers entrepreneurs as people </a:t>
            </a:r>
            <a:r>
              <a:rPr lang="en-US" b="1" dirty="0"/>
              <a:t>who do things in a better way</a:t>
            </a:r>
            <a:r>
              <a:rPr lang="en-US" dirty="0"/>
              <a:t>, </a:t>
            </a:r>
            <a:r>
              <a:rPr lang="en-US" b="1" dirty="0"/>
              <a:t>make decisions in times of uncertainty</a:t>
            </a:r>
            <a:r>
              <a:rPr lang="en-US" dirty="0"/>
              <a:t> and </a:t>
            </a:r>
            <a:r>
              <a:rPr lang="en-US" b="1" dirty="0"/>
              <a:t>Strongly</a:t>
            </a:r>
            <a:r>
              <a:rPr lang="en-US" dirty="0"/>
              <a:t> </a:t>
            </a:r>
            <a:r>
              <a:rPr lang="en-US" b="1" dirty="0"/>
              <a:t>motivated to grow, achieve and succeed.</a:t>
            </a:r>
            <a:endParaRPr lang="en-US" b="1" dirty="0">
              <a:solidFill>
                <a:srgbClr val="7030A0"/>
              </a:solidFill>
            </a:endParaRPr>
          </a:p>
          <a:p>
            <a:pPr algn="just"/>
            <a:r>
              <a:rPr lang="en-US" dirty="0">
                <a:solidFill>
                  <a:srgbClr val="7030A0"/>
                </a:solidFill>
              </a:rPr>
              <a:t>Three motives for accomplishing things:</a:t>
            </a:r>
          </a:p>
          <a:p>
            <a:pPr lvl="1" algn="just"/>
            <a:r>
              <a:rPr lang="en-US" b="1" dirty="0"/>
              <a:t>Need for Power (</a:t>
            </a:r>
            <a:r>
              <a:rPr lang="en-US" b="1" dirty="0" err="1"/>
              <a:t>nP</a:t>
            </a:r>
            <a:r>
              <a:rPr lang="en-US" dirty="0"/>
              <a:t>), or the drive to influence, control and lead others at any given situation.</a:t>
            </a:r>
          </a:p>
          <a:p>
            <a:pPr lvl="1" algn="just"/>
            <a:r>
              <a:rPr lang="en-US" b="1" dirty="0"/>
              <a:t>Need for Affiliation (</a:t>
            </a:r>
            <a:r>
              <a:rPr lang="en-US" b="1" dirty="0" err="1"/>
              <a:t>nAff</a:t>
            </a:r>
            <a:r>
              <a:rPr lang="en-US" b="1" dirty="0"/>
              <a:t>), </a:t>
            </a:r>
            <a:r>
              <a:rPr lang="en-US" dirty="0"/>
              <a:t>or the drive for interpersonal relationship.</a:t>
            </a:r>
          </a:p>
          <a:p>
            <a:pPr lvl="1" algn="just"/>
            <a:r>
              <a:rPr lang="en-US" b="1" dirty="0"/>
              <a:t>Need for Achievement (</a:t>
            </a:r>
            <a:r>
              <a:rPr lang="en-US" b="1" dirty="0" err="1"/>
              <a:t>nAch</a:t>
            </a:r>
            <a:r>
              <a:rPr lang="en-US" b="1" dirty="0"/>
              <a:t>), </a:t>
            </a:r>
            <a:r>
              <a:rPr lang="en-US" dirty="0"/>
              <a:t>or the drive to excel, achieve success and perform better than before.</a:t>
            </a:r>
          </a:p>
          <a:p>
            <a:pPr algn="just"/>
            <a:r>
              <a:rPr lang="en-US" dirty="0"/>
              <a:t>All of these needs may simultaneously act on an individuals.</a:t>
            </a:r>
          </a:p>
          <a:p>
            <a:pPr algn="just">
              <a:buNone/>
            </a:pPr>
            <a:endParaRPr lang="en-US" dirty="0"/>
          </a:p>
          <a:p>
            <a:pPr algn="just"/>
            <a:endParaRPr lang="en-US" dirty="0"/>
          </a:p>
        </p:txBody>
      </p:sp>
    </p:spTree>
    <p:extLst>
      <p:ext uri="{BB962C8B-B14F-4D97-AF65-F5344CB8AC3E}">
        <p14:creationId xmlns:p14="http://schemas.microsoft.com/office/powerpoint/2010/main" val="5182114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normAutofit fontScale="90000"/>
          </a:bodyPr>
          <a:lstStyle/>
          <a:p>
            <a:pPr>
              <a:lnSpc>
                <a:spcPct val="150000"/>
              </a:lnSpc>
            </a:pPr>
            <a:r>
              <a:rPr lang="en-US" sz="4000" b="1" i="1" dirty="0"/>
              <a:t>Hagen’s Theory of Withdrawal of Status Respect </a:t>
            </a:r>
            <a:r>
              <a:rPr lang="en-US" b="1" i="1" dirty="0"/>
              <a:t>(1964)</a:t>
            </a:r>
            <a:r>
              <a:rPr lang="en-US" b="1" dirty="0"/>
              <a:t> </a:t>
            </a:r>
          </a:p>
        </p:txBody>
      </p:sp>
      <p:sp>
        <p:nvSpPr>
          <p:cNvPr id="3" name="Content Placeholder 2"/>
          <p:cNvSpPr>
            <a:spLocks noGrp="1"/>
          </p:cNvSpPr>
          <p:nvPr>
            <p:ph idx="1"/>
          </p:nvPr>
        </p:nvSpPr>
        <p:spPr>
          <a:xfrm>
            <a:off x="457200" y="1524000"/>
            <a:ext cx="8229600" cy="4602163"/>
          </a:xfrm>
        </p:spPr>
        <p:txBody>
          <a:bodyPr>
            <a:normAutofit fontScale="70000" lnSpcReduction="20000"/>
          </a:bodyPr>
          <a:lstStyle/>
          <a:p>
            <a:pPr algn="just">
              <a:lnSpc>
                <a:spcPct val="150000"/>
              </a:lnSpc>
            </a:pPr>
            <a:r>
              <a:rPr lang="en-US" b="1" dirty="0">
                <a:latin typeface="Times New Roman" panose="02020603050405020304" pitchFamily="18" charset="0"/>
                <a:cs typeface="Times New Roman" panose="02020603050405020304" pitchFamily="18" charset="0"/>
              </a:rPr>
              <a:t>Everett Hagen’s </a:t>
            </a:r>
            <a:r>
              <a:rPr lang="en-US" dirty="0">
                <a:latin typeface="Times New Roman" panose="02020603050405020304" pitchFamily="18" charset="0"/>
                <a:cs typeface="Times New Roman" panose="02020603050405020304" pitchFamily="18" charset="0"/>
              </a:rPr>
              <a:t>concept of the entrepreneur is that of a </a:t>
            </a:r>
            <a:r>
              <a:rPr lang="en-US" b="1" dirty="0">
                <a:latin typeface="Times New Roman" panose="02020603050405020304" pitchFamily="18" charset="0"/>
                <a:cs typeface="Times New Roman" panose="02020603050405020304" pitchFamily="18" charset="0"/>
              </a:rPr>
              <a:t>“creative personality” </a:t>
            </a:r>
            <a:r>
              <a:rPr lang="en-US" dirty="0">
                <a:latin typeface="Times New Roman" panose="02020603050405020304" pitchFamily="18" charset="0"/>
                <a:cs typeface="Times New Roman" panose="02020603050405020304" pitchFamily="18" charset="0"/>
              </a:rPr>
              <a:t>interested in accelerating change and driven by a motivation to achieve. </a:t>
            </a:r>
          </a:p>
          <a:p>
            <a:pPr algn="just">
              <a:lnSpc>
                <a:spcPct val="150000"/>
              </a:lnSpc>
            </a:pPr>
            <a:r>
              <a:rPr lang="en-US" dirty="0">
                <a:latin typeface="Times New Roman" panose="02020603050405020304" pitchFamily="18" charset="0"/>
                <a:cs typeface="Times New Roman" panose="02020603050405020304" pitchFamily="18" charset="0"/>
              </a:rPr>
              <a:t>According to Hagen, entrepreneurial growth has been very </a:t>
            </a:r>
            <a:r>
              <a:rPr lang="en-US" b="1" dirty="0">
                <a:latin typeface="Times New Roman" panose="02020603050405020304" pitchFamily="18" charset="0"/>
                <a:cs typeface="Times New Roman" panose="02020603050405020304" pitchFamily="18" charset="0"/>
              </a:rPr>
              <a:t>gradual and may or may not even occur in the same generation.</a:t>
            </a:r>
            <a:r>
              <a:rPr lang="en-US" dirty="0">
                <a:latin typeface="Times New Roman" panose="02020603050405020304" pitchFamily="18" charset="0"/>
                <a:cs typeface="Times New Roman" panose="02020603050405020304" pitchFamily="18" charset="0"/>
              </a:rPr>
              <a:t> In his theory of withdrawal of status respect, </a:t>
            </a:r>
          </a:p>
          <a:p>
            <a:pPr algn="just">
              <a:lnSpc>
                <a:spcPct val="150000"/>
              </a:lnSpc>
            </a:pPr>
            <a:r>
              <a:rPr lang="en-US" dirty="0">
                <a:latin typeface="Times New Roman" panose="02020603050405020304" pitchFamily="18" charset="0"/>
                <a:cs typeface="Times New Roman" panose="02020603050405020304" pitchFamily="18" charset="0"/>
              </a:rPr>
              <a:t>Everett Hagen’s argument is that </a:t>
            </a:r>
            <a:r>
              <a:rPr lang="en-US" b="1" dirty="0">
                <a:latin typeface="Times New Roman" panose="02020603050405020304" pitchFamily="18" charset="0"/>
                <a:cs typeface="Times New Roman" panose="02020603050405020304" pitchFamily="18" charset="0"/>
              </a:rPr>
              <a:t>certain social changes may disrupt the stability of traditional society </a:t>
            </a:r>
            <a:r>
              <a:rPr lang="en-US" dirty="0">
                <a:latin typeface="Times New Roman" panose="02020603050405020304" pitchFamily="18" charset="0"/>
                <a:cs typeface="Times New Roman" panose="02020603050405020304" pitchFamily="18" charset="0"/>
              </a:rPr>
              <a:t>and cause psychological changes in a group or in an individual. </a:t>
            </a:r>
          </a:p>
        </p:txBody>
      </p:sp>
    </p:spTree>
    <p:extLst>
      <p:ext uri="{BB962C8B-B14F-4D97-AF65-F5344CB8AC3E}">
        <p14:creationId xmlns:p14="http://schemas.microsoft.com/office/powerpoint/2010/main" val="16990417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1" algn="ctr" rtl="0">
              <a:lnSpc>
                <a:spcPct val="90000"/>
              </a:lnSpc>
              <a:spcBef>
                <a:spcPct val="0"/>
              </a:spcBef>
            </a:pPr>
            <a:r>
              <a:rPr lang="en-US" sz="3600" b="1" i="1" dirty="0"/>
              <a:t>Rotter- Internal–External Locus of Control Theory</a:t>
            </a:r>
            <a:br>
              <a:rPr lang="en-US" sz="2200" b="1" i="1" dirty="0"/>
            </a:br>
            <a:endParaRPr lang="en-US" dirty="0"/>
          </a:p>
        </p:txBody>
      </p:sp>
      <p:sp>
        <p:nvSpPr>
          <p:cNvPr id="3" name="Content Placeholder 2"/>
          <p:cNvSpPr>
            <a:spLocks noGrp="1"/>
          </p:cNvSpPr>
          <p:nvPr>
            <p:ph idx="1"/>
          </p:nvPr>
        </p:nvSpPr>
        <p:spPr>
          <a:xfrm>
            <a:off x="457200" y="1219201"/>
            <a:ext cx="8382000" cy="5029200"/>
          </a:xfrm>
        </p:spPr>
        <p:txBody>
          <a:bodyPr>
            <a:normAutofit fontScale="70000" lnSpcReduction="20000"/>
          </a:bodyPr>
          <a:lstStyle/>
          <a:p>
            <a:pPr algn="just"/>
            <a:r>
              <a:rPr lang="en-US" dirty="0">
                <a:latin typeface="Times New Roman" panose="02020603050405020304" pitchFamily="18" charset="0"/>
                <a:cs typeface="Times New Roman" panose="02020603050405020304" pitchFamily="18" charset="0"/>
              </a:rPr>
              <a:t>Professor J. D. Rotter of Ohio University in this theory </a:t>
            </a:r>
            <a:r>
              <a:rPr lang="en-US" b="1" dirty="0">
                <a:latin typeface="Times New Roman" panose="02020603050405020304" pitchFamily="18" charset="0"/>
                <a:cs typeface="Times New Roman" panose="02020603050405020304" pitchFamily="18" charset="0"/>
              </a:rPr>
              <a:t>explain how people think about success and failure and what control their life outcomes. </a:t>
            </a:r>
          </a:p>
          <a:p>
            <a:pPr algn="just"/>
            <a:r>
              <a:rPr lang="en-US" b="1" dirty="0">
                <a:latin typeface="Times New Roman" panose="02020603050405020304" pitchFamily="18" charset="0"/>
                <a:cs typeface="Times New Roman" panose="02020603050405020304" pitchFamily="18" charset="0"/>
              </a:rPr>
              <a:t>Locus of control determines </a:t>
            </a:r>
            <a:r>
              <a:rPr lang="en-US" dirty="0">
                <a:latin typeface="Times New Roman" panose="02020603050405020304" pitchFamily="18" charset="0"/>
                <a:cs typeface="Times New Roman" panose="02020603050405020304" pitchFamily="18" charset="0"/>
              </a:rPr>
              <a:t>whether a </a:t>
            </a:r>
            <a:r>
              <a:rPr lang="en-US" b="1" dirty="0">
                <a:latin typeface="Times New Roman" panose="02020603050405020304" pitchFamily="18" charset="0"/>
                <a:cs typeface="Times New Roman" panose="02020603050405020304" pitchFamily="18" charset="0"/>
              </a:rPr>
              <a:t>person perceives a potential goal to be attainable through one’s own actions </a:t>
            </a:r>
            <a:r>
              <a:rPr lang="en-US" dirty="0">
                <a:latin typeface="Times New Roman" panose="02020603050405020304" pitchFamily="18" charset="0"/>
                <a:cs typeface="Times New Roman" panose="02020603050405020304" pitchFamily="18" charset="0"/>
              </a:rPr>
              <a:t>(internal locus of control) </a:t>
            </a:r>
            <a:r>
              <a:rPr lang="en-US" b="1" dirty="0">
                <a:latin typeface="Times New Roman" panose="02020603050405020304" pitchFamily="18" charset="0"/>
                <a:cs typeface="Times New Roman" panose="02020603050405020304" pitchFamily="18" charset="0"/>
              </a:rPr>
              <a:t>or through uncontrollable external factors </a:t>
            </a:r>
            <a:r>
              <a:rPr lang="en-US" dirty="0">
                <a:latin typeface="Times New Roman" panose="02020603050405020304" pitchFamily="18" charset="0"/>
                <a:cs typeface="Times New Roman" panose="02020603050405020304" pitchFamily="18" charset="0"/>
              </a:rPr>
              <a:t>(external locus of control).</a:t>
            </a:r>
          </a:p>
          <a:p>
            <a:pPr algn="just"/>
            <a:r>
              <a:rPr lang="en-US" b="1" dirty="0">
                <a:latin typeface="Times New Roman" panose="02020603050405020304" pitchFamily="18" charset="0"/>
                <a:cs typeface="Times New Roman" panose="02020603050405020304" pitchFamily="18" charset="0"/>
              </a:rPr>
              <a:t>Internal locus </a:t>
            </a:r>
            <a:r>
              <a:rPr lang="en-US" dirty="0">
                <a:latin typeface="Times New Roman" panose="02020603050405020304" pitchFamily="18" charset="0"/>
                <a:cs typeface="Times New Roman" panose="02020603050405020304" pitchFamily="18" charset="0"/>
              </a:rPr>
              <a:t>of control believe that </a:t>
            </a:r>
            <a:r>
              <a:rPr lang="en-US" b="1" dirty="0">
                <a:latin typeface="Times New Roman" panose="02020603050405020304" pitchFamily="18" charset="0"/>
                <a:cs typeface="Times New Roman" panose="02020603050405020304" pitchFamily="18" charset="0"/>
              </a:rPr>
              <a:t>success or failure depends on their own efforts</a:t>
            </a:r>
            <a:r>
              <a:rPr lang="en-US" dirty="0">
                <a:latin typeface="Times New Roman" panose="02020603050405020304" pitchFamily="18" charset="0"/>
                <a:cs typeface="Times New Roman" panose="02020603050405020304" pitchFamily="18" charset="0"/>
              </a:rPr>
              <a:t>. It comprises </a:t>
            </a:r>
            <a:r>
              <a:rPr lang="en-US" b="1" dirty="0">
                <a:latin typeface="Times New Roman" panose="02020603050405020304" pitchFamily="18" charset="0"/>
                <a:cs typeface="Times New Roman" panose="02020603050405020304" pitchFamily="18" charset="0"/>
              </a:rPr>
              <a:t>self-confidence</a:t>
            </a:r>
            <a:r>
              <a:rPr lang="en-US" dirty="0">
                <a:latin typeface="Times New Roman" panose="02020603050405020304" pitchFamily="18" charset="0"/>
                <a:cs typeface="Times New Roman" panose="02020603050405020304" pitchFamily="18" charset="0"/>
              </a:rPr>
              <a:t>, extreme belief in one’s </a:t>
            </a:r>
            <a:r>
              <a:rPr lang="en-US" b="1" dirty="0">
                <a:latin typeface="Times New Roman" panose="02020603050405020304" pitchFamily="18" charset="0"/>
                <a:cs typeface="Times New Roman" panose="02020603050405020304" pitchFamily="18" charset="0"/>
              </a:rPr>
              <a:t>own ability</a:t>
            </a:r>
            <a:r>
              <a:rPr lang="en-US" dirty="0">
                <a:latin typeface="Times New Roman" panose="02020603050405020304" pitchFamily="18" charset="0"/>
                <a:cs typeface="Times New Roman" panose="02020603050405020304" pitchFamily="18" charset="0"/>
              </a:rPr>
              <a:t>, and </a:t>
            </a:r>
            <a:r>
              <a:rPr lang="en-US" b="1" dirty="0">
                <a:latin typeface="Times New Roman" panose="02020603050405020304" pitchFamily="18" charset="0"/>
                <a:cs typeface="Times New Roman" panose="02020603050405020304" pitchFamily="18" charset="0"/>
              </a:rPr>
              <a:t>initiatives </a:t>
            </a:r>
            <a:r>
              <a:rPr lang="en-US" dirty="0">
                <a:latin typeface="Times New Roman" panose="02020603050405020304" pitchFamily="18" charset="0"/>
                <a:cs typeface="Times New Roman" panose="02020603050405020304" pitchFamily="18" charset="0"/>
              </a:rPr>
              <a:t>taken by an individual.</a:t>
            </a:r>
          </a:p>
          <a:p>
            <a:pPr algn="just"/>
            <a:r>
              <a:rPr lang="en-US" b="1" dirty="0">
                <a:latin typeface="Times New Roman" panose="02020603050405020304" pitchFamily="18" charset="0"/>
                <a:cs typeface="Times New Roman" panose="02020603050405020304" pitchFamily="18" charset="0"/>
              </a:rPr>
              <a:t>Successful entrepreneurs have internal locus of control</a:t>
            </a:r>
            <a:r>
              <a:rPr lang="en-US" dirty="0">
                <a:latin typeface="Times New Roman" panose="02020603050405020304" pitchFamily="18" charset="0"/>
                <a:cs typeface="Times New Roman" panose="02020603050405020304" pitchFamily="18" charset="0"/>
              </a:rPr>
              <a:t>. (My business success because of my planning and hard work.)</a:t>
            </a:r>
          </a:p>
          <a:p>
            <a:pPr algn="just"/>
            <a:r>
              <a:rPr lang="en-US" b="1" dirty="0">
                <a:latin typeface="Times New Roman" panose="02020603050405020304" pitchFamily="18" charset="0"/>
                <a:cs typeface="Times New Roman" panose="02020603050405020304" pitchFamily="18" charset="0"/>
              </a:rPr>
              <a:t>External locus </a:t>
            </a:r>
            <a:r>
              <a:rPr lang="en-US" dirty="0">
                <a:latin typeface="Times New Roman" panose="02020603050405020304" pitchFamily="18" charset="0"/>
                <a:cs typeface="Times New Roman" panose="02020603050405020304" pitchFamily="18" charset="0"/>
              </a:rPr>
              <a:t>of control believe that </a:t>
            </a:r>
            <a:r>
              <a:rPr lang="en-US" b="1" dirty="0">
                <a:latin typeface="Times New Roman" panose="02020603050405020304" pitchFamily="18" charset="0"/>
                <a:cs typeface="Times New Roman" panose="02020603050405020304" pitchFamily="18" charset="0"/>
              </a:rPr>
              <a:t>success and failure depends on luck and external environment</a:t>
            </a:r>
            <a:r>
              <a:rPr lang="en-US" dirty="0">
                <a:latin typeface="Times New Roman" panose="02020603050405020304" pitchFamily="18" charset="0"/>
                <a:cs typeface="Times New Roman" panose="02020603050405020304" pitchFamily="18" charset="0"/>
              </a:rPr>
              <a:t>.(My business fails because of bad luck or government policy changes.)</a:t>
            </a:r>
          </a:p>
          <a:p>
            <a:pPr algn="just"/>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565489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6021" y="514942"/>
            <a:ext cx="7893153" cy="5899110"/>
          </a:xfrm>
        </p:spPr>
        <p:txBody>
          <a:bodyPr>
            <a:normAutofit/>
          </a:bodyPr>
          <a:lstStyle/>
          <a:p>
            <a:r>
              <a:rPr lang="en-US" dirty="0"/>
              <a:t>Sociological Model</a:t>
            </a:r>
          </a:p>
          <a:p>
            <a:pPr lvl="1"/>
            <a:r>
              <a:rPr lang="en-US" i="1" dirty="0"/>
              <a:t>Max Weber’s Theory of Religious Beliefs</a:t>
            </a:r>
          </a:p>
          <a:p>
            <a:pPr lvl="1"/>
            <a:r>
              <a:rPr lang="en-US" i="1" dirty="0" err="1"/>
              <a:t>Hozelist’s</a:t>
            </a:r>
            <a:r>
              <a:rPr lang="en-US" i="1" dirty="0"/>
              <a:t> Sociocultural Theory</a:t>
            </a:r>
            <a:r>
              <a:rPr lang="en-US" dirty="0"/>
              <a:t>  </a:t>
            </a:r>
          </a:p>
          <a:p>
            <a:pPr lvl="1"/>
            <a:r>
              <a:rPr lang="en-US" i="1" dirty="0"/>
              <a:t>Thomas Cochran’s Theory of Entrepreneurial Supply</a:t>
            </a:r>
            <a:r>
              <a:rPr lang="en-US" dirty="0"/>
              <a:t>   </a:t>
            </a:r>
          </a:p>
          <a:p>
            <a:pPr lvl="1"/>
            <a:r>
              <a:rPr lang="en-US" i="1" dirty="0"/>
              <a:t>Frank W. Young’s Theory of Group Level Pattern</a:t>
            </a:r>
            <a:endParaRPr lang="en-US" dirty="0"/>
          </a:p>
        </p:txBody>
      </p:sp>
    </p:spTree>
    <p:extLst>
      <p:ext uri="{BB962C8B-B14F-4D97-AF65-F5344CB8AC3E}">
        <p14:creationId xmlns:p14="http://schemas.microsoft.com/office/powerpoint/2010/main" val="36736017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2. Sociological Model</a:t>
            </a:r>
          </a:p>
        </p:txBody>
      </p:sp>
      <p:sp>
        <p:nvSpPr>
          <p:cNvPr id="3" name="Content Placeholder 2"/>
          <p:cNvSpPr>
            <a:spLocks noGrp="1"/>
          </p:cNvSpPr>
          <p:nvPr>
            <p:ph idx="1"/>
          </p:nvPr>
        </p:nvSpPr>
        <p:spPr/>
        <p:txBody>
          <a:bodyPr>
            <a:normAutofit fontScale="85000" lnSpcReduction="20000"/>
          </a:bodyPr>
          <a:lstStyle/>
          <a:p>
            <a:pPr marL="0" indent="0">
              <a:buNone/>
            </a:pPr>
            <a:endParaRPr lang="en-US" dirty="0">
              <a:solidFill>
                <a:srgbClr val="FF3399"/>
              </a:solidFill>
            </a:endParaRPr>
          </a:p>
          <a:p>
            <a:r>
              <a:rPr lang="en-US" dirty="0">
                <a:solidFill>
                  <a:srgbClr val="FF3399"/>
                </a:solidFill>
              </a:rPr>
              <a:t>Social cultures to be the driving force </a:t>
            </a:r>
            <a:r>
              <a:rPr lang="en-US" dirty="0"/>
              <a:t>behind entrepreneurship. </a:t>
            </a:r>
            <a:r>
              <a:rPr lang="en-US" dirty="0" err="1"/>
              <a:t>Eg.</a:t>
            </a:r>
            <a:r>
              <a:rPr lang="en-US" dirty="0"/>
              <a:t> In Marwari and Gujarati society business and trade are respected.</a:t>
            </a:r>
          </a:p>
          <a:p>
            <a:pPr marL="0" indent="0">
              <a:buNone/>
            </a:pPr>
            <a:endParaRPr lang="en-US" dirty="0"/>
          </a:p>
          <a:p>
            <a:r>
              <a:rPr lang="en-US" dirty="0"/>
              <a:t>The entrepreneur becomes </a:t>
            </a:r>
            <a:r>
              <a:rPr lang="en-US" dirty="0">
                <a:solidFill>
                  <a:srgbClr val="00B0F0"/>
                </a:solidFill>
              </a:rPr>
              <a:t>a role performer in conformity</a:t>
            </a:r>
            <a:r>
              <a:rPr lang="en-US" dirty="0"/>
              <a:t> with the role expectations of society.</a:t>
            </a:r>
          </a:p>
          <a:p>
            <a:endParaRPr lang="en-US" dirty="0"/>
          </a:p>
          <a:p>
            <a:r>
              <a:rPr lang="en-US" dirty="0"/>
              <a:t>Such role expectations are </a:t>
            </a:r>
            <a:r>
              <a:rPr lang="en-US" dirty="0">
                <a:solidFill>
                  <a:srgbClr val="92D050"/>
                </a:solidFill>
              </a:rPr>
              <a:t>based on religious beliefs, taboos(cultural restrictions- in some society women are restricted for business), and customs(pass on to generation). </a:t>
            </a:r>
          </a:p>
          <a:p>
            <a:pPr marL="0" indent="0">
              <a:buNone/>
            </a:pPr>
            <a:endParaRPr lang="en-US" dirty="0"/>
          </a:p>
        </p:txBody>
      </p:sp>
    </p:spTree>
    <p:extLst>
      <p:ext uri="{BB962C8B-B14F-4D97-AF65-F5344CB8AC3E}">
        <p14:creationId xmlns:p14="http://schemas.microsoft.com/office/powerpoint/2010/main" val="7766491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609600"/>
          </a:xfrm>
        </p:spPr>
        <p:txBody>
          <a:bodyPr>
            <a:normAutofit/>
          </a:bodyPr>
          <a:lstStyle/>
          <a:p>
            <a:r>
              <a:rPr lang="en-US" sz="3200" b="1" i="1" dirty="0"/>
              <a:t>Max Weber’s Theory of Religious Beliefs</a:t>
            </a:r>
            <a:endParaRPr lang="en-US" sz="3200" dirty="0"/>
          </a:p>
        </p:txBody>
      </p:sp>
      <p:sp>
        <p:nvSpPr>
          <p:cNvPr id="3" name="Content Placeholder 2"/>
          <p:cNvSpPr>
            <a:spLocks noGrp="1"/>
          </p:cNvSpPr>
          <p:nvPr>
            <p:ph idx="1"/>
          </p:nvPr>
        </p:nvSpPr>
        <p:spPr>
          <a:xfrm>
            <a:off x="0" y="609600"/>
            <a:ext cx="8839200" cy="6400800"/>
          </a:xfrm>
        </p:spPr>
        <p:txBody>
          <a:bodyPr>
            <a:normAutofit fontScale="92500" lnSpcReduction="10000"/>
          </a:bodyPr>
          <a:lstStyle/>
          <a:p>
            <a:pPr algn="just"/>
            <a:r>
              <a:rPr lang="en-US" sz="2400" dirty="0"/>
              <a:t>According to Max Weber, </a:t>
            </a:r>
            <a:r>
              <a:rPr lang="en-US" sz="2400" b="1" dirty="0"/>
              <a:t>religious beliefs are the driving or restraining forces for entrepreneurial activity</a:t>
            </a:r>
            <a:r>
              <a:rPr lang="en-US" sz="2400" dirty="0"/>
              <a:t>. </a:t>
            </a:r>
          </a:p>
          <a:p>
            <a:pPr algn="just"/>
            <a:r>
              <a:rPr lang="en-US" sz="2400" b="1" dirty="0"/>
              <a:t>Religious values like hard work, discipline, honesty, and saving encourage entrepreneurship.</a:t>
            </a:r>
          </a:p>
          <a:p>
            <a:pPr algn="just"/>
            <a:r>
              <a:rPr lang="en-US" sz="2400" dirty="0">
                <a:solidFill>
                  <a:srgbClr val="FFC000"/>
                </a:solidFill>
              </a:rPr>
              <a:t>Religious beliefs play a crucial role in determining the attitude of the entrepreneur towards generating or limiting profits</a:t>
            </a:r>
            <a:r>
              <a:rPr lang="en-US" sz="2400" dirty="0"/>
              <a:t>. </a:t>
            </a:r>
          </a:p>
          <a:p>
            <a:pPr algn="just"/>
            <a:r>
              <a:rPr lang="en-US" sz="2400" dirty="0"/>
              <a:t>Weber took the position that </a:t>
            </a:r>
            <a:r>
              <a:rPr lang="en-US" sz="2400" dirty="0">
                <a:solidFill>
                  <a:srgbClr val="7030A0"/>
                </a:solidFill>
              </a:rPr>
              <a:t>entrepreneurial growth is dependent upon the ethical values </a:t>
            </a:r>
            <a:r>
              <a:rPr lang="en-US" sz="2400" dirty="0"/>
              <a:t>(due to religion) of society.</a:t>
            </a:r>
          </a:p>
          <a:p>
            <a:pPr algn="just"/>
            <a:r>
              <a:rPr lang="en-US" sz="2400" dirty="0">
                <a:solidFill>
                  <a:srgbClr val="FF0000"/>
                </a:solidFill>
              </a:rPr>
              <a:t>Capitalism thrives</a:t>
            </a:r>
            <a:r>
              <a:rPr lang="en-US" sz="2400" dirty="0"/>
              <a:t> under the Protestant work ethic that </a:t>
            </a:r>
            <a:r>
              <a:rPr lang="en-US" sz="2400" dirty="0">
                <a:solidFill>
                  <a:srgbClr val="FF0000"/>
                </a:solidFill>
              </a:rPr>
              <a:t>advocates hard work, honesty, and discipline. </a:t>
            </a:r>
            <a:r>
              <a:rPr lang="en-US" sz="2400" dirty="0"/>
              <a:t>The </a:t>
            </a:r>
            <a:r>
              <a:rPr lang="en-US" sz="2400" dirty="0">
                <a:solidFill>
                  <a:srgbClr val="00B0F0"/>
                </a:solidFill>
              </a:rPr>
              <a:t>spirit of capitalism, coupled with the motive of profit, results in </a:t>
            </a:r>
            <a:r>
              <a:rPr lang="en-US" sz="2400" dirty="0"/>
              <a:t>the creation of a large number of </a:t>
            </a:r>
            <a:r>
              <a:rPr lang="en-US" sz="2400" dirty="0">
                <a:solidFill>
                  <a:srgbClr val="00B0F0"/>
                </a:solidFill>
              </a:rPr>
              <a:t>successful business enterprises</a:t>
            </a:r>
            <a:r>
              <a:rPr lang="en-US" sz="2400" dirty="0"/>
              <a:t>.</a:t>
            </a:r>
          </a:p>
          <a:p>
            <a:pPr algn="just"/>
            <a:r>
              <a:rPr lang="en-US" sz="2400" dirty="0"/>
              <a:t>Weber distinguished between </a:t>
            </a:r>
            <a:r>
              <a:rPr lang="en-US" sz="2400" b="1" dirty="0"/>
              <a:t>two types of behavior </a:t>
            </a:r>
            <a:r>
              <a:rPr lang="en-US" sz="2400" dirty="0"/>
              <a:t>the </a:t>
            </a:r>
            <a:r>
              <a:rPr lang="en-US" sz="2400" b="1" dirty="0"/>
              <a:t>“spirit of capitalism” </a:t>
            </a:r>
            <a:r>
              <a:rPr lang="en-US" sz="2400" dirty="0"/>
              <a:t>and the </a:t>
            </a:r>
            <a:r>
              <a:rPr lang="en-US" sz="2400" b="1" dirty="0"/>
              <a:t>“adventurous spirit.” The spirit of capitalism </a:t>
            </a:r>
            <a:r>
              <a:rPr lang="en-US" sz="2400" dirty="0"/>
              <a:t>is influenced by a </a:t>
            </a:r>
            <a:r>
              <a:rPr lang="en-US" sz="2400" b="1" dirty="0"/>
              <a:t>strict discipline and regular profit</a:t>
            </a:r>
            <a:r>
              <a:rPr lang="en-US" sz="2400" dirty="0"/>
              <a:t>, whereas the </a:t>
            </a:r>
            <a:r>
              <a:rPr lang="en-US" sz="2400" b="1" dirty="0"/>
              <a:t>adventurous spirit </a:t>
            </a:r>
            <a:r>
              <a:rPr lang="en-US" sz="2400" dirty="0"/>
              <a:t>comes from the </a:t>
            </a:r>
            <a:r>
              <a:rPr lang="en-US" sz="2400" b="1" dirty="0"/>
              <a:t>free force of impulse take risk, tries new ideas and enter new markets</a:t>
            </a:r>
            <a:r>
              <a:rPr lang="en-US" sz="2400" dirty="0"/>
              <a:t>. </a:t>
            </a:r>
          </a:p>
          <a:p>
            <a:pPr algn="just"/>
            <a:r>
              <a:rPr lang="en-US" sz="2400" dirty="0">
                <a:solidFill>
                  <a:srgbClr val="993366"/>
                </a:solidFill>
              </a:rPr>
              <a:t>Right combination of discipline of capitalism and courage of adventure defines the successful entrepreneur. </a:t>
            </a:r>
          </a:p>
          <a:p>
            <a:pPr algn="just"/>
            <a:endParaRPr lang="en-US" sz="2400" dirty="0"/>
          </a:p>
        </p:txBody>
      </p:sp>
    </p:spTree>
    <p:extLst>
      <p:ext uri="{BB962C8B-B14F-4D97-AF65-F5344CB8AC3E}">
        <p14:creationId xmlns:p14="http://schemas.microsoft.com/office/powerpoint/2010/main" val="141924641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i="1" dirty="0" err="1"/>
              <a:t>Hozelist’s</a:t>
            </a:r>
            <a:r>
              <a:rPr lang="en-US" b="1" i="1" dirty="0"/>
              <a:t> Sociocultural Theory</a:t>
            </a:r>
            <a:r>
              <a:rPr lang="en-US" b="1" dirty="0"/>
              <a:t> </a:t>
            </a:r>
            <a:r>
              <a:rPr lang="en-US" dirty="0"/>
              <a:t> </a:t>
            </a:r>
          </a:p>
        </p:txBody>
      </p:sp>
      <p:sp>
        <p:nvSpPr>
          <p:cNvPr id="3" name="Content Placeholder 2"/>
          <p:cNvSpPr>
            <a:spLocks noGrp="1"/>
          </p:cNvSpPr>
          <p:nvPr>
            <p:ph idx="1"/>
          </p:nvPr>
        </p:nvSpPr>
        <p:spPr/>
        <p:txBody>
          <a:bodyPr>
            <a:normAutofit fontScale="77500" lnSpcReduction="20000"/>
          </a:bodyPr>
          <a:lstStyle/>
          <a:p>
            <a:pPr algn="just"/>
            <a:endParaRPr lang="en-US" dirty="0"/>
          </a:p>
          <a:p>
            <a:pPr algn="just"/>
            <a:r>
              <a:rPr lang="en-US" dirty="0"/>
              <a:t>According to </a:t>
            </a:r>
            <a:r>
              <a:rPr lang="en-US" dirty="0" err="1"/>
              <a:t>Hozelist</a:t>
            </a:r>
            <a:r>
              <a:rPr lang="en-US" dirty="0"/>
              <a:t>, a specific social culture leads to growth in entrepreneurship. </a:t>
            </a:r>
          </a:p>
          <a:p>
            <a:pPr algn="just"/>
            <a:r>
              <a:rPr lang="en-US" b="1" dirty="0"/>
              <a:t>Entrepreneurship grows when society respects business, innovation, and leadership.</a:t>
            </a:r>
          </a:p>
          <a:p>
            <a:pPr algn="just"/>
            <a:r>
              <a:rPr lang="en-US" dirty="0">
                <a:solidFill>
                  <a:srgbClr val="00B0F0"/>
                </a:solidFill>
              </a:rPr>
              <a:t>Social sanctions(rewards and punishment by society), cultural values, and role expectations</a:t>
            </a:r>
            <a:r>
              <a:rPr lang="en-US" dirty="0"/>
              <a:t> are responsible for the emergence of entrepreneurship. </a:t>
            </a:r>
          </a:p>
          <a:p>
            <a:pPr algn="just"/>
            <a:r>
              <a:rPr lang="en-US" b="1" dirty="0"/>
              <a:t>If society rewards risk-taking and hard work, entrepreneurship grows and If society discourages failure, people avoid business.</a:t>
            </a:r>
          </a:p>
          <a:p>
            <a:pPr algn="just"/>
            <a:r>
              <a:rPr lang="en-US" dirty="0"/>
              <a:t>Entrepreneurship grows in societies that </a:t>
            </a:r>
            <a:r>
              <a:rPr lang="en-US" dirty="0">
                <a:solidFill>
                  <a:srgbClr val="FF0000"/>
                </a:solidFill>
              </a:rPr>
              <a:t>permit variability in choice of paths of life.</a:t>
            </a:r>
            <a:endParaRPr lang="en-US" dirty="0"/>
          </a:p>
        </p:txBody>
      </p:sp>
    </p:spTree>
    <p:extLst>
      <p:ext uri="{BB962C8B-B14F-4D97-AF65-F5344CB8AC3E}">
        <p14:creationId xmlns:p14="http://schemas.microsoft.com/office/powerpoint/2010/main" val="15605095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600" b="1" i="1" dirty="0"/>
              <a:t>Thomas Cochran’s Theory of Entrepreneurial Supply</a:t>
            </a:r>
            <a:r>
              <a:rPr lang="en-US" sz="3600" b="1" dirty="0"/>
              <a:t> </a:t>
            </a:r>
            <a:r>
              <a:rPr lang="en-US" sz="3600" dirty="0"/>
              <a:t>  </a:t>
            </a:r>
          </a:p>
        </p:txBody>
      </p:sp>
      <p:sp>
        <p:nvSpPr>
          <p:cNvPr id="3" name="Content Placeholder 2"/>
          <p:cNvSpPr>
            <a:spLocks noGrp="1"/>
          </p:cNvSpPr>
          <p:nvPr>
            <p:ph idx="1"/>
          </p:nvPr>
        </p:nvSpPr>
        <p:spPr>
          <a:xfrm>
            <a:off x="457200" y="1371600"/>
            <a:ext cx="8229600" cy="5029200"/>
          </a:xfrm>
        </p:spPr>
        <p:txBody>
          <a:bodyPr>
            <a:normAutofit fontScale="70000" lnSpcReduction="20000"/>
          </a:bodyPr>
          <a:lstStyle/>
          <a:p>
            <a:pPr algn="just"/>
            <a:r>
              <a:rPr lang="en-US" dirty="0"/>
              <a:t>In agreement with </a:t>
            </a:r>
            <a:r>
              <a:rPr lang="en-US" dirty="0" err="1"/>
              <a:t>Hozelist</a:t>
            </a:r>
            <a:r>
              <a:rPr lang="en-US" dirty="0"/>
              <a:t>, believed that the </a:t>
            </a:r>
            <a:r>
              <a:rPr lang="en-US" b="1" dirty="0"/>
              <a:t>environment in which an individual is brought up determines his entrepreneurial urge.</a:t>
            </a:r>
          </a:p>
          <a:p>
            <a:pPr marL="0" indent="0" algn="just">
              <a:buNone/>
            </a:pPr>
            <a:endParaRPr lang="en-US" dirty="0"/>
          </a:p>
          <a:p>
            <a:pPr algn="just"/>
            <a:r>
              <a:rPr lang="en-US" dirty="0"/>
              <a:t>According to him, the supply of entrepreneurs in society needs to be seen with reference to prevailing </a:t>
            </a:r>
            <a:r>
              <a:rPr lang="en-US" dirty="0">
                <a:solidFill>
                  <a:srgbClr val="FF3399"/>
                </a:solidFill>
              </a:rPr>
              <a:t>child-rearing practices.</a:t>
            </a:r>
          </a:p>
          <a:p>
            <a:pPr marL="0" indent="0" algn="just">
              <a:buNone/>
            </a:pPr>
            <a:endParaRPr lang="en-US" dirty="0">
              <a:solidFill>
                <a:srgbClr val="FF3399"/>
              </a:solidFill>
            </a:endParaRPr>
          </a:p>
          <a:p>
            <a:pPr algn="just"/>
            <a:r>
              <a:rPr lang="en-US" dirty="0"/>
              <a:t>Entrepreneurs emerge when society provides: </a:t>
            </a:r>
            <a:r>
              <a:rPr lang="en-US" b="1" dirty="0"/>
              <a:t>Education, Role models, Social acceptance and Financial support.</a:t>
            </a:r>
          </a:p>
          <a:p>
            <a:pPr marL="0" indent="0" algn="just">
              <a:buNone/>
            </a:pPr>
            <a:endParaRPr lang="en-US" dirty="0"/>
          </a:p>
          <a:p>
            <a:pPr algn="just"/>
            <a:r>
              <a:rPr lang="en-US" dirty="0"/>
              <a:t>He stated that the performance of the entrepreneur might be seen in </a:t>
            </a:r>
            <a:r>
              <a:rPr lang="en-US" dirty="0">
                <a:solidFill>
                  <a:srgbClr val="FF0000"/>
                </a:solidFill>
              </a:rPr>
              <a:t>reference to his own attitudes towards an occupation. </a:t>
            </a:r>
          </a:p>
          <a:p>
            <a:pPr algn="just"/>
            <a:endParaRPr lang="en-US" dirty="0">
              <a:solidFill>
                <a:srgbClr val="7030A0"/>
              </a:solidFill>
            </a:endParaRPr>
          </a:p>
          <a:p>
            <a:pPr algn="just"/>
            <a:r>
              <a:rPr lang="en-US" dirty="0">
                <a:solidFill>
                  <a:srgbClr val="7030A0"/>
                </a:solidFill>
              </a:rPr>
              <a:t>Values and role expectations of the particular social group </a:t>
            </a:r>
            <a:r>
              <a:rPr lang="en-US" dirty="0"/>
              <a:t>to which he belongs are the </a:t>
            </a:r>
            <a:r>
              <a:rPr lang="en-US" dirty="0">
                <a:solidFill>
                  <a:srgbClr val="7030A0"/>
                </a:solidFill>
              </a:rPr>
              <a:t>most important determinants </a:t>
            </a:r>
            <a:r>
              <a:rPr lang="en-US" dirty="0"/>
              <a:t>in the performance of business entrepreneurial roles.</a:t>
            </a:r>
          </a:p>
        </p:txBody>
      </p:sp>
    </p:spTree>
    <p:extLst>
      <p:ext uri="{BB962C8B-B14F-4D97-AF65-F5344CB8AC3E}">
        <p14:creationId xmlns:p14="http://schemas.microsoft.com/office/powerpoint/2010/main" val="290944661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228600"/>
            <a:ext cx="8229600" cy="868362"/>
          </a:xfrm>
        </p:spPr>
        <p:txBody>
          <a:bodyPr>
            <a:normAutofit/>
          </a:bodyPr>
          <a:lstStyle/>
          <a:p>
            <a:pPr>
              <a:lnSpc>
                <a:spcPct val="150000"/>
              </a:lnSpc>
            </a:pPr>
            <a:r>
              <a:rPr lang="en-US" sz="3000" b="1" i="1" dirty="0"/>
              <a:t>Frank W. Young’s Theory of Group Level Pattern</a:t>
            </a:r>
          </a:p>
        </p:txBody>
      </p:sp>
      <p:sp>
        <p:nvSpPr>
          <p:cNvPr id="3" name="Content Placeholder 2"/>
          <p:cNvSpPr>
            <a:spLocks noGrp="1"/>
          </p:cNvSpPr>
          <p:nvPr>
            <p:ph idx="1"/>
          </p:nvPr>
        </p:nvSpPr>
        <p:spPr>
          <a:xfrm>
            <a:off x="457200" y="533400"/>
            <a:ext cx="8229600" cy="6172200"/>
          </a:xfrm>
        </p:spPr>
        <p:txBody>
          <a:bodyPr>
            <a:normAutofit fontScale="25000" lnSpcReduction="20000"/>
          </a:bodyPr>
          <a:lstStyle/>
          <a:p>
            <a:pPr algn="just">
              <a:lnSpc>
                <a:spcPct val="150000"/>
              </a:lnSpc>
            </a:pPr>
            <a:r>
              <a:rPr lang="en-US" sz="8000" dirty="0"/>
              <a:t>Frank W. Young </a:t>
            </a:r>
            <a:r>
              <a:rPr lang="en-US" sz="8000" b="1" dirty="0"/>
              <a:t>explains how entrepreneurship develops in groups, not just in individuals. </a:t>
            </a:r>
          </a:p>
          <a:p>
            <a:pPr algn="just">
              <a:lnSpc>
                <a:spcPct val="150000"/>
              </a:lnSpc>
            </a:pPr>
            <a:r>
              <a:rPr lang="en-US" sz="8000" dirty="0"/>
              <a:t>He says </a:t>
            </a:r>
            <a:r>
              <a:rPr lang="en-US" sz="8000" b="1" dirty="0"/>
              <a:t>social groups, their status, and their support systems play a big role in creating entrepreneurs.</a:t>
            </a:r>
          </a:p>
          <a:p>
            <a:pPr algn="just">
              <a:lnSpc>
                <a:spcPct val="150000"/>
              </a:lnSpc>
            </a:pPr>
            <a:r>
              <a:rPr lang="en-US" sz="8000" b="1" dirty="0"/>
              <a:t>Group can be reactive in two ways</a:t>
            </a:r>
            <a:r>
              <a:rPr lang="en-US" sz="8000" dirty="0"/>
              <a:t>: if the group </a:t>
            </a:r>
            <a:r>
              <a:rPr lang="en-US" sz="8000" b="1" dirty="0"/>
              <a:t>experiences low status recognition</a:t>
            </a:r>
            <a:r>
              <a:rPr lang="en-US" sz="8000" dirty="0"/>
              <a:t> and denial of access to important social networks, </a:t>
            </a:r>
            <a:r>
              <a:rPr lang="en-US" sz="8000" b="1" dirty="0"/>
              <a:t>other with the greater access. </a:t>
            </a:r>
          </a:p>
          <a:p>
            <a:pPr algn="just">
              <a:lnSpc>
                <a:spcPct val="150000"/>
              </a:lnSpc>
            </a:pPr>
            <a:r>
              <a:rPr lang="en-US" sz="8000" b="1" dirty="0"/>
              <a:t>A group without anything will compete with other groups and try to acquire social recognition. </a:t>
            </a:r>
          </a:p>
          <a:p>
            <a:pPr algn="just">
              <a:lnSpc>
                <a:spcPct val="150000"/>
              </a:lnSpc>
            </a:pPr>
            <a:r>
              <a:rPr lang="en-US" sz="8000" b="1" dirty="0"/>
              <a:t>Low status group will lead</a:t>
            </a:r>
            <a:r>
              <a:rPr lang="en-US" sz="8000" dirty="0"/>
              <a:t> to entrepreneurial behaviour </a:t>
            </a:r>
            <a:r>
              <a:rPr lang="en-US" sz="8000" b="1" dirty="0"/>
              <a:t>if the group has better institutional resources(education, finance).</a:t>
            </a:r>
          </a:p>
          <a:p>
            <a:pPr algn="just">
              <a:lnSpc>
                <a:spcPct val="150000"/>
              </a:lnSpc>
            </a:pPr>
            <a:r>
              <a:rPr lang="en-US" sz="8000" b="1" dirty="0"/>
              <a:t>Young’s model of entrepreneurship suggests </a:t>
            </a:r>
            <a:r>
              <a:rPr lang="en-US" sz="8000" b="1" dirty="0">
                <a:solidFill>
                  <a:srgbClr val="00B0F0"/>
                </a:solidFill>
              </a:rPr>
              <a:t>the creation of supporting institutions in society, such as the education and training, family support, community support, financial institution as the determinant of entrepreneurship</a:t>
            </a:r>
            <a:r>
              <a:rPr lang="en-US" sz="7200" b="1" dirty="0">
                <a:solidFill>
                  <a:srgbClr val="00B0F0"/>
                </a:solidFill>
              </a:rPr>
              <a:t>.</a:t>
            </a:r>
          </a:p>
          <a:p>
            <a:pPr algn="just"/>
            <a:endParaRPr lang="en-US" dirty="0"/>
          </a:p>
        </p:txBody>
      </p:sp>
    </p:spTree>
    <p:extLst>
      <p:ext uri="{BB962C8B-B14F-4D97-AF65-F5344CB8AC3E}">
        <p14:creationId xmlns:p14="http://schemas.microsoft.com/office/powerpoint/2010/main" val="82235168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9100" y="-152400"/>
            <a:ext cx="8229600" cy="1143000"/>
          </a:xfrm>
        </p:spPr>
        <p:txBody>
          <a:bodyPr>
            <a:normAutofit/>
          </a:bodyPr>
          <a:lstStyle/>
          <a:p>
            <a:r>
              <a:rPr lang="en-US" sz="3600" dirty="0"/>
              <a:t>3. </a:t>
            </a:r>
            <a:r>
              <a:rPr lang="en-US" sz="3600" b="0" i="0" dirty="0"/>
              <a:t>Integrated Models</a:t>
            </a:r>
            <a:endParaRPr lang="en-US" sz="3600" dirty="0"/>
          </a:p>
        </p:txBody>
      </p:sp>
      <p:sp>
        <p:nvSpPr>
          <p:cNvPr id="3" name="Content Placeholder 2"/>
          <p:cNvSpPr>
            <a:spLocks noGrp="1"/>
          </p:cNvSpPr>
          <p:nvPr>
            <p:ph idx="1"/>
          </p:nvPr>
        </p:nvSpPr>
        <p:spPr>
          <a:xfrm>
            <a:off x="228600" y="838200"/>
            <a:ext cx="8610600" cy="5943600"/>
          </a:xfrm>
        </p:spPr>
        <p:txBody>
          <a:bodyPr>
            <a:normAutofit lnSpcReduction="10000"/>
          </a:bodyPr>
          <a:lstStyle/>
          <a:p>
            <a:pPr algn="just">
              <a:lnSpc>
                <a:spcPct val="150000"/>
              </a:lnSpc>
            </a:pPr>
            <a:r>
              <a:rPr lang="en-US" sz="1800" dirty="0">
                <a:latin typeface="Times New Roman" pitchFamily="18" charset="0"/>
                <a:cs typeface="Times New Roman" pitchFamily="18" charset="0"/>
              </a:rPr>
              <a:t>In search of an integrated approach, the behaviorists tried to </a:t>
            </a:r>
            <a:r>
              <a:rPr lang="en-US" sz="1800" b="1" dirty="0">
                <a:latin typeface="Times New Roman" pitchFamily="18" charset="0"/>
                <a:cs typeface="Times New Roman" pitchFamily="18" charset="0"/>
              </a:rPr>
              <a:t>synthesize psychology and sociology to  explain entrepreneurship.</a:t>
            </a:r>
          </a:p>
          <a:p>
            <a:pPr algn="just">
              <a:lnSpc>
                <a:spcPct val="150000"/>
              </a:lnSpc>
            </a:pPr>
            <a:r>
              <a:rPr lang="en-US" sz="1800" dirty="0">
                <a:latin typeface="Times New Roman" pitchFamily="18" charset="0"/>
                <a:cs typeface="Times New Roman" pitchFamily="18" charset="0"/>
              </a:rPr>
              <a:t>It looks at </a:t>
            </a:r>
            <a:r>
              <a:rPr lang="en-US" sz="1800" b="1" dirty="0">
                <a:latin typeface="Times New Roman" pitchFamily="18" charset="0"/>
                <a:cs typeface="Times New Roman" pitchFamily="18" charset="0"/>
              </a:rPr>
              <a:t>personal qualities of a person </a:t>
            </a:r>
            <a:r>
              <a:rPr lang="en-US" sz="1800" dirty="0">
                <a:latin typeface="Times New Roman" pitchFamily="18" charset="0"/>
                <a:cs typeface="Times New Roman" pitchFamily="18" charset="0"/>
              </a:rPr>
              <a:t>(psychology) and </a:t>
            </a:r>
            <a:r>
              <a:rPr lang="en-US" sz="1800" b="1" dirty="0">
                <a:latin typeface="Times New Roman" pitchFamily="18" charset="0"/>
                <a:cs typeface="Times New Roman" pitchFamily="18" charset="0"/>
              </a:rPr>
              <a:t>also the social and environmental conditions</a:t>
            </a:r>
            <a:r>
              <a:rPr lang="en-US" sz="1800" dirty="0">
                <a:latin typeface="Times New Roman" pitchFamily="18" charset="0"/>
                <a:cs typeface="Times New Roman" pitchFamily="18" charset="0"/>
              </a:rPr>
              <a:t> (society)</a:t>
            </a:r>
          </a:p>
          <a:p>
            <a:pPr algn="just">
              <a:lnSpc>
                <a:spcPct val="150000"/>
              </a:lnSpc>
            </a:pPr>
            <a:r>
              <a:rPr lang="en-US" sz="1800" b="1" dirty="0">
                <a:latin typeface="Times New Roman" pitchFamily="18" charset="0"/>
                <a:cs typeface="Times New Roman" pitchFamily="18" charset="0"/>
              </a:rPr>
              <a:t>According to T.V. </a:t>
            </a:r>
            <a:r>
              <a:rPr lang="en-US" sz="1800" b="1" dirty="0" err="1">
                <a:latin typeface="Times New Roman" pitchFamily="18" charset="0"/>
                <a:cs typeface="Times New Roman" pitchFamily="18" charset="0"/>
              </a:rPr>
              <a:t>Raos</a:t>
            </a:r>
            <a:r>
              <a:rPr lang="en-US" sz="1800" b="1" dirty="0">
                <a:latin typeface="Times New Roman" pitchFamily="18" charset="0"/>
                <a:cs typeface="Times New Roman" pitchFamily="18" charset="0"/>
              </a:rPr>
              <a:t>, the optimal presence of the following factors, leads to the initiation of entrepreneurship.</a:t>
            </a:r>
          </a:p>
          <a:p>
            <a:pPr marL="514350" indent="-514350" algn="just">
              <a:lnSpc>
                <a:spcPct val="150000"/>
              </a:lnSpc>
              <a:buAutoNum type="arabicPeriod"/>
            </a:pPr>
            <a:r>
              <a:rPr lang="en-US" sz="1800" dirty="0">
                <a:latin typeface="Times New Roman" pitchFamily="18" charset="0"/>
                <a:cs typeface="Times New Roman" pitchFamily="18" charset="0"/>
              </a:rPr>
              <a:t>Need for motive</a:t>
            </a:r>
          </a:p>
          <a:p>
            <a:pPr marL="514350" indent="-514350" algn="just">
              <a:lnSpc>
                <a:spcPct val="150000"/>
              </a:lnSpc>
              <a:buAutoNum type="arabicPeriod"/>
            </a:pPr>
            <a:r>
              <a:rPr lang="en-US" sz="1800" dirty="0">
                <a:latin typeface="Times New Roman" pitchFamily="18" charset="0"/>
                <a:cs typeface="Times New Roman" pitchFamily="18" charset="0"/>
              </a:rPr>
              <a:t>Long term involvement in thought and action to achieve the goal in entrepreneurial activity.</a:t>
            </a:r>
          </a:p>
          <a:p>
            <a:pPr marL="514350" indent="-514350" algn="just">
              <a:lnSpc>
                <a:spcPct val="150000"/>
              </a:lnSpc>
              <a:buAutoNum type="arabicPeriod"/>
            </a:pPr>
            <a:r>
              <a:rPr lang="en-US" sz="1800" dirty="0">
                <a:latin typeface="Times New Roman" pitchFamily="18" charset="0"/>
                <a:cs typeface="Times New Roman" pitchFamily="18" charset="0"/>
              </a:rPr>
              <a:t>Personal(skills, knowledge and confidence), social(family support and networks) and material resources(land, labor, capital, machinery) favorable to entrepreneurial activity.</a:t>
            </a:r>
          </a:p>
          <a:p>
            <a:pPr marL="514350" indent="-514350" algn="just">
              <a:lnSpc>
                <a:spcPct val="150000"/>
              </a:lnSpc>
              <a:buAutoNum type="arabicPeriod"/>
            </a:pPr>
            <a:r>
              <a:rPr lang="en-US" sz="1800" dirty="0">
                <a:latin typeface="Times New Roman" pitchFamily="18" charset="0"/>
                <a:cs typeface="Times New Roman" pitchFamily="18" charset="0"/>
              </a:rPr>
              <a:t>Suitable sociopolitical System such as government policies, infrastructure and political stability  for the establishment, development, and expansion of an enterprise.</a:t>
            </a:r>
          </a:p>
        </p:txBody>
      </p:sp>
    </p:spTree>
    <p:extLst>
      <p:ext uri="{BB962C8B-B14F-4D97-AF65-F5344CB8AC3E}">
        <p14:creationId xmlns:p14="http://schemas.microsoft.com/office/powerpoint/2010/main" val="171969353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gn="ctr">
              <a:buNone/>
            </a:pPr>
            <a:r>
              <a:rPr lang="en-US" dirty="0"/>
              <a:t>   </a:t>
            </a:r>
            <a:r>
              <a:rPr lang="en-US" sz="5400" dirty="0"/>
              <a:t>INTRODUCTION TO ENTREPRENEUR AND PROFESSIONAL MANAGERS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Functions of Entrepreneur and Manager in managing organization</a:t>
            </a:r>
          </a:p>
        </p:txBody>
      </p:sp>
      <p:sp>
        <p:nvSpPr>
          <p:cNvPr id="3" name="Content Placeholder 2"/>
          <p:cNvSpPr>
            <a:spLocks noGrp="1"/>
          </p:cNvSpPr>
          <p:nvPr>
            <p:ph idx="1"/>
          </p:nvPr>
        </p:nvSpPr>
        <p:spPr/>
        <p:txBody>
          <a:bodyPr>
            <a:normAutofit/>
          </a:bodyPr>
          <a:lstStyle/>
          <a:p>
            <a:r>
              <a:rPr lang="en-US" sz="2400" b="1" u="sng" dirty="0"/>
              <a:t>Planning- </a:t>
            </a:r>
            <a:r>
              <a:rPr lang="en-US" sz="2000" dirty="0"/>
              <a:t>Entrepreneur </a:t>
            </a:r>
            <a:r>
              <a:rPr lang="en-US" sz="2000" b="1" dirty="0"/>
              <a:t>plans new ideas, vision, and future growth </a:t>
            </a:r>
            <a:r>
              <a:rPr lang="en-US" sz="2000" dirty="0"/>
              <a:t>of the business. Manager </a:t>
            </a:r>
            <a:r>
              <a:rPr lang="en-US" sz="2000" b="1" dirty="0"/>
              <a:t>plans day-to-day activities </a:t>
            </a:r>
            <a:r>
              <a:rPr lang="en-US" sz="2000" dirty="0"/>
              <a:t>to achieve set targets.</a:t>
            </a:r>
            <a:endParaRPr lang="en-US" sz="2400" dirty="0"/>
          </a:p>
          <a:p>
            <a:r>
              <a:rPr lang="en-US" sz="2400" b="1" u="sng" dirty="0"/>
              <a:t>Organizing- </a:t>
            </a:r>
            <a:r>
              <a:rPr lang="en-US" sz="2000" dirty="0"/>
              <a:t>Entrepreneur creates the </a:t>
            </a:r>
            <a:r>
              <a:rPr lang="en-US" sz="2000" b="1" dirty="0"/>
              <a:t>basic structure of the organization</a:t>
            </a:r>
            <a:r>
              <a:rPr lang="en-US" sz="2000" dirty="0"/>
              <a:t>. Manager uses and </a:t>
            </a:r>
            <a:r>
              <a:rPr lang="en-US" sz="2000" b="1" dirty="0"/>
              <a:t>maintains the existing structure efficiently</a:t>
            </a:r>
            <a:r>
              <a:rPr lang="en-US" sz="2000" dirty="0"/>
              <a:t>.</a:t>
            </a:r>
          </a:p>
          <a:p>
            <a:r>
              <a:rPr lang="en-US" sz="2400" b="1" u="sng" dirty="0"/>
              <a:t>Staffing-</a:t>
            </a:r>
            <a:r>
              <a:rPr lang="en-US" sz="2400" dirty="0"/>
              <a:t> </a:t>
            </a:r>
            <a:r>
              <a:rPr lang="en-US" sz="2000" dirty="0"/>
              <a:t>Entrepreneur decides </a:t>
            </a:r>
            <a:r>
              <a:rPr lang="en-US" sz="2000" b="1" dirty="0"/>
              <a:t>manpower needs and key positions</a:t>
            </a:r>
            <a:r>
              <a:rPr lang="en-US" sz="2000" dirty="0"/>
              <a:t>. Manager </a:t>
            </a:r>
            <a:r>
              <a:rPr lang="en-US" sz="2000" b="1" dirty="0"/>
              <a:t>recruits, trains, and supervises </a:t>
            </a:r>
            <a:r>
              <a:rPr lang="en-US" sz="2000" dirty="0"/>
              <a:t>employees.</a:t>
            </a:r>
            <a:endParaRPr lang="en-US" sz="2400" dirty="0"/>
          </a:p>
          <a:p>
            <a:r>
              <a:rPr lang="en-US" sz="2400" b="1" u="sng" dirty="0"/>
              <a:t>Directing- </a:t>
            </a:r>
            <a:r>
              <a:rPr lang="en-US" sz="2000" dirty="0"/>
              <a:t>Entrepreneur provides </a:t>
            </a:r>
            <a:r>
              <a:rPr lang="en-US" sz="2000" b="1" dirty="0"/>
              <a:t>leadership, inspiration, and motivation</a:t>
            </a:r>
            <a:r>
              <a:rPr lang="en-US" sz="2000" dirty="0"/>
              <a:t>. Manager gives </a:t>
            </a:r>
            <a:r>
              <a:rPr lang="en-US" sz="2000" b="1" dirty="0"/>
              <a:t>instructions, guidance, and supervision</a:t>
            </a:r>
            <a:r>
              <a:rPr lang="en-US" sz="2000" dirty="0"/>
              <a:t>.</a:t>
            </a:r>
          </a:p>
          <a:p>
            <a:r>
              <a:rPr lang="en-US" sz="2400" b="1" u="sng" dirty="0"/>
              <a:t>Controlling-</a:t>
            </a:r>
            <a:r>
              <a:rPr lang="en-US" sz="2400" dirty="0"/>
              <a:t> </a:t>
            </a:r>
            <a:r>
              <a:rPr lang="en-US" sz="2000" dirty="0"/>
              <a:t>Entrepreneur </a:t>
            </a:r>
            <a:r>
              <a:rPr lang="en-US" sz="2000" b="1" dirty="0"/>
              <a:t>controls performance at a strategic level</a:t>
            </a:r>
            <a:r>
              <a:rPr lang="en-US" sz="2000" dirty="0"/>
              <a:t>. Manager </a:t>
            </a:r>
            <a:r>
              <a:rPr lang="en-US" sz="2000" b="1" dirty="0"/>
              <a:t>controls daily operations and corrects deviations</a:t>
            </a:r>
            <a:r>
              <a:rPr lang="en-US" sz="2000" dirty="0"/>
              <a:t>.</a:t>
            </a:r>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28600"/>
            <a:ext cx="9144000" cy="758952"/>
          </a:xfrm>
        </p:spPr>
        <p:txBody>
          <a:bodyPr>
            <a:normAutofit fontScale="90000"/>
          </a:bodyPr>
          <a:lstStyle/>
          <a:p>
            <a:r>
              <a:rPr lang="en-US" b="1" dirty="0"/>
              <a:t>Managers and Entrepreneurs (Similarities)</a:t>
            </a:r>
          </a:p>
        </p:txBody>
      </p:sp>
      <p:pic>
        <p:nvPicPr>
          <p:cNvPr id="1026" name="Picture 2" descr="E:\Teaching-SVNIT\IIIT\I&amp;E\WhatsApp Image 2020-10-07 at 17.51.38.jpeg"/>
          <p:cNvPicPr>
            <a:picLocks noGrp="1" noChangeAspect="1" noChangeArrowheads="1"/>
          </p:cNvPicPr>
          <p:nvPr>
            <p:ph sz="quarter" idx="1"/>
          </p:nvPr>
        </p:nvPicPr>
        <p:blipFill>
          <a:blip r:embed="rId2"/>
          <a:srcRect b="8541"/>
          <a:stretch>
            <a:fillRect/>
          </a:stretch>
        </p:blipFill>
        <p:spPr bwMode="auto">
          <a:xfrm>
            <a:off x="304800" y="1219200"/>
            <a:ext cx="8688882" cy="5029200"/>
          </a:xfrm>
          <a:prstGeom prst="rect">
            <a:avLst/>
          </a:prstGeom>
          <a:noFill/>
        </p:spPr>
      </p:pic>
      <mc:AlternateContent xmlns:mc="http://schemas.openxmlformats.org/markup-compatibility/2006" xmlns:p14="http://schemas.microsoft.com/office/powerpoint/2010/main">
        <mc:Choice Requires="p14">
          <p:contentPart p14:bwMode="auto" r:id="rId3">
            <p14:nvContentPartPr>
              <p14:cNvPr id="7" name="Ink 6">
                <a:extLst>
                  <a:ext uri="{FF2B5EF4-FFF2-40B4-BE49-F238E27FC236}">
                    <a16:creationId xmlns:a16="http://schemas.microsoft.com/office/drawing/2014/main" id="{E9F0F20B-5C33-1353-231C-8C69D930733D}"/>
                  </a:ext>
                </a:extLst>
              </p14:cNvPr>
              <p14:cNvContentPartPr/>
              <p14:nvPr/>
            </p14:nvContentPartPr>
            <p14:xfrm>
              <a:off x="2437980" y="2369460"/>
              <a:ext cx="1783800" cy="15480"/>
            </p14:xfrm>
          </p:contentPart>
        </mc:Choice>
        <mc:Fallback xmlns="">
          <p:pic>
            <p:nvPicPr>
              <p:cNvPr id="7" name="Ink 6">
                <a:extLst>
                  <a:ext uri="{FF2B5EF4-FFF2-40B4-BE49-F238E27FC236}">
                    <a16:creationId xmlns:a16="http://schemas.microsoft.com/office/drawing/2014/main" id="{E9F0F20B-5C33-1353-231C-8C69D930733D}"/>
                  </a:ext>
                </a:extLst>
              </p:cNvPr>
              <p:cNvPicPr/>
              <p:nvPr/>
            </p:nvPicPr>
            <p:blipFill>
              <a:blip r:embed="rId4"/>
              <a:stretch>
                <a:fillRect/>
              </a:stretch>
            </p:blipFill>
            <p:spPr>
              <a:xfrm>
                <a:off x="2401980" y="2297820"/>
                <a:ext cx="1855440" cy="15912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8" name="Ink 7">
                <a:extLst>
                  <a:ext uri="{FF2B5EF4-FFF2-40B4-BE49-F238E27FC236}">
                    <a16:creationId xmlns:a16="http://schemas.microsoft.com/office/drawing/2014/main" id="{30B8B06D-4EF3-E194-6A04-D030B99A1213}"/>
                  </a:ext>
                </a:extLst>
              </p14:cNvPr>
              <p14:cNvContentPartPr/>
              <p14:nvPr/>
            </p14:nvContentPartPr>
            <p14:xfrm>
              <a:off x="6804780" y="2208900"/>
              <a:ext cx="837720" cy="16200"/>
            </p14:xfrm>
          </p:contentPart>
        </mc:Choice>
        <mc:Fallback xmlns="">
          <p:pic>
            <p:nvPicPr>
              <p:cNvPr id="8" name="Ink 7">
                <a:extLst>
                  <a:ext uri="{FF2B5EF4-FFF2-40B4-BE49-F238E27FC236}">
                    <a16:creationId xmlns:a16="http://schemas.microsoft.com/office/drawing/2014/main" id="{30B8B06D-4EF3-E194-6A04-D030B99A1213}"/>
                  </a:ext>
                </a:extLst>
              </p:cNvPr>
              <p:cNvPicPr/>
              <p:nvPr/>
            </p:nvPicPr>
            <p:blipFill>
              <a:blip r:embed="rId6"/>
              <a:stretch>
                <a:fillRect/>
              </a:stretch>
            </p:blipFill>
            <p:spPr>
              <a:xfrm>
                <a:off x="6768780" y="2137260"/>
                <a:ext cx="909360" cy="15984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0" name="Ink 9">
                <a:extLst>
                  <a:ext uri="{FF2B5EF4-FFF2-40B4-BE49-F238E27FC236}">
                    <a16:creationId xmlns:a16="http://schemas.microsoft.com/office/drawing/2014/main" id="{8F42175D-0C47-DB9A-F9D3-4430ABB1D236}"/>
                  </a:ext>
                </a:extLst>
              </p14:cNvPr>
              <p14:cNvContentPartPr/>
              <p14:nvPr/>
            </p14:nvContentPartPr>
            <p14:xfrm>
              <a:off x="5463060" y="2384940"/>
              <a:ext cx="3101760" cy="30960"/>
            </p14:xfrm>
          </p:contentPart>
        </mc:Choice>
        <mc:Fallback xmlns="">
          <p:pic>
            <p:nvPicPr>
              <p:cNvPr id="10" name="Ink 9">
                <a:extLst>
                  <a:ext uri="{FF2B5EF4-FFF2-40B4-BE49-F238E27FC236}">
                    <a16:creationId xmlns:a16="http://schemas.microsoft.com/office/drawing/2014/main" id="{8F42175D-0C47-DB9A-F9D3-4430ABB1D236}"/>
                  </a:ext>
                </a:extLst>
              </p:cNvPr>
              <p:cNvPicPr/>
              <p:nvPr/>
            </p:nvPicPr>
            <p:blipFill>
              <a:blip r:embed="rId8"/>
              <a:stretch>
                <a:fillRect/>
              </a:stretch>
            </p:blipFill>
            <p:spPr>
              <a:xfrm>
                <a:off x="5427420" y="2312940"/>
                <a:ext cx="3173400" cy="174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2" name="Ink 11">
                <a:extLst>
                  <a:ext uri="{FF2B5EF4-FFF2-40B4-BE49-F238E27FC236}">
                    <a16:creationId xmlns:a16="http://schemas.microsoft.com/office/drawing/2014/main" id="{718302FC-CDBE-1D3E-D366-727655D8F8E4}"/>
                  </a:ext>
                </a:extLst>
              </p14:cNvPr>
              <p14:cNvContentPartPr/>
              <p14:nvPr/>
            </p14:nvContentPartPr>
            <p14:xfrm>
              <a:off x="3832620" y="3063180"/>
              <a:ext cx="884160" cy="23400"/>
            </p14:xfrm>
          </p:contentPart>
        </mc:Choice>
        <mc:Fallback xmlns="">
          <p:pic>
            <p:nvPicPr>
              <p:cNvPr id="12" name="Ink 11">
                <a:extLst>
                  <a:ext uri="{FF2B5EF4-FFF2-40B4-BE49-F238E27FC236}">
                    <a16:creationId xmlns:a16="http://schemas.microsoft.com/office/drawing/2014/main" id="{718302FC-CDBE-1D3E-D366-727655D8F8E4}"/>
                  </a:ext>
                </a:extLst>
              </p:cNvPr>
              <p:cNvPicPr/>
              <p:nvPr/>
            </p:nvPicPr>
            <p:blipFill>
              <a:blip r:embed="rId10"/>
              <a:stretch>
                <a:fillRect/>
              </a:stretch>
            </p:blipFill>
            <p:spPr>
              <a:xfrm>
                <a:off x="3796980" y="2991180"/>
                <a:ext cx="955800" cy="16704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4" name="Ink 13">
                <a:extLst>
                  <a:ext uri="{FF2B5EF4-FFF2-40B4-BE49-F238E27FC236}">
                    <a16:creationId xmlns:a16="http://schemas.microsoft.com/office/drawing/2014/main" id="{B690AB68-4AB7-431B-DEBC-85A736A73918}"/>
                  </a:ext>
                </a:extLst>
              </p14:cNvPr>
              <p14:cNvContentPartPr/>
              <p14:nvPr/>
            </p14:nvContentPartPr>
            <p14:xfrm>
              <a:off x="5653500" y="3063180"/>
              <a:ext cx="603000" cy="46080"/>
            </p14:xfrm>
          </p:contentPart>
        </mc:Choice>
        <mc:Fallback xmlns="">
          <p:pic>
            <p:nvPicPr>
              <p:cNvPr id="14" name="Ink 13">
                <a:extLst>
                  <a:ext uri="{FF2B5EF4-FFF2-40B4-BE49-F238E27FC236}">
                    <a16:creationId xmlns:a16="http://schemas.microsoft.com/office/drawing/2014/main" id="{B690AB68-4AB7-431B-DEBC-85A736A73918}"/>
                  </a:ext>
                </a:extLst>
              </p:cNvPr>
              <p:cNvPicPr/>
              <p:nvPr/>
            </p:nvPicPr>
            <p:blipFill>
              <a:blip r:embed="rId12"/>
              <a:stretch>
                <a:fillRect/>
              </a:stretch>
            </p:blipFill>
            <p:spPr>
              <a:xfrm>
                <a:off x="5617500" y="2991180"/>
                <a:ext cx="674640" cy="18972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5" name="Ink 14">
                <a:extLst>
                  <a:ext uri="{FF2B5EF4-FFF2-40B4-BE49-F238E27FC236}">
                    <a16:creationId xmlns:a16="http://schemas.microsoft.com/office/drawing/2014/main" id="{5C064B96-B61C-F31B-EC07-D3107556C242}"/>
                  </a:ext>
                </a:extLst>
              </p14:cNvPr>
              <p14:cNvContentPartPr/>
              <p14:nvPr/>
            </p14:nvContentPartPr>
            <p14:xfrm>
              <a:off x="2400180" y="3328500"/>
              <a:ext cx="2508120" cy="93240"/>
            </p14:xfrm>
          </p:contentPart>
        </mc:Choice>
        <mc:Fallback xmlns="">
          <p:pic>
            <p:nvPicPr>
              <p:cNvPr id="15" name="Ink 14">
                <a:extLst>
                  <a:ext uri="{FF2B5EF4-FFF2-40B4-BE49-F238E27FC236}">
                    <a16:creationId xmlns:a16="http://schemas.microsoft.com/office/drawing/2014/main" id="{5C064B96-B61C-F31B-EC07-D3107556C242}"/>
                  </a:ext>
                </a:extLst>
              </p:cNvPr>
              <p:cNvPicPr/>
              <p:nvPr/>
            </p:nvPicPr>
            <p:blipFill>
              <a:blip r:embed="rId14"/>
              <a:stretch>
                <a:fillRect/>
              </a:stretch>
            </p:blipFill>
            <p:spPr>
              <a:xfrm>
                <a:off x="2364180" y="3256860"/>
                <a:ext cx="2579760" cy="23688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6" name="Ink 15">
                <a:extLst>
                  <a:ext uri="{FF2B5EF4-FFF2-40B4-BE49-F238E27FC236}">
                    <a16:creationId xmlns:a16="http://schemas.microsoft.com/office/drawing/2014/main" id="{6C1C1A8B-A279-C05C-E678-E6B9699FF6F3}"/>
                  </a:ext>
                </a:extLst>
              </p14:cNvPr>
              <p14:cNvContentPartPr/>
              <p14:nvPr/>
            </p14:nvContentPartPr>
            <p14:xfrm>
              <a:off x="5463420" y="3398340"/>
              <a:ext cx="1630440" cy="360"/>
            </p14:xfrm>
          </p:contentPart>
        </mc:Choice>
        <mc:Fallback xmlns="">
          <p:pic>
            <p:nvPicPr>
              <p:cNvPr id="16" name="Ink 15">
                <a:extLst>
                  <a:ext uri="{FF2B5EF4-FFF2-40B4-BE49-F238E27FC236}">
                    <a16:creationId xmlns:a16="http://schemas.microsoft.com/office/drawing/2014/main" id="{6C1C1A8B-A279-C05C-E678-E6B9699FF6F3}"/>
                  </a:ext>
                </a:extLst>
              </p:cNvPr>
              <p:cNvPicPr/>
              <p:nvPr/>
            </p:nvPicPr>
            <p:blipFill>
              <a:blip r:embed="rId16"/>
              <a:stretch>
                <a:fillRect/>
              </a:stretch>
            </p:blipFill>
            <p:spPr>
              <a:xfrm>
                <a:off x="5427420" y="3326340"/>
                <a:ext cx="1702080" cy="14400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9" name="Ink 18">
                <a:extLst>
                  <a:ext uri="{FF2B5EF4-FFF2-40B4-BE49-F238E27FC236}">
                    <a16:creationId xmlns:a16="http://schemas.microsoft.com/office/drawing/2014/main" id="{38E5DEC1-0896-C802-BFC7-5CE087DA9BCB}"/>
                  </a:ext>
                </a:extLst>
              </p14:cNvPr>
              <p14:cNvContentPartPr/>
              <p14:nvPr/>
            </p14:nvContentPartPr>
            <p14:xfrm>
              <a:off x="2697180" y="4076220"/>
              <a:ext cx="2286360" cy="15840"/>
            </p14:xfrm>
          </p:contentPart>
        </mc:Choice>
        <mc:Fallback xmlns="">
          <p:pic>
            <p:nvPicPr>
              <p:cNvPr id="19" name="Ink 18">
                <a:extLst>
                  <a:ext uri="{FF2B5EF4-FFF2-40B4-BE49-F238E27FC236}">
                    <a16:creationId xmlns:a16="http://schemas.microsoft.com/office/drawing/2014/main" id="{38E5DEC1-0896-C802-BFC7-5CE087DA9BCB}"/>
                  </a:ext>
                </a:extLst>
              </p:cNvPr>
              <p:cNvPicPr/>
              <p:nvPr/>
            </p:nvPicPr>
            <p:blipFill>
              <a:blip r:embed="rId18"/>
              <a:stretch>
                <a:fillRect/>
              </a:stretch>
            </p:blipFill>
            <p:spPr>
              <a:xfrm>
                <a:off x="2661180" y="4004220"/>
                <a:ext cx="2358000" cy="15948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20" name="Ink 19">
                <a:extLst>
                  <a:ext uri="{FF2B5EF4-FFF2-40B4-BE49-F238E27FC236}">
                    <a16:creationId xmlns:a16="http://schemas.microsoft.com/office/drawing/2014/main" id="{40985E3D-6473-49A9-4C56-8F11CDF5300F}"/>
                  </a:ext>
                </a:extLst>
              </p14:cNvPr>
              <p14:cNvContentPartPr/>
              <p14:nvPr/>
            </p14:nvContentPartPr>
            <p14:xfrm>
              <a:off x="6675180" y="4078020"/>
              <a:ext cx="1458000" cy="29880"/>
            </p14:xfrm>
          </p:contentPart>
        </mc:Choice>
        <mc:Fallback xmlns="">
          <p:pic>
            <p:nvPicPr>
              <p:cNvPr id="20" name="Ink 19">
                <a:extLst>
                  <a:ext uri="{FF2B5EF4-FFF2-40B4-BE49-F238E27FC236}">
                    <a16:creationId xmlns:a16="http://schemas.microsoft.com/office/drawing/2014/main" id="{40985E3D-6473-49A9-4C56-8F11CDF5300F}"/>
                  </a:ext>
                </a:extLst>
              </p:cNvPr>
              <p:cNvPicPr/>
              <p:nvPr/>
            </p:nvPicPr>
            <p:blipFill>
              <a:blip r:embed="rId20"/>
              <a:stretch>
                <a:fillRect/>
              </a:stretch>
            </p:blipFill>
            <p:spPr>
              <a:xfrm>
                <a:off x="6639180" y="4006020"/>
                <a:ext cx="1529640" cy="17352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23" name="Ink 22">
                <a:extLst>
                  <a:ext uri="{FF2B5EF4-FFF2-40B4-BE49-F238E27FC236}">
                    <a16:creationId xmlns:a16="http://schemas.microsoft.com/office/drawing/2014/main" id="{498D9F21-31A0-47FD-AD20-4077BD4F327A}"/>
                  </a:ext>
                </a:extLst>
              </p14:cNvPr>
              <p14:cNvContentPartPr/>
              <p14:nvPr/>
            </p14:nvContentPartPr>
            <p14:xfrm>
              <a:off x="2407740" y="4441260"/>
              <a:ext cx="2279520" cy="47160"/>
            </p14:xfrm>
          </p:contentPart>
        </mc:Choice>
        <mc:Fallback xmlns="">
          <p:pic>
            <p:nvPicPr>
              <p:cNvPr id="23" name="Ink 22">
                <a:extLst>
                  <a:ext uri="{FF2B5EF4-FFF2-40B4-BE49-F238E27FC236}">
                    <a16:creationId xmlns:a16="http://schemas.microsoft.com/office/drawing/2014/main" id="{498D9F21-31A0-47FD-AD20-4077BD4F327A}"/>
                  </a:ext>
                </a:extLst>
              </p:cNvPr>
              <p:cNvPicPr/>
              <p:nvPr/>
            </p:nvPicPr>
            <p:blipFill>
              <a:blip r:embed="rId22"/>
              <a:stretch>
                <a:fillRect/>
              </a:stretch>
            </p:blipFill>
            <p:spPr>
              <a:xfrm>
                <a:off x="2371740" y="4369260"/>
                <a:ext cx="2351160" cy="19080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24" name="Ink 23">
                <a:extLst>
                  <a:ext uri="{FF2B5EF4-FFF2-40B4-BE49-F238E27FC236}">
                    <a16:creationId xmlns:a16="http://schemas.microsoft.com/office/drawing/2014/main" id="{DB5280B6-9104-9326-BEE3-1FD1F04DD343}"/>
                  </a:ext>
                </a:extLst>
              </p14:cNvPr>
              <p14:cNvContentPartPr/>
              <p14:nvPr/>
            </p14:nvContentPartPr>
            <p14:xfrm>
              <a:off x="2377500" y="4678140"/>
              <a:ext cx="2198520" cy="33120"/>
            </p14:xfrm>
          </p:contentPart>
        </mc:Choice>
        <mc:Fallback xmlns="">
          <p:pic>
            <p:nvPicPr>
              <p:cNvPr id="24" name="Ink 23">
                <a:extLst>
                  <a:ext uri="{FF2B5EF4-FFF2-40B4-BE49-F238E27FC236}">
                    <a16:creationId xmlns:a16="http://schemas.microsoft.com/office/drawing/2014/main" id="{DB5280B6-9104-9326-BEE3-1FD1F04DD343}"/>
                  </a:ext>
                </a:extLst>
              </p:cNvPr>
              <p:cNvPicPr/>
              <p:nvPr/>
            </p:nvPicPr>
            <p:blipFill>
              <a:blip r:embed="rId24"/>
              <a:stretch>
                <a:fillRect/>
              </a:stretch>
            </p:blipFill>
            <p:spPr>
              <a:xfrm>
                <a:off x="2341500" y="4606140"/>
                <a:ext cx="2270160" cy="17676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25" name="Ink 24">
                <a:extLst>
                  <a:ext uri="{FF2B5EF4-FFF2-40B4-BE49-F238E27FC236}">
                    <a16:creationId xmlns:a16="http://schemas.microsoft.com/office/drawing/2014/main" id="{09E15E58-4713-389E-815D-61655FBE90E4}"/>
                  </a:ext>
                </a:extLst>
              </p14:cNvPr>
              <p14:cNvContentPartPr/>
              <p14:nvPr/>
            </p14:nvContentPartPr>
            <p14:xfrm>
              <a:off x="2385060" y="4852020"/>
              <a:ext cx="2251440" cy="65160"/>
            </p14:xfrm>
          </p:contentPart>
        </mc:Choice>
        <mc:Fallback xmlns="">
          <p:pic>
            <p:nvPicPr>
              <p:cNvPr id="25" name="Ink 24">
                <a:extLst>
                  <a:ext uri="{FF2B5EF4-FFF2-40B4-BE49-F238E27FC236}">
                    <a16:creationId xmlns:a16="http://schemas.microsoft.com/office/drawing/2014/main" id="{09E15E58-4713-389E-815D-61655FBE90E4}"/>
                  </a:ext>
                </a:extLst>
              </p:cNvPr>
              <p:cNvPicPr/>
              <p:nvPr/>
            </p:nvPicPr>
            <p:blipFill>
              <a:blip r:embed="rId26"/>
              <a:stretch>
                <a:fillRect/>
              </a:stretch>
            </p:blipFill>
            <p:spPr>
              <a:xfrm>
                <a:off x="2349060" y="4780020"/>
                <a:ext cx="2323080" cy="20880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27" name="Ink 26">
                <a:extLst>
                  <a:ext uri="{FF2B5EF4-FFF2-40B4-BE49-F238E27FC236}">
                    <a16:creationId xmlns:a16="http://schemas.microsoft.com/office/drawing/2014/main" id="{ACD14ED5-3DC9-EB6E-CD32-47FE47B9F574}"/>
                  </a:ext>
                </a:extLst>
              </p14:cNvPr>
              <p14:cNvContentPartPr/>
              <p14:nvPr/>
            </p14:nvContentPartPr>
            <p14:xfrm>
              <a:off x="5425260" y="4465020"/>
              <a:ext cx="2408400" cy="720"/>
            </p14:xfrm>
          </p:contentPart>
        </mc:Choice>
        <mc:Fallback xmlns="">
          <p:pic>
            <p:nvPicPr>
              <p:cNvPr id="27" name="Ink 26">
                <a:extLst>
                  <a:ext uri="{FF2B5EF4-FFF2-40B4-BE49-F238E27FC236}">
                    <a16:creationId xmlns:a16="http://schemas.microsoft.com/office/drawing/2014/main" id="{ACD14ED5-3DC9-EB6E-CD32-47FE47B9F574}"/>
                  </a:ext>
                </a:extLst>
              </p:cNvPr>
              <p:cNvPicPr/>
              <p:nvPr/>
            </p:nvPicPr>
            <p:blipFill>
              <a:blip r:embed="rId28"/>
              <a:stretch>
                <a:fillRect/>
              </a:stretch>
            </p:blipFill>
            <p:spPr>
              <a:xfrm>
                <a:off x="5389260" y="4321020"/>
                <a:ext cx="2480040" cy="28800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28" name="Ink 27">
                <a:extLst>
                  <a:ext uri="{FF2B5EF4-FFF2-40B4-BE49-F238E27FC236}">
                    <a16:creationId xmlns:a16="http://schemas.microsoft.com/office/drawing/2014/main" id="{BAA3E7B3-3D3D-62BA-2165-DB3017ECF3B8}"/>
                  </a:ext>
                </a:extLst>
              </p14:cNvPr>
              <p14:cNvContentPartPr/>
              <p14:nvPr/>
            </p14:nvContentPartPr>
            <p14:xfrm>
              <a:off x="5448300" y="4655100"/>
              <a:ext cx="2308320" cy="16920"/>
            </p14:xfrm>
          </p:contentPart>
        </mc:Choice>
        <mc:Fallback xmlns="">
          <p:pic>
            <p:nvPicPr>
              <p:cNvPr id="28" name="Ink 27">
                <a:extLst>
                  <a:ext uri="{FF2B5EF4-FFF2-40B4-BE49-F238E27FC236}">
                    <a16:creationId xmlns:a16="http://schemas.microsoft.com/office/drawing/2014/main" id="{BAA3E7B3-3D3D-62BA-2165-DB3017ECF3B8}"/>
                  </a:ext>
                </a:extLst>
              </p:cNvPr>
              <p:cNvPicPr/>
              <p:nvPr/>
            </p:nvPicPr>
            <p:blipFill>
              <a:blip r:embed="rId30"/>
              <a:stretch>
                <a:fillRect/>
              </a:stretch>
            </p:blipFill>
            <p:spPr>
              <a:xfrm>
                <a:off x="5412300" y="4583100"/>
                <a:ext cx="2379960" cy="16056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30" name="Ink 29">
                <a:extLst>
                  <a:ext uri="{FF2B5EF4-FFF2-40B4-BE49-F238E27FC236}">
                    <a16:creationId xmlns:a16="http://schemas.microsoft.com/office/drawing/2014/main" id="{2822230F-0111-4B86-505C-DF7248D3D77A}"/>
                  </a:ext>
                </a:extLst>
              </p14:cNvPr>
              <p14:cNvContentPartPr/>
              <p14:nvPr/>
            </p14:nvContentPartPr>
            <p14:xfrm>
              <a:off x="5432820" y="4838700"/>
              <a:ext cx="929880" cy="22680"/>
            </p14:xfrm>
          </p:contentPart>
        </mc:Choice>
        <mc:Fallback xmlns="">
          <p:pic>
            <p:nvPicPr>
              <p:cNvPr id="30" name="Ink 29">
                <a:extLst>
                  <a:ext uri="{FF2B5EF4-FFF2-40B4-BE49-F238E27FC236}">
                    <a16:creationId xmlns:a16="http://schemas.microsoft.com/office/drawing/2014/main" id="{2822230F-0111-4B86-505C-DF7248D3D77A}"/>
                  </a:ext>
                </a:extLst>
              </p:cNvPr>
              <p:cNvPicPr/>
              <p:nvPr/>
            </p:nvPicPr>
            <p:blipFill>
              <a:blip r:embed="rId32"/>
              <a:stretch>
                <a:fillRect/>
              </a:stretch>
            </p:blipFill>
            <p:spPr>
              <a:xfrm>
                <a:off x="5397180" y="4766700"/>
                <a:ext cx="1001520" cy="16632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31" name="Ink 30">
                <a:extLst>
                  <a:ext uri="{FF2B5EF4-FFF2-40B4-BE49-F238E27FC236}">
                    <a16:creationId xmlns:a16="http://schemas.microsoft.com/office/drawing/2014/main" id="{447E33E0-1037-EC05-F756-D692EFF04A25}"/>
                  </a:ext>
                </a:extLst>
              </p14:cNvPr>
              <p14:cNvContentPartPr/>
              <p14:nvPr/>
            </p14:nvContentPartPr>
            <p14:xfrm>
              <a:off x="3954660" y="5166300"/>
              <a:ext cx="360" cy="360"/>
            </p14:xfrm>
          </p:contentPart>
        </mc:Choice>
        <mc:Fallback xmlns="">
          <p:pic>
            <p:nvPicPr>
              <p:cNvPr id="31" name="Ink 30">
                <a:extLst>
                  <a:ext uri="{FF2B5EF4-FFF2-40B4-BE49-F238E27FC236}">
                    <a16:creationId xmlns:a16="http://schemas.microsoft.com/office/drawing/2014/main" id="{447E33E0-1037-EC05-F756-D692EFF04A25}"/>
                  </a:ext>
                </a:extLst>
              </p:cNvPr>
              <p:cNvPicPr/>
              <p:nvPr/>
            </p:nvPicPr>
            <p:blipFill>
              <a:blip r:embed="rId34"/>
              <a:stretch>
                <a:fillRect/>
              </a:stretch>
            </p:blipFill>
            <p:spPr>
              <a:xfrm>
                <a:off x="3918660" y="5094300"/>
                <a:ext cx="72000" cy="14400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32" name="Ink 31">
                <a:extLst>
                  <a:ext uri="{FF2B5EF4-FFF2-40B4-BE49-F238E27FC236}">
                    <a16:creationId xmlns:a16="http://schemas.microsoft.com/office/drawing/2014/main" id="{92883975-479E-F362-BE61-7F656E4F04EE}"/>
                  </a:ext>
                </a:extLst>
              </p14:cNvPr>
              <p14:cNvContentPartPr/>
              <p14:nvPr/>
            </p14:nvContentPartPr>
            <p14:xfrm>
              <a:off x="3939540" y="5112660"/>
              <a:ext cx="967320" cy="47160"/>
            </p14:xfrm>
          </p:contentPart>
        </mc:Choice>
        <mc:Fallback xmlns="">
          <p:pic>
            <p:nvPicPr>
              <p:cNvPr id="32" name="Ink 31">
                <a:extLst>
                  <a:ext uri="{FF2B5EF4-FFF2-40B4-BE49-F238E27FC236}">
                    <a16:creationId xmlns:a16="http://schemas.microsoft.com/office/drawing/2014/main" id="{92883975-479E-F362-BE61-7F656E4F04EE}"/>
                  </a:ext>
                </a:extLst>
              </p:cNvPr>
              <p:cNvPicPr/>
              <p:nvPr/>
            </p:nvPicPr>
            <p:blipFill>
              <a:blip r:embed="rId36"/>
              <a:stretch>
                <a:fillRect/>
              </a:stretch>
            </p:blipFill>
            <p:spPr>
              <a:xfrm>
                <a:off x="3903540" y="5040660"/>
                <a:ext cx="1038960" cy="19080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34" name="Ink 33">
                <a:extLst>
                  <a:ext uri="{FF2B5EF4-FFF2-40B4-BE49-F238E27FC236}">
                    <a16:creationId xmlns:a16="http://schemas.microsoft.com/office/drawing/2014/main" id="{2DA4C929-1C33-2C4A-3D54-A0A10B46F318}"/>
                  </a:ext>
                </a:extLst>
              </p14:cNvPr>
              <p14:cNvContentPartPr/>
              <p14:nvPr/>
            </p14:nvContentPartPr>
            <p14:xfrm>
              <a:off x="2308380" y="5371860"/>
              <a:ext cx="2485080" cy="720"/>
            </p14:xfrm>
          </p:contentPart>
        </mc:Choice>
        <mc:Fallback xmlns="">
          <p:pic>
            <p:nvPicPr>
              <p:cNvPr id="34" name="Ink 33">
                <a:extLst>
                  <a:ext uri="{FF2B5EF4-FFF2-40B4-BE49-F238E27FC236}">
                    <a16:creationId xmlns:a16="http://schemas.microsoft.com/office/drawing/2014/main" id="{2DA4C929-1C33-2C4A-3D54-A0A10B46F318}"/>
                  </a:ext>
                </a:extLst>
              </p:cNvPr>
              <p:cNvPicPr/>
              <p:nvPr/>
            </p:nvPicPr>
            <p:blipFill>
              <a:blip r:embed="rId38"/>
              <a:stretch>
                <a:fillRect/>
              </a:stretch>
            </p:blipFill>
            <p:spPr>
              <a:xfrm>
                <a:off x="2272380" y="5227860"/>
                <a:ext cx="2556720" cy="28800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35" name="Ink 34">
                <a:extLst>
                  <a:ext uri="{FF2B5EF4-FFF2-40B4-BE49-F238E27FC236}">
                    <a16:creationId xmlns:a16="http://schemas.microsoft.com/office/drawing/2014/main" id="{3C20F21E-B403-CB73-9981-76CFDFFF6976}"/>
                  </a:ext>
                </a:extLst>
              </p14:cNvPr>
              <p14:cNvContentPartPr/>
              <p14:nvPr/>
            </p14:nvContentPartPr>
            <p14:xfrm>
              <a:off x="2377500" y="5554740"/>
              <a:ext cx="2453040" cy="23400"/>
            </p14:xfrm>
          </p:contentPart>
        </mc:Choice>
        <mc:Fallback xmlns="">
          <p:pic>
            <p:nvPicPr>
              <p:cNvPr id="35" name="Ink 34">
                <a:extLst>
                  <a:ext uri="{FF2B5EF4-FFF2-40B4-BE49-F238E27FC236}">
                    <a16:creationId xmlns:a16="http://schemas.microsoft.com/office/drawing/2014/main" id="{3C20F21E-B403-CB73-9981-76CFDFFF6976}"/>
                  </a:ext>
                </a:extLst>
              </p:cNvPr>
              <p:cNvPicPr/>
              <p:nvPr/>
            </p:nvPicPr>
            <p:blipFill>
              <a:blip r:embed="rId40"/>
              <a:stretch>
                <a:fillRect/>
              </a:stretch>
            </p:blipFill>
            <p:spPr>
              <a:xfrm>
                <a:off x="2341500" y="5482740"/>
                <a:ext cx="2524680" cy="16704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37" name="Ink 36">
                <a:extLst>
                  <a:ext uri="{FF2B5EF4-FFF2-40B4-BE49-F238E27FC236}">
                    <a16:creationId xmlns:a16="http://schemas.microsoft.com/office/drawing/2014/main" id="{F12083BA-E1F4-6D65-3AB7-650DA7DE5D54}"/>
                  </a:ext>
                </a:extLst>
              </p14:cNvPr>
              <p14:cNvContentPartPr/>
              <p14:nvPr/>
            </p14:nvContentPartPr>
            <p14:xfrm>
              <a:off x="6911340" y="5151180"/>
              <a:ext cx="1189080" cy="720"/>
            </p14:xfrm>
          </p:contentPart>
        </mc:Choice>
        <mc:Fallback xmlns="">
          <p:pic>
            <p:nvPicPr>
              <p:cNvPr id="37" name="Ink 36">
                <a:extLst>
                  <a:ext uri="{FF2B5EF4-FFF2-40B4-BE49-F238E27FC236}">
                    <a16:creationId xmlns:a16="http://schemas.microsoft.com/office/drawing/2014/main" id="{F12083BA-E1F4-6D65-3AB7-650DA7DE5D54}"/>
                  </a:ext>
                </a:extLst>
              </p:cNvPr>
              <p:cNvPicPr/>
              <p:nvPr/>
            </p:nvPicPr>
            <p:blipFill>
              <a:blip r:embed="rId42"/>
              <a:stretch>
                <a:fillRect/>
              </a:stretch>
            </p:blipFill>
            <p:spPr>
              <a:xfrm>
                <a:off x="6875340" y="5007180"/>
                <a:ext cx="1260720" cy="28800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38" name="Ink 37">
                <a:extLst>
                  <a:ext uri="{FF2B5EF4-FFF2-40B4-BE49-F238E27FC236}">
                    <a16:creationId xmlns:a16="http://schemas.microsoft.com/office/drawing/2014/main" id="{B8F8FC99-C517-BD0F-1D24-C3FCA1330324}"/>
                  </a:ext>
                </a:extLst>
              </p14:cNvPr>
              <p14:cNvContentPartPr/>
              <p14:nvPr/>
            </p14:nvContentPartPr>
            <p14:xfrm>
              <a:off x="5417700" y="5323260"/>
              <a:ext cx="2404440" cy="50400"/>
            </p14:xfrm>
          </p:contentPart>
        </mc:Choice>
        <mc:Fallback xmlns="">
          <p:pic>
            <p:nvPicPr>
              <p:cNvPr id="38" name="Ink 37">
                <a:extLst>
                  <a:ext uri="{FF2B5EF4-FFF2-40B4-BE49-F238E27FC236}">
                    <a16:creationId xmlns:a16="http://schemas.microsoft.com/office/drawing/2014/main" id="{B8F8FC99-C517-BD0F-1D24-C3FCA1330324}"/>
                  </a:ext>
                </a:extLst>
              </p:cNvPr>
              <p:cNvPicPr/>
              <p:nvPr/>
            </p:nvPicPr>
            <p:blipFill>
              <a:blip r:embed="rId44"/>
              <a:stretch>
                <a:fillRect/>
              </a:stretch>
            </p:blipFill>
            <p:spPr>
              <a:xfrm>
                <a:off x="5381700" y="5251260"/>
                <a:ext cx="2476080" cy="19404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39" name="Ink 38">
                <a:extLst>
                  <a:ext uri="{FF2B5EF4-FFF2-40B4-BE49-F238E27FC236}">
                    <a16:creationId xmlns:a16="http://schemas.microsoft.com/office/drawing/2014/main" id="{2AD1DBBD-B11F-CCAD-302F-E0D05633E2BB}"/>
                  </a:ext>
                </a:extLst>
              </p14:cNvPr>
              <p14:cNvContentPartPr/>
              <p14:nvPr/>
            </p14:nvContentPartPr>
            <p14:xfrm>
              <a:off x="5448300" y="5547180"/>
              <a:ext cx="1096920" cy="24120"/>
            </p14:xfrm>
          </p:contentPart>
        </mc:Choice>
        <mc:Fallback xmlns="">
          <p:pic>
            <p:nvPicPr>
              <p:cNvPr id="39" name="Ink 38">
                <a:extLst>
                  <a:ext uri="{FF2B5EF4-FFF2-40B4-BE49-F238E27FC236}">
                    <a16:creationId xmlns:a16="http://schemas.microsoft.com/office/drawing/2014/main" id="{2AD1DBBD-B11F-CCAD-302F-E0D05633E2BB}"/>
                  </a:ext>
                </a:extLst>
              </p:cNvPr>
              <p:cNvPicPr/>
              <p:nvPr/>
            </p:nvPicPr>
            <p:blipFill>
              <a:blip r:embed="rId46"/>
              <a:stretch>
                <a:fillRect/>
              </a:stretch>
            </p:blipFill>
            <p:spPr>
              <a:xfrm>
                <a:off x="5412300" y="5475180"/>
                <a:ext cx="1168560" cy="167760"/>
              </a:xfrm>
              <a:prstGeom prst="rect">
                <a:avLst/>
              </a:prstGeom>
            </p:spPr>
          </p:pic>
        </mc:Fallback>
      </mc:AlternateContent>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Managers Vs Entrepreneurs</a:t>
            </a:r>
            <a:endParaRPr lang="en-US" dirty="0"/>
          </a:p>
        </p:txBody>
      </p:sp>
      <p:sp>
        <p:nvSpPr>
          <p:cNvPr id="3" name="Content Placeholder 2"/>
          <p:cNvSpPr>
            <a:spLocks noGrp="1"/>
          </p:cNvSpPr>
          <p:nvPr>
            <p:ph sz="quarter" idx="1"/>
          </p:nvPr>
        </p:nvSpPr>
        <p:spPr/>
        <p:txBody>
          <a:bodyPr/>
          <a:lstStyle/>
          <a:p>
            <a:endParaRPr lang="en-US" dirty="0"/>
          </a:p>
        </p:txBody>
      </p:sp>
      <p:pic>
        <p:nvPicPr>
          <p:cNvPr id="2050" name="Picture 2" descr="E:\Teaching-SVNIT\IIIT\I&amp;E\WhatsApp Image 2020-10-07 at 17.51.38 (1).jpeg"/>
          <p:cNvPicPr>
            <a:picLocks noChangeAspect="1" noChangeArrowheads="1"/>
          </p:cNvPicPr>
          <p:nvPr/>
        </p:nvPicPr>
        <p:blipFill>
          <a:blip r:embed="rId2"/>
          <a:srcRect t="15052" b="46667"/>
          <a:stretch>
            <a:fillRect/>
          </a:stretch>
        </p:blipFill>
        <p:spPr bwMode="auto">
          <a:xfrm>
            <a:off x="228601" y="1524000"/>
            <a:ext cx="8681952" cy="4800600"/>
          </a:xfrm>
          <a:prstGeom prst="rect">
            <a:avLst/>
          </a:prstGeom>
          <a:solidFill>
            <a:schemeClr val="accent1"/>
          </a:solidFill>
        </p:spPr>
      </p:pic>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DECF03B4-6B92-0612-EB56-345260771816}"/>
                  </a:ext>
                </a:extLst>
              </p14:cNvPr>
              <p14:cNvContentPartPr/>
              <p14:nvPr/>
            </p14:nvContentPartPr>
            <p14:xfrm>
              <a:off x="2908152" y="3254616"/>
              <a:ext cx="304200" cy="57600"/>
            </p14:xfrm>
          </p:contentPart>
        </mc:Choice>
        <mc:Fallback xmlns="">
          <p:pic>
            <p:nvPicPr>
              <p:cNvPr id="4" name="Ink 3">
                <a:extLst>
                  <a:ext uri="{FF2B5EF4-FFF2-40B4-BE49-F238E27FC236}">
                    <a16:creationId xmlns:a16="http://schemas.microsoft.com/office/drawing/2014/main" id="{DECF03B4-6B92-0612-EB56-345260771816}"/>
                  </a:ext>
                </a:extLst>
              </p:cNvPr>
              <p:cNvPicPr/>
              <p:nvPr/>
            </p:nvPicPr>
            <p:blipFill>
              <a:blip r:embed="rId4"/>
              <a:stretch>
                <a:fillRect/>
              </a:stretch>
            </p:blipFill>
            <p:spPr>
              <a:xfrm>
                <a:off x="2902032" y="3248496"/>
                <a:ext cx="316440" cy="6984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6" name="Ink 5">
                <a:extLst>
                  <a:ext uri="{FF2B5EF4-FFF2-40B4-BE49-F238E27FC236}">
                    <a16:creationId xmlns:a16="http://schemas.microsoft.com/office/drawing/2014/main" id="{4373AA73-C853-CD81-0108-0C5024E47E09}"/>
                  </a:ext>
                </a:extLst>
              </p14:cNvPr>
              <p14:cNvContentPartPr/>
              <p14:nvPr/>
            </p14:nvContentPartPr>
            <p14:xfrm>
              <a:off x="511632" y="3044376"/>
              <a:ext cx="284400" cy="360"/>
            </p14:xfrm>
          </p:contentPart>
        </mc:Choice>
        <mc:Fallback xmlns="">
          <p:pic>
            <p:nvPicPr>
              <p:cNvPr id="6" name="Ink 5">
                <a:extLst>
                  <a:ext uri="{FF2B5EF4-FFF2-40B4-BE49-F238E27FC236}">
                    <a16:creationId xmlns:a16="http://schemas.microsoft.com/office/drawing/2014/main" id="{4373AA73-C853-CD81-0108-0C5024E47E09}"/>
                  </a:ext>
                </a:extLst>
              </p:cNvPr>
              <p:cNvPicPr/>
              <p:nvPr/>
            </p:nvPicPr>
            <p:blipFill>
              <a:blip r:embed="rId6"/>
              <a:stretch>
                <a:fillRect/>
              </a:stretch>
            </p:blipFill>
            <p:spPr>
              <a:xfrm>
                <a:off x="457632" y="2936736"/>
                <a:ext cx="39204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9" name="Ink 8">
                <a:extLst>
                  <a:ext uri="{FF2B5EF4-FFF2-40B4-BE49-F238E27FC236}">
                    <a16:creationId xmlns:a16="http://schemas.microsoft.com/office/drawing/2014/main" id="{CBE4E5F7-502C-0971-C9FC-ABCB466B6842}"/>
                  </a:ext>
                </a:extLst>
              </p14:cNvPr>
              <p14:cNvContentPartPr/>
              <p14:nvPr/>
            </p14:nvContentPartPr>
            <p14:xfrm>
              <a:off x="445752" y="4026816"/>
              <a:ext cx="119160" cy="162720"/>
            </p14:xfrm>
          </p:contentPart>
        </mc:Choice>
        <mc:Fallback xmlns="">
          <p:pic>
            <p:nvPicPr>
              <p:cNvPr id="9" name="Ink 8">
                <a:extLst>
                  <a:ext uri="{FF2B5EF4-FFF2-40B4-BE49-F238E27FC236}">
                    <a16:creationId xmlns:a16="http://schemas.microsoft.com/office/drawing/2014/main" id="{CBE4E5F7-502C-0971-C9FC-ABCB466B6842}"/>
                  </a:ext>
                </a:extLst>
              </p:cNvPr>
              <p:cNvPicPr/>
              <p:nvPr/>
            </p:nvPicPr>
            <p:blipFill>
              <a:blip r:embed="rId8"/>
              <a:stretch>
                <a:fillRect/>
              </a:stretch>
            </p:blipFill>
            <p:spPr>
              <a:xfrm>
                <a:off x="383112" y="3963816"/>
                <a:ext cx="244800" cy="288360"/>
              </a:xfrm>
              <a:prstGeom prst="rect">
                <a:avLst/>
              </a:prstGeom>
            </p:spPr>
          </p:pic>
        </mc:Fallback>
      </mc:AlternateContent>
      <p:grpSp>
        <p:nvGrpSpPr>
          <p:cNvPr id="22" name="Group 21">
            <a:extLst>
              <a:ext uri="{FF2B5EF4-FFF2-40B4-BE49-F238E27FC236}">
                <a16:creationId xmlns:a16="http://schemas.microsoft.com/office/drawing/2014/main" id="{9D72A4E6-6FF0-E7CF-6EAB-67DC13E4DB55}"/>
              </a:ext>
            </a:extLst>
          </p:cNvPr>
          <p:cNvGrpSpPr/>
          <p:nvPr/>
        </p:nvGrpSpPr>
        <p:grpSpPr>
          <a:xfrm>
            <a:off x="2054232" y="3012696"/>
            <a:ext cx="2633760" cy="301680"/>
            <a:chOff x="2054232" y="3012696"/>
            <a:chExt cx="2633760" cy="301680"/>
          </a:xfrm>
        </p:grpSpPr>
        <mc:AlternateContent xmlns:mc="http://schemas.openxmlformats.org/markup-compatibility/2006" xmlns:p14="http://schemas.microsoft.com/office/powerpoint/2010/main">
          <mc:Choice Requires="p14">
            <p:contentPart p14:bwMode="auto" r:id="rId9">
              <p14:nvContentPartPr>
                <p14:cNvPr id="18" name="Ink 17">
                  <a:extLst>
                    <a:ext uri="{FF2B5EF4-FFF2-40B4-BE49-F238E27FC236}">
                      <a16:creationId xmlns:a16="http://schemas.microsoft.com/office/drawing/2014/main" id="{9FAF5D52-780C-2557-C700-CC48E6FE690E}"/>
                    </a:ext>
                  </a:extLst>
                </p14:cNvPr>
                <p14:cNvContentPartPr/>
                <p14:nvPr/>
              </p14:nvContentPartPr>
              <p14:xfrm>
                <a:off x="2098512" y="3030696"/>
                <a:ext cx="2589480" cy="283680"/>
              </p14:xfrm>
            </p:contentPart>
          </mc:Choice>
          <mc:Fallback xmlns="">
            <p:pic>
              <p:nvPicPr>
                <p:cNvPr id="18" name="Ink 17">
                  <a:extLst>
                    <a:ext uri="{FF2B5EF4-FFF2-40B4-BE49-F238E27FC236}">
                      <a16:creationId xmlns:a16="http://schemas.microsoft.com/office/drawing/2014/main" id="{9FAF5D52-780C-2557-C700-CC48E6FE690E}"/>
                    </a:ext>
                  </a:extLst>
                </p:cNvPr>
                <p:cNvPicPr/>
                <p:nvPr/>
              </p:nvPicPr>
              <p:blipFill>
                <a:blip r:embed="rId10"/>
                <a:stretch>
                  <a:fillRect/>
                </a:stretch>
              </p:blipFill>
              <p:spPr>
                <a:xfrm>
                  <a:off x="2035512" y="2967696"/>
                  <a:ext cx="2715120" cy="40932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9" name="Ink 18">
                  <a:extLst>
                    <a:ext uri="{FF2B5EF4-FFF2-40B4-BE49-F238E27FC236}">
                      <a16:creationId xmlns:a16="http://schemas.microsoft.com/office/drawing/2014/main" id="{30FB813E-ECEE-CA8E-CE30-03F7441443AF}"/>
                    </a:ext>
                  </a:extLst>
                </p14:cNvPr>
                <p14:cNvContentPartPr/>
                <p14:nvPr/>
              </p14:nvContentPartPr>
              <p14:xfrm>
                <a:off x="2144952" y="3012696"/>
                <a:ext cx="126000" cy="118440"/>
              </p14:xfrm>
            </p:contentPart>
          </mc:Choice>
          <mc:Fallback xmlns="">
            <p:pic>
              <p:nvPicPr>
                <p:cNvPr id="19" name="Ink 18">
                  <a:extLst>
                    <a:ext uri="{FF2B5EF4-FFF2-40B4-BE49-F238E27FC236}">
                      <a16:creationId xmlns:a16="http://schemas.microsoft.com/office/drawing/2014/main" id="{30FB813E-ECEE-CA8E-CE30-03F7441443AF}"/>
                    </a:ext>
                  </a:extLst>
                </p:cNvPr>
                <p:cNvPicPr/>
                <p:nvPr/>
              </p:nvPicPr>
              <p:blipFill>
                <a:blip r:embed="rId12"/>
                <a:stretch>
                  <a:fillRect/>
                </a:stretch>
              </p:blipFill>
              <p:spPr>
                <a:xfrm>
                  <a:off x="2082312" y="2950056"/>
                  <a:ext cx="251640" cy="24408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20" name="Ink 19">
                  <a:extLst>
                    <a:ext uri="{FF2B5EF4-FFF2-40B4-BE49-F238E27FC236}">
                      <a16:creationId xmlns:a16="http://schemas.microsoft.com/office/drawing/2014/main" id="{D7988771-B0B3-CDD8-9EB3-D707CD98AB91}"/>
                    </a:ext>
                  </a:extLst>
                </p14:cNvPr>
                <p14:cNvContentPartPr/>
                <p14:nvPr/>
              </p14:nvContentPartPr>
              <p14:xfrm>
                <a:off x="2054232" y="3122496"/>
                <a:ext cx="31320" cy="23760"/>
              </p14:xfrm>
            </p:contentPart>
          </mc:Choice>
          <mc:Fallback xmlns="">
            <p:pic>
              <p:nvPicPr>
                <p:cNvPr id="20" name="Ink 19">
                  <a:extLst>
                    <a:ext uri="{FF2B5EF4-FFF2-40B4-BE49-F238E27FC236}">
                      <a16:creationId xmlns:a16="http://schemas.microsoft.com/office/drawing/2014/main" id="{D7988771-B0B3-CDD8-9EB3-D707CD98AB91}"/>
                    </a:ext>
                  </a:extLst>
                </p:cNvPr>
                <p:cNvPicPr/>
                <p:nvPr/>
              </p:nvPicPr>
              <p:blipFill>
                <a:blip r:embed="rId14"/>
                <a:stretch>
                  <a:fillRect/>
                </a:stretch>
              </p:blipFill>
              <p:spPr>
                <a:xfrm>
                  <a:off x="1991592" y="3059496"/>
                  <a:ext cx="156960" cy="1494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21" name="Ink 20">
                  <a:extLst>
                    <a:ext uri="{FF2B5EF4-FFF2-40B4-BE49-F238E27FC236}">
                      <a16:creationId xmlns:a16="http://schemas.microsoft.com/office/drawing/2014/main" id="{02647427-F3DF-4E2E-B22B-083A873ED12F}"/>
                    </a:ext>
                  </a:extLst>
                </p14:cNvPr>
                <p14:cNvContentPartPr/>
                <p14:nvPr/>
              </p14:nvContentPartPr>
              <p14:xfrm>
                <a:off x="2054232" y="3195216"/>
                <a:ext cx="198720" cy="46080"/>
              </p14:xfrm>
            </p:contentPart>
          </mc:Choice>
          <mc:Fallback xmlns="">
            <p:pic>
              <p:nvPicPr>
                <p:cNvPr id="21" name="Ink 20">
                  <a:extLst>
                    <a:ext uri="{FF2B5EF4-FFF2-40B4-BE49-F238E27FC236}">
                      <a16:creationId xmlns:a16="http://schemas.microsoft.com/office/drawing/2014/main" id="{02647427-F3DF-4E2E-B22B-083A873ED12F}"/>
                    </a:ext>
                  </a:extLst>
                </p:cNvPr>
                <p:cNvPicPr/>
                <p:nvPr/>
              </p:nvPicPr>
              <p:blipFill>
                <a:blip r:embed="rId16"/>
                <a:stretch>
                  <a:fillRect/>
                </a:stretch>
              </p:blipFill>
              <p:spPr>
                <a:xfrm>
                  <a:off x="1991592" y="3132216"/>
                  <a:ext cx="324360" cy="1717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7">
            <p14:nvContentPartPr>
              <p14:cNvPr id="23" name="Ink 22">
                <a:extLst>
                  <a:ext uri="{FF2B5EF4-FFF2-40B4-BE49-F238E27FC236}">
                    <a16:creationId xmlns:a16="http://schemas.microsoft.com/office/drawing/2014/main" id="{D8692767-11B7-C4C1-125E-5B4A1DB66927}"/>
                  </a:ext>
                </a:extLst>
              </p14:cNvPr>
              <p14:cNvContentPartPr/>
              <p14:nvPr/>
            </p14:nvContentPartPr>
            <p14:xfrm>
              <a:off x="5407632" y="3030336"/>
              <a:ext cx="2403000" cy="294480"/>
            </p14:xfrm>
          </p:contentPart>
        </mc:Choice>
        <mc:Fallback xmlns="">
          <p:pic>
            <p:nvPicPr>
              <p:cNvPr id="23" name="Ink 22">
                <a:extLst>
                  <a:ext uri="{FF2B5EF4-FFF2-40B4-BE49-F238E27FC236}">
                    <a16:creationId xmlns:a16="http://schemas.microsoft.com/office/drawing/2014/main" id="{D8692767-11B7-C4C1-125E-5B4A1DB66927}"/>
                  </a:ext>
                </a:extLst>
              </p:cNvPr>
              <p:cNvPicPr/>
              <p:nvPr/>
            </p:nvPicPr>
            <p:blipFill>
              <a:blip r:embed="rId18"/>
              <a:stretch>
                <a:fillRect/>
              </a:stretch>
            </p:blipFill>
            <p:spPr>
              <a:xfrm>
                <a:off x="5344992" y="2967696"/>
                <a:ext cx="2528640" cy="420120"/>
              </a:xfrm>
              <a:prstGeom prst="rect">
                <a:avLst/>
              </a:prstGeom>
            </p:spPr>
          </p:pic>
        </mc:Fallback>
      </mc:AlternateContent>
      <p:grpSp>
        <p:nvGrpSpPr>
          <p:cNvPr id="29" name="Group 28">
            <a:extLst>
              <a:ext uri="{FF2B5EF4-FFF2-40B4-BE49-F238E27FC236}">
                <a16:creationId xmlns:a16="http://schemas.microsoft.com/office/drawing/2014/main" id="{28FF5F58-9173-7FF3-7607-580D9F83B45C}"/>
              </a:ext>
            </a:extLst>
          </p:cNvPr>
          <p:cNvGrpSpPr/>
          <p:nvPr/>
        </p:nvGrpSpPr>
        <p:grpSpPr>
          <a:xfrm>
            <a:off x="427392" y="2993976"/>
            <a:ext cx="448200" cy="137880"/>
            <a:chOff x="427392" y="2993976"/>
            <a:chExt cx="448200" cy="137880"/>
          </a:xfrm>
        </p:grpSpPr>
        <mc:AlternateContent xmlns:mc="http://schemas.openxmlformats.org/markup-compatibility/2006" xmlns:p14="http://schemas.microsoft.com/office/powerpoint/2010/main">
          <mc:Choice Requires="p14">
            <p:contentPart p14:bwMode="auto" r:id="rId19">
              <p14:nvContentPartPr>
                <p14:cNvPr id="12" name="Ink 11">
                  <a:extLst>
                    <a:ext uri="{FF2B5EF4-FFF2-40B4-BE49-F238E27FC236}">
                      <a16:creationId xmlns:a16="http://schemas.microsoft.com/office/drawing/2014/main" id="{D432DD9B-764B-ADD5-EC20-D58704D9C2C8}"/>
                    </a:ext>
                  </a:extLst>
                </p14:cNvPr>
                <p14:cNvContentPartPr/>
                <p14:nvPr/>
              </p14:nvContentPartPr>
              <p14:xfrm>
                <a:off x="591912" y="3040416"/>
                <a:ext cx="360" cy="360"/>
              </p14:xfrm>
            </p:contentPart>
          </mc:Choice>
          <mc:Fallback xmlns="">
            <p:pic>
              <p:nvPicPr>
                <p:cNvPr id="12" name="Ink 11">
                  <a:extLst>
                    <a:ext uri="{FF2B5EF4-FFF2-40B4-BE49-F238E27FC236}">
                      <a16:creationId xmlns:a16="http://schemas.microsoft.com/office/drawing/2014/main" id="{D432DD9B-764B-ADD5-EC20-D58704D9C2C8}"/>
                    </a:ext>
                  </a:extLst>
                </p:cNvPr>
                <p:cNvPicPr/>
                <p:nvPr/>
              </p:nvPicPr>
              <p:blipFill>
                <a:blip r:embed="rId20"/>
                <a:stretch>
                  <a:fillRect/>
                </a:stretch>
              </p:blipFill>
              <p:spPr>
                <a:xfrm>
                  <a:off x="529272" y="2977416"/>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3" name="Ink 12">
                  <a:extLst>
                    <a:ext uri="{FF2B5EF4-FFF2-40B4-BE49-F238E27FC236}">
                      <a16:creationId xmlns:a16="http://schemas.microsoft.com/office/drawing/2014/main" id="{E07581C5-FE10-D472-490C-85E2D8BCD345}"/>
                    </a:ext>
                  </a:extLst>
                </p14:cNvPr>
                <p14:cNvContentPartPr/>
                <p14:nvPr/>
              </p14:nvContentPartPr>
              <p14:xfrm>
                <a:off x="591912" y="2993976"/>
                <a:ext cx="283680" cy="46800"/>
              </p14:xfrm>
            </p:contentPart>
          </mc:Choice>
          <mc:Fallback xmlns="">
            <p:pic>
              <p:nvPicPr>
                <p:cNvPr id="13" name="Ink 12">
                  <a:extLst>
                    <a:ext uri="{FF2B5EF4-FFF2-40B4-BE49-F238E27FC236}">
                      <a16:creationId xmlns:a16="http://schemas.microsoft.com/office/drawing/2014/main" id="{E07581C5-FE10-D472-490C-85E2D8BCD345}"/>
                    </a:ext>
                  </a:extLst>
                </p:cNvPr>
                <p:cNvPicPr/>
                <p:nvPr/>
              </p:nvPicPr>
              <p:blipFill>
                <a:blip r:embed="rId22"/>
                <a:stretch>
                  <a:fillRect/>
                </a:stretch>
              </p:blipFill>
              <p:spPr>
                <a:xfrm>
                  <a:off x="529272" y="2930976"/>
                  <a:ext cx="409320" cy="17244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5" name="Ink 14">
                  <a:extLst>
                    <a:ext uri="{FF2B5EF4-FFF2-40B4-BE49-F238E27FC236}">
                      <a16:creationId xmlns:a16="http://schemas.microsoft.com/office/drawing/2014/main" id="{6341FE71-FD1D-8189-630B-C5B906F21430}"/>
                    </a:ext>
                  </a:extLst>
                </p14:cNvPr>
                <p14:cNvContentPartPr/>
                <p14:nvPr/>
              </p14:nvContentPartPr>
              <p14:xfrm>
                <a:off x="544752" y="3012336"/>
                <a:ext cx="47880" cy="28080"/>
              </p14:xfrm>
            </p:contentPart>
          </mc:Choice>
          <mc:Fallback xmlns="">
            <p:pic>
              <p:nvPicPr>
                <p:cNvPr id="15" name="Ink 14">
                  <a:extLst>
                    <a:ext uri="{FF2B5EF4-FFF2-40B4-BE49-F238E27FC236}">
                      <a16:creationId xmlns:a16="http://schemas.microsoft.com/office/drawing/2014/main" id="{6341FE71-FD1D-8189-630B-C5B906F21430}"/>
                    </a:ext>
                  </a:extLst>
                </p:cNvPr>
                <p:cNvPicPr/>
                <p:nvPr/>
              </p:nvPicPr>
              <p:blipFill>
                <a:blip r:embed="rId24"/>
                <a:stretch>
                  <a:fillRect/>
                </a:stretch>
              </p:blipFill>
              <p:spPr>
                <a:xfrm>
                  <a:off x="481752" y="2949696"/>
                  <a:ext cx="173520" cy="15372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16" name="Ink 15">
                  <a:extLst>
                    <a:ext uri="{FF2B5EF4-FFF2-40B4-BE49-F238E27FC236}">
                      <a16:creationId xmlns:a16="http://schemas.microsoft.com/office/drawing/2014/main" id="{5DC13D75-A2CC-BC07-9C76-91D803AFBC40}"/>
                    </a:ext>
                  </a:extLst>
                </p14:cNvPr>
                <p14:cNvContentPartPr/>
                <p14:nvPr/>
              </p14:nvContentPartPr>
              <p14:xfrm>
                <a:off x="591912" y="3040416"/>
                <a:ext cx="360" cy="360"/>
              </p14:xfrm>
            </p:contentPart>
          </mc:Choice>
          <mc:Fallback xmlns="">
            <p:pic>
              <p:nvPicPr>
                <p:cNvPr id="16" name="Ink 15">
                  <a:extLst>
                    <a:ext uri="{FF2B5EF4-FFF2-40B4-BE49-F238E27FC236}">
                      <a16:creationId xmlns:a16="http://schemas.microsoft.com/office/drawing/2014/main" id="{5DC13D75-A2CC-BC07-9C76-91D803AFBC40}"/>
                    </a:ext>
                  </a:extLst>
                </p:cNvPr>
                <p:cNvPicPr/>
                <p:nvPr/>
              </p:nvPicPr>
              <p:blipFill>
                <a:blip r:embed="rId20"/>
                <a:stretch>
                  <a:fillRect/>
                </a:stretch>
              </p:blipFill>
              <p:spPr>
                <a:xfrm>
                  <a:off x="529272" y="2977416"/>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24" name="Ink 23">
                  <a:extLst>
                    <a:ext uri="{FF2B5EF4-FFF2-40B4-BE49-F238E27FC236}">
                      <a16:creationId xmlns:a16="http://schemas.microsoft.com/office/drawing/2014/main" id="{31AC40D1-C94F-7B43-C402-D18A93D57639}"/>
                    </a:ext>
                  </a:extLst>
                </p14:cNvPr>
                <p14:cNvContentPartPr/>
                <p14:nvPr/>
              </p14:nvContentPartPr>
              <p14:xfrm>
                <a:off x="591912" y="3040416"/>
                <a:ext cx="360" cy="360"/>
              </p14:xfrm>
            </p:contentPart>
          </mc:Choice>
          <mc:Fallback xmlns="">
            <p:pic>
              <p:nvPicPr>
                <p:cNvPr id="24" name="Ink 23">
                  <a:extLst>
                    <a:ext uri="{FF2B5EF4-FFF2-40B4-BE49-F238E27FC236}">
                      <a16:creationId xmlns:a16="http://schemas.microsoft.com/office/drawing/2014/main" id="{31AC40D1-C94F-7B43-C402-D18A93D57639}"/>
                    </a:ext>
                  </a:extLst>
                </p:cNvPr>
                <p:cNvPicPr/>
                <p:nvPr/>
              </p:nvPicPr>
              <p:blipFill>
                <a:blip r:embed="rId20"/>
                <a:stretch>
                  <a:fillRect/>
                </a:stretch>
              </p:blipFill>
              <p:spPr>
                <a:xfrm>
                  <a:off x="529272" y="2977416"/>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25" name="Ink 24">
                  <a:extLst>
                    <a:ext uri="{FF2B5EF4-FFF2-40B4-BE49-F238E27FC236}">
                      <a16:creationId xmlns:a16="http://schemas.microsoft.com/office/drawing/2014/main" id="{A4DC3F0E-29A8-998D-5A45-04B266DF3285}"/>
                    </a:ext>
                  </a:extLst>
                </p14:cNvPr>
                <p14:cNvContentPartPr/>
                <p14:nvPr/>
              </p14:nvContentPartPr>
              <p14:xfrm>
                <a:off x="591912" y="3040416"/>
                <a:ext cx="360" cy="360"/>
              </p14:xfrm>
            </p:contentPart>
          </mc:Choice>
          <mc:Fallback xmlns="">
            <p:pic>
              <p:nvPicPr>
                <p:cNvPr id="25" name="Ink 24">
                  <a:extLst>
                    <a:ext uri="{FF2B5EF4-FFF2-40B4-BE49-F238E27FC236}">
                      <a16:creationId xmlns:a16="http://schemas.microsoft.com/office/drawing/2014/main" id="{A4DC3F0E-29A8-998D-5A45-04B266DF3285}"/>
                    </a:ext>
                  </a:extLst>
                </p:cNvPr>
                <p:cNvPicPr/>
                <p:nvPr/>
              </p:nvPicPr>
              <p:blipFill>
                <a:blip r:embed="rId20"/>
                <a:stretch>
                  <a:fillRect/>
                </a:stretch>
              </p:blipFill>
              <p:spPr>
                <a:xfrm>
                  <a:off x="529272" y="2977416"/>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26" name="Ink 25">
                  <a:extLst>
                    <a:ext uri="{FF2B5EF4-FFF2-40B4-BE49-F238E27FC236}">
                      <a16:creationId xmlns:a16="http://schemas.microsoft.com/office/drawing/2014/main" id="{34770F2C-FED9-8C69-AD39-14136D53A0F0}"/>
                    </a:ext>
                  </a:extLst>
                </p14:cNvPr>
                <p14:cNvContentPartPr/>
                <p14:nvPr/>
              </p14:nvContentPartPr>
              <p14:xfrm>
                <a:off x="427392" y="3040416"/>
                <a:ext cx="304920" cy="75600"/>
              </p14:xfrm>
            </p:contentPart>
          </mc:Choice>
          <mc:Fallback xmlns="">
            <p:pic>
              <p:nvPicPr>
                <p:cNvPr id="26" name="Ink 25">
                  <a:extLst>
                    <a:ext uri="{FF2B5EF4-FFF2-40B4-BE49-F238E27FC236}">
                      <a16:creationId xmlns:a16="http://schemas.microsoft.com/office/drawing/2014/main" id="{34770F2C-FED9-8C69-AD39-14136D53A0F0}"/>
                    </a:ext>
                  </a:extLst>
                </p:cNvPr>
                <p:cNvPicPr/>
                <p:nvPr/>
              </p:nvPicPr>
              <p:blipFill>
                <a:blip r:embed="rId29"/>
                <a:stretch>
                  <a:fillRect/>
                </a:stretch>
              </p:blipFill>
              <p:spPr>
                <a:xfrm>
                  <a:off x="364392" y="2977416"/>
                  <a:ext cx="430560" cy="20124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8" name="Ink 27">
                  <a:extLst>
                    <a:ext uri="{FF2B5EF4-FFF2-40B4-BE49-F238E27FC236}">
                      <a16:creationId xmlns:a16="http://schemas.microsoft.com/office/drawing/2014/main" id="{D0B8D765-0BB2-0B21-23EE-F331F4289DDC}"/>
                    </a:ext>
                  </a:extLst>
                </p14:cNvPr>
                <p14:cNvContentPartPr/>
                <p14:nvPr/>
              </p14:nvContentPartPr>
              <p14:xfrm>
                <a:off x="875232" y="3131496"/>
                <a:ext cx="360" cy="360"/>
              </p14:xfrm>
            </p:contentPart>
          </mc:Choice>
          <mc:Fallback xmlns="">
            <p:pic>
              <p:nvPicPr>
                <p:cNvPr id="28" name="Ink 27">
                  <a:extLst>
                    <a:ext uri="{FF2B5EF4-FFF2-40B4-BE49-F238E27FC236}">
                      <a16:creationId xmlns:a16="http://schemas.microsoft.com/office/drawing/2014/main" id="{D0B8D765-0BB2-0B21-23EE-F331F4289DDC}"/>
                    </a:ext>
                  </a:extLst>
                </p:cNvPr>
                <p:cNvPicPr/>
                <p:nvPr/>
              </p:nvPicPr>
              <p:blipFill>
                <a:blip r:embed="rId20"/>
                <a:stretch>
                  <a:fillRect/>
                </a:stretch>
              </p:blipFill>
              <p:spPr>
                <a:xfrm>
                  <a:off x="812232" y="3068856"/>
                  <a:ext cx="126000" cy="126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1">
            <p14:nvContentPartPr>
              <p14:cNvPr id="8" name="Ink 7">
                <a:extLst>
                  <a:ext uri="{FF2B5EF4-FFF2-40B4-BE49-F238E27FC236}">
                    <a16:creationId xmlns:a16="http://schemas.microsoft.com/office/drawing/2014/main" id="{3DBC2648-11DF-2DA7-F0C0-FE44602FC00E}"/>
                  </a:ext>
                </a:extLst>
              </p14:cNvPr>
              <p14:cNvContentPartPr/>
              <p14:nvPr/>
            </p14:nvContentPartPr>
            <p14:xfrm>
              <a:off x="2606100" y="2186220"/>
              <a:ext cx="962280" cy="70560"/>
            </p14:xfrm>
          </p:contentPart>
        </mc:Choice>
        <mc:Fallback xmlns="">
          <p:pic>
            <p:nvPicPr>
              <p:cNvPr id="8" name="Ink 7">
                <a:extLst>
                  <a:ext uri="{FF2B5EF4-FFF2-40B4-BE49-F238E27FC236}">
                    <a16:creationId xmlns:a16="http://schemas.microsoft.com/office/drawing/2014/main" id="{3DBC2648-11DF-2DA7-F0C0-FE44602FC00E}"/>
                  </a:ext>
                </a:extLst>
              </p:cNvPr>
              <p:cNvPicPr/>
              <p:nvPr/>
            </p:nvPicPr>
            <p:blipFill>
              <a:blip r:embed="rId32"/>
              <a:stretch>
                <a:fillRect/>
              </a:stretch>
            </p:blipFill>
            <p:spPr>
              <a:xfrm>
                <a:off x="2570100" y="2114220"/>
                <a:ext cx="1033920" cy="21420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11" name="Ink 10">
                <a:extLst>
                  <a:ext uri="{FF2B5EF4-FFF2-40B4-BE49-F238E27FC236}">
                    <a16:creationId xmlns:a16="http://schemas.microsoft.com/office/drawing/2014/main" id="{5F993030-746C-43A1-1D26-F31C38B5AC7B}"/>
                  </a:ext>
                </a:extLst>
              </p14:cNvPr>
              <p14:cNvContentPartPr/>
              <p14:nvPr/>
            </p14:nvContentPartPr>
            <p14:xfrm>
              <a:off x="1973580" y="2162820"/>
              <a:ext cx="503280" cy="24480"/>
            </p14:xfrm>
          </p:contentPart>
        </mc:Choice>
        <mc:Fallback xmlns="">
          <p:pic>
            <p:nvPicPr>
              <p:cNvPr id="11" name="Ink 10">
                <a:extLst>
                  <a:ext uri="{FF2B5EF4-FFF2-40B4-BE49-F238E27FC236}">
                    <a16:creationId xmlns:a16="http://schemas.microsoft.com/office/drawing/2014/main" id="{5F993030-746C-43A1-1D26-F31C38B5AC7B}"/>
                  </a:ext>
                </a:extLst>
              </p:cNvPr>
              <p:cNvPicPr/>
              <p:nvPr/>
            </p:nvPicPr>
            <p:blipFill>
              <a:blip r:embed="rId34"/>
              <a:stretch>
                <a:fillRect/>
              </a:stretch>
            </p:blipFill>
            <p:spPr>
              <a:xfrm>
                <a:off x="1937580" y="2090820"/>
                <a:ext cx="574920" cy="16812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17" name="Ink 16">
                <a:extLst>
                  <a:ext uri="{FF2B5EF4-FFF2-40B4-BE49-F238E27FC236}">
                    <a16:creationId xmlns:a16="http://schemas.microsoft.com/office/drawing/2014/main" id="{FF27802A-3546-E1D8-7DA2-0D7E9B40435F}"/>
                  </a:ext>
                </a:extLst>
              </p14:cNvPr>
              <p14:cNvContentPartPr/>
              <p14:nvPr/>
            </p14:nvContentPartPr>
            <p14:xfrm>
              <a:off x="2041620" y="1957980"/>
              <a:ext cx="2538000" cy="99360"/>
            </p14:xfrm>
          </p:contentPart>
        </mc:Choice>
        <mc:Fallback xmlns="">
          <p:pic>
            <p:nvPicPr>
              <p:cNvPr id="17" name="Ink 16">
                <a:extLst>
                  <a:ext uri="{FF2B5EF4-FFF2-40B4-BE49-F238E27FC236}">
                    <a16:creationId xmlns:a16="http://schemas.microsoft.com/office/drawing/2014/main" id="{FF27802A-3546-E1D8-7DA2-0D7E9B40435F}"/>
                  </a:ext>
                </a:extLst>
              </p:cNvPr>
              <p:cNvPicPr/>
              <p:nvPr/>
            </p:nvPicPr>
            <p:blipFill>
              <a:blip r:embed="rId36"/>
              <a:stretch>
                <a:fillRect/>
              </a:stretch>
            </p:blipFill>
            <p:spPr>
              <a:xfrm>
                <a:off x="2005980" y="1885980"/>
                <a:ext cx="2609640" cy="24300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27" name="Ink 26">
                <a:extLst>
                  <a:ext uri="{FF2B5EF4-FFF2-40B4-BE49-F238E27FC236}">
                    <a16:creationId xmlns:a16="http://schemas.microsoft.com/office/drawing/2014/main" id="{EBC04D5E-3C75-AE68-3EDE-33739810F6BB}"/>
                  </a:ext>
                </a:extLst>
              </p14:cNvPr>
              <p14:cNvContentPartPr/>
              <p14:nvPr/>
            </p14:nvContentPartPr>
            <p14:xfrm>
              <a:off x="5379540" y="1944300"/>
              <a:ext cx="1776600" cy="105480"/>
            </p14:xfrm>
          </p:contentPart>
        </mc:Choice>
        <mc:Fallback xmlns="">
          <p:pic>
            <p:nvPicPr>
              <p:cNvPr id="27" name="Ink 26">
                <a:extLst>
                  <a:ext uri="{FF2B5EF4-FFF2-40B4-BE49-F238E27FC236}">
                    <a16:creationId xmlns:a16="http://schemas.microsoft.com/office/drawing/2014/main" id="{EBC04D5E-3C75-AE68-3EDE-33739810F6BB}"/>
                  </a:ext>
                </a:extLst>
              </p:cNvPr>
              <p:cNvPicPr/>
              <p:nvPr/>
            </p:nvPicPr>
            <p:blipFill>
              <a:blip r:embed="rId38"/>
              <a:stretch>
                <a:fillRect/>
              </a:stretch>
            </p:blipFill>
            <p:spPr>
              <a:xfrm>
                <a:off x="5343540" y="1872660"/>
                <a:ext cx="1848240" cy="24912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32" name="Ink 31">
                <a:extLst>
                  <a:ext uri="{FF2B5EF4-FFF2-40B4-BE49-F238E27FC236}">
                    <a16:creationId xmlns:a16="http://schemas.microsoft.com/office/drawing/2014/main" id="{5BB88E65-E866-231C-6A88-D7379D38B132}"/>
                  </a:ext>
                </a:extLst>
              </p14:cNvPr>
              <p14:cNvContentPartPr/>
              <p14:nvPr/>
            </p14:nvContentPartPr>
            <p14:xfrm>
              <a:off x="5364060" y="2155980"/>
              <a:ext cx="1867320" cy="76680"/>
            </p14:xfrm>
          </p:contentPart>
        </mc:Choice>
        <mc:Fallback xmlns="">
          <p:pic>
            <p:nvPicPr>
              <p:cNvPr id="32" name="Ink 31">
                <a:extLst>
                  <a:ext uri="{FF2B5EF4-FFF2-40B4-BE49-F238E27FC236}">
                    <a16:creationId xmlns:a16="http://schemas.microsoft.com/office/drawing/2014/main" id="{5BB88E65-E866-231C-6A88-D7379D38B132}"/>
                  </a:ext>
                </a:extLst>
              </p:cNvPr>
              <p:cNvPicPr/>
              <p:nvPr/>
            </p:nvPicPr>
            <p:blipFill>
              <a:blip r:embed="rId40"/>
              <a:stretch>
                <a:fillRect/>
              </a:stretch>
            </p:blipFill>
            <p:spPr>
              <a:xfrm>
                <a:off x="5328060" y="2084340"/>
                <a:ext cx="1938960" cy="22032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35" name="Ink 34">
                <a:extLst>
                  <a:ext uri="{FF2B5EF4-FFF2-40B4-BE49-F238E27FC236}">
                    <a16:creationId xmlns:a16="http://schemas.microsoft.com/office/drawing/2014/main" id="{7C6401C9-E969-5617-D46E-40771C44741B}"/>
                  </a:ext>
                </a:extLst>
              </p14:cNvPr>
              <p14:cNvContentPartPr/>
              <p14:nvPr/>
            </p14:nvContentPartPr>
            <p14:xfrm>
              <a:off x="2072220" y="2605620"/>
              <a:ext cx="442440" cy="23400"/>
            </p14:xfrm>
          </p:contentPart>
        </mc:Choice>
        <mc:Fallback xmlns="">
          <p:pic>
            <p:nvPicPr>
              <p:cNvPr id="35" name="Ink 34">
                <a:extLst>
                  <a:ext uri="{FF2B5EF4-FFF2-40B4-BE49-F238E27FC236}">
                    <a16:creationId xmlns:a16="http://schemas.microsoft.com/office/drawing/2014/main" id="{7C6401C9-E969-5617-D46E-40771C44741B}"/>
                  </a:ext>
                </a:extLst>
              </p:cNvPr>
              <p:cNvPicPr/>
              <p:nvPr/>
            </p:nvPicPr>
            <p:blipFill>
              <a:blip r:embed="rId42"/>
              <a:stretch>
                <a:fillRect/>
              </a:stretch>
            </p:blipFill>
            <p:spPr>
              <a:xfrm>
                <a:off x="2036220" y="2533980"/>
                <a:ext cx="514080" cy="16704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36" name="Ink 35">
                <a:extLst>
                  <a:ext uri="{FF2B5EF4-FFF2-40B4-BE49-F238E27FC236}">
                    <a16:creationId xmlns:a16="http://schemas.microsoft.com/office/drawing/2014/main" id="{2F576822-B79E-0959-D7B3-4479C066963D}"/>
                  </a:ext>
                </a:extLst>
              </p14:cNvPr>
              <p14:cNvContentPartPr/>
              <p14:nvPr/>
            </p14:nvContentPartPr>
            <p14:xfrm>
              <a:off x="2644260" y="2629020"/>
              <a:ext cx="555840" cy="46080"/>
            </p14:xfrm>
          </p:contentPart>
        </mc:Choice>
        <mc:Fallback xmlns="">
          <p:pic>
            <p:nvPicPr>
              <p:cNvPr id="36" name="Ink 35">
                <a:extLst>
                  <a:ext uri="{FF2B5EF4-FFF2-40B4-BE49-F238E27FC236}">
                    <a16:creationId xmlns:a16="http://schemas.microsoft.com/office/drawing/2014/main" id="{2F576822-B79E-0959-D7B3-4479C066963D}"/>
                  </a:ext>
                </a:extLst>
              </p:cNvPr>
              <p:cNvPicPr/>
              <p:nvPr/>
            </p:nvPicPr>
            <p:blipFill>
              <a:blip r:embed="rId44"/>
              <a:stretch>
                <a:fillRect/>
              </a:stretch>
            </p:blipFill>
            <p:spPr>
              <a:xfrm>
                <a:off x="2608260" y="2557020"/>
                <a:ext cx="627480" cy="18972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37" name="Ink 36">
                <a:extLst>
                  <a:ext uri="{FF2B5EF4-FFF2-40B4-BE49-F238E27FC236}">
                    <a16:creationId xmlns:a16="http://schemas.microsoft.com/office/drawing/2014/main" id="{9F2EB262-6D70-A097-8FC2-DE823C6CE027}"/>
                  </a:ext>
                </a:extLst>
              </p14:cNvPr>
              <p14:cNvContentPartPr/>
              <p14:nvPr/>
            </p14:nvContentPartPr>
            <p14:xfrm>
              <a:off x="3314580" y="2658900"/>
              <a:ext cx="796680" cy="23760"/>
            </p14:xfrm>
          </p:contentPart>
        </mc:Choice>
        <mc:Fallback xmlns="">
          <p:pic>
            <p:nvPicPr>
              <p:cNvPr id="37" name="Ink 36">
                <a:extLst>
                  <a:ext uri="{FF2B5EF4-FFF2-40B4-BE49-F238E27FC236}">
                    <a16:creationId xmlns:a16="http://schemas.microsoft.com/office/drawing/2014/main" id="{9F2EB262-6D70-A097-8FC2-DE823C6CE027}"/>
                  </a:ext>
                </a:extLst>
              </p:cNvPr>
              <p:cNvPicPr/>
              <p:nvPr/>
            </p:nvPicPr>
            <p:blipFill>
              <a:blip r:embed="rId46"/>
              <a:stretch>
                <a:fillRect/>
              </a:stretch>
            </p:blipFill>
            <p:spPr>
              <a:xfrm>
                <a:off x="3278580" y="2587260"/>
                <a:ext cx="868320" cy="16740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39" name="Ink 38">
                <a:extLst>
                  <a:ext uri="{FF2B5EF4-FFF2-40B4-BE49-F238E27FC236}">
                    <a16:creationId xmlns:a16="http://schemas.microsoft.com/office/drawing/2014/main" id="{647258D9-8104-9565-EDD7-E1A4793E8EEE}"/>
                  </a:ext>
                </a:extLst>
              </p14:cNvPr>
              <p14:cNvContentPartPr/>
              <p14:nvPr/>
            </p14:nvContentPartPr>
            <p14:xfrm>
              <a:off x="3215580" y="2811900"/>
              <a:ext cx="360" cy="360"/>
            </p14:xfrm>
          </p:contentPart>
        </mc:Choice>
        <mc:Fallback xmlns="">
          <p:pic>
            <p:nvPicPr>
              <p:cNvPr id="39" name="Ink 38">
                <a:extLst>
                  <a:ext uri="{FF2B5EF4-FFF2-40B4-BE49-F238E27FC236}">
                    <a16:creationId xmlns:a16="http://schemas.microsoft.com/office/drawing/2014/main" id="{647258D9-8104-9565-EDD7-E1A4793E8EEE}"/>
                  </a:ext>
                </a:extLst>
              </p:cNvPr>
              <p:cNvPicPr/>
              <p:nvPr/>
            </p:nvPicPr>
            <p:blipFill>
              <a:blip r:embed="rId48"/>
              <a:stretch>
                <a:fillRect/>
              </a:stretch>
            </p:blipFill>
            <p:spPr>
              <a:xfrm>
                <a:off x="3179580" y="2739900"/>
                <a:ext cx="72000" cy="14400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40" name="Ink 39">
                <a:extLst>
                  <a:ext uri="{FF2B5EF4-FFF2-40B4-BE49-F238E27FC236}">
                    <a16:creationId xmlns:a16="http://schemas.microsoft.com/office/drawing/2014/main" id="{BA25BBD2-8F25-8CC9-A1A9-FBD8B08E6DEE}"/>
                  </a:ext>
                </a:extLst>
              </p14:cNvPr>
              <p14:cNvContentPartPr/>
              <p14:nvPr/>
            </p14:nvContentPartPr>
            <p14:xfrm>
              <a:off x="2644260" y="2827020"/>
              <a:ext cx="1741320" cy="36000"/>
            </p14:xfrm>
          </p:contentPart>
        </mc:Choice>
        <mc:Fallback xmlns="">
          <p:pic>
            <p:nvPicPr>
              <p:cNvPr id="40" name="Ink 39">
                <a:extLst>
                  <a:ext uri="{FF2B5EF4-FFF2-40B4-BE49-F238E27FC236}">
                    <a16:creationId xmlns:a16="http://schemas.microsoft.com/office/drawing/2014/main" id="{BA25BBD2-8F25-8CC9-A1A9-FBD8B08E6DEE}"/>
                  </a:ext>
                </a:extLst>
              </p:cNvPr>
              <p:cNvPicPr/>
              <p:nvPr/>
            </p:nvPicPr>
            <p:blipFill>
              <a:blip r:embed="rId50"/>
              <a:stretch>
                <a:fillRect/>
              </a:stretch>
            </p:blipFill>
            <p:spPr>
              <a:xfrm>
                <a:off x="2608260" y="2755020"/>
                <a:ext cx="1812960" cy="17964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41" name="Ink 40">
                <a:extLst>
                  <a:ext uri="{FF2B5EF4-FFF2-40B4-BE49-F238E27FC236}">
                    <a16:creationId xmlns:a16="http://schemas.microsoft.com/office/drawing/2014/main" id="{A84EE720-C30F-9EE4-9186-55BC6EEB24F5}"/>
                  </a:ext>
                </a:extLst>
              </p14:cNvPr>
              <p14:cNvContentPartPr/>
              <p14:nvPr/>
            </p14:nvContentPartPr>
            <p14:xfrm>
              <a:off x="3596460" y="2445420"/>
              <a:ext cx="926280" cy="25560"/>
            </p14:xfrm>
          </p:contentPart>
        </mc:Choice>
        <mc:Fallback xmlns="">
          <p:pic>
            <p:nvPicPr>
              <p:cNvPr id="41" name="Ink 40">
                <a:extLst>
                  <a:ext uri="{FF2B5EF4-FFF2-40B4-BE49-F238E27FC236}">
                    <a16:creationId xmlns:a16="http://schemas.microsoft.com/office/drawing/2014/main" id="{A84EE720-C30F-9EE4-9186-55BC6EEB24F5}"/>
                  </a:ext>
                </a:extLst>
              </p:cNvPr>
              <p:cNvPicPr/>
              <p:nvPr/>
            </p:nvPicPr>
            <p:blipFill>
              <a:blip r:embed="rId52"/>
              <a:stretch>
                <a:fillRect/>
              </a:stretch>
            </p:blipFill>
            <p:spPr>
              <a:xfrm>
                <a:off x="3560460" y="2373780"/>
                <a:ext cx="997920" cy="16920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43" name="Ink 42">
                <a:extLst>
                  <a:ext uri="{FF2B5EF4-FFF2-40B4-BE49-F238E27FC236}">
                    <a16:creationId xmlns:a16="http://schemas.microsoft.com/office/drawing/2014/main" id="{ABDD7583-5CF9-37BB-E609-CE676101B18B}"/>
                  </a:ext>
                </a:extLst>
              </p14:cNvPr>
              <p14:cNvContentPartPr/>
              <p14:nvPr/>
            </p14:nvContentPartPr>
            <p14:xfrm>
              <a:off x="5371980" y="2398980"/>
              <a:ext cx="2514240" cy="100440"/>
            </p14:xfrm>
          </p:contentPart>
        </mc:Choice>
        <mc:Fallback xmlns="">
          <p:pic>
            <p:nvPicPr>
              <p:cNvPr id="43" name="Ink 42">
                <a:extLst>
                  <a:ext uri="{FF2B5EF4-FFF2-40B4-BE49-F238E27FC236}">
                    <a16:creationId xmlns:a16="http://schemas.microsoft.com/office/drawing/2014/main" id="{ABDD7583-5CF9-37BB-E609-CE676101B18B}"/>
                  </a:ext>
                </a:extLst>
              </p:cNvPr>
              <p:cNvPicPr/>
              <p:nvPr/>
            </p:nvPicPr>
            <p:blipFill>
              <a:blip r:embed="rId54"/>
              <a:stretch>
                <a:fillRect/>
              </a:stretch>
            </p:blipFill>
            <p:spPr>
              <a:xfrm>
                <a:off x="5335980" y="2327340"/>
                <a:ext cx="2585880" cy="24408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5" name="Ink 4">
                <a:extLst>
                  <a:ext uri="{FF2B5EF4-FFF2-40B4-BE49-F238E27FC236}">
                    <a16:creationId xmlns:a16="http://schemas.microsoft.com/office/drawing/2014/main" id="{3D1C3857-5C10-74AE-8598-274F02CD4F52}"/>
                  </a:ext>
                </a:extLst>
              </p14:cNvPr>
              <p14:cNvContentPartPr/>
              <p14:nvPr/>
            </p14:nvContentPartPr>
            <p14:xfrm>
              <a:off x="3368182" y="3527030"/>
              <a:ext cx="1192320" cy="84600"/>
            </p14:xfrm>
          </p:contentPart>
        </mc:Choice>
        <mc:Fallback xmlns="">
          <p:pic>
            <p:nvPicPr>
              <p:cNvPr id="5" name="Ink 4">
                <a:extLst>
                  <a:ext uri="{FF2B5EF4-FFF2-40B4-BE49-F238E27FC236}">
                    <a16:creationId xmlns:a16="http://schemas.microsoft.com/office/drawing/2014/main" id="{3D1C3857-5C10-74AE-8598-274F02CD4F52}"/>
                  </a:ext>
                </a:extLst>
              </p:cNvPr>
              <p:cNvPicPr/>
              <p:nvPr/>
            </p:nvPicPr>
            <p:blipFill>
              <a:blip r:embed="rId56"/>
              <a:stretch>
                <a:fillRect/>
              </a:stretch>
            </p:blipFill>
            <p:spPr>
              <a:xfrm>
                <a:off x="3332182" y="3455030"/>
                <a:ext cx="1263960" cy="22824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10" name="Ink 9">
                <a:extLst>
                  <a:ext uri="{FF2B5EF4-FFF2-40B4-BE49-F238E27FC236}">
                    <a16:creationId xmlns:a16="http://schemas.microsoft.com/office/drawing/2014/main" id="{F3BAA7C5-C624-0AF8-CD59-E385D9BA29E2}"/>
                  </a:ext>
                </a:extLst>
              </p14:cNvPr>
              <p14:cNvContentPartPr/>
              <p14:nvPr/>
            </p14:nvContentPartPr>
            <p14:xfrm>
              <a:off x="2061742" y="3629270"/>
              <a:ext cx="2510640" cy="150120"/>
            </p14:xfrm>
          </p:contentPart>
        </mc:Choice>
        <mc:Fallback xmlns="">
          <p:pic>
            <p:nvPicPr>
              <p:cNvPr id="10" name="Ink 9">
                <a:extLst>
                  <a:ext uri="{FF2B5EF4-FFF2-40B4-BE49-F238E27FC236}">
                    <a16:creationId xmlns:a16="http://schemas.microsoft.com/office/drawing/2014/main" id="{F3BAA7C5-C624-0AF8-CD59-E385D9BA29E2}"/>
                  </a:ext>
                </a:extLst>
              </p:cNvPr>
              <p:cNvPicPr/>
              <p:nvPr/>
            </p:nvPicPr>
            <p:blipFill>
              <a:blip r:embed="rId58"/>
              <a:stretch>
                <a:fillRect/>
              </a:stretch>
            </p:blipFill>
            <p:spPr>
              <a:xfrm>
                <a:off x="2026102" y="3557270"/>
                <a:ext cx="2582280" cy="29376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14" name="Ink 13">
                <a:extLst>
                  <a:ext uri="{FF2B5EF4-FFF2-40B4-BE49-F238E27FC236}">
                    <a16:creationId xmlns:a16="http://schemas.microsoft.com/office/drawing/2014/main" id="{A10AB1D1-470D-A3C6-CBF7-E3A5CC3A7420}"/>
                  </a:ext>
                </a:extLst>
              </p14:cNvPr>
              <p14:cNvContentPartPr/>
              <p14:nvPr/>
            </p14:nvContentPartPr>
            <p14:xfrm>
              <a:off x="4572022" y="3778670"/>
              <a:ext cx="360" cy="360"/>
            </p14:xfrm>
          </p:contentPart>
        </mc:Choice>
        <mc:Fallback xmlns="">
          <p:pic>
            <p:nvPicPr>
              <p:cNvPr id="14" name="Ink 13">
                <a:extLst>
                  <a:ext uri="{FF2B5EF4-FFF2-40B4-BE49-F238E27FC236}">
                    <a16:creationId xmlns:a16="http://schemas.microsoft.com/office/drawing/2014/main" id="{A10AB1D1-470D-A3C6-CBF7-E3A5CC3A7420}"/>
                  </a:ext>
                </a:extLst>
              </p:cNvPr>
              <p:cNvPicPr/>
              <p:nvPr/>
            </p:nvPicPr>
            <p:blipFill>
              <a:blip r:embed="rId60"/>
              <a:stretch>
                <a:fillRect/>
              </a:stretch>
            </p:blipFill>
            <p:spPr>
              <a:xfrm>
                <a:off x="4536022" y="3707030"/>
                <a:ext cx="72000" cy="14400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31" name="Ink 30">
                <a:extLst>
                  <a:ext uri="{FF2B5EF4-FFF2-40B4-BE49-F238E27FC236}">
                    <a16:creationId xmlns:a16="http://schemas.microsoft.com/office/drawing/2014/main" id="{665BB010-1FC6-4CDC-233F-5E76195AB725}"/>
                  </a:ext>
                </a:extLst>
              </p14:cNvPr>
              <p14:cNvContentPartPr/>
              <p14:nvPr/>
            </p14:nvContentPartPr>
            <p14:xfrm>
              <a:off x="2080462" y="3843830"/>
              <a:ext cx="1829520" cy="84600"/>
            </p14:xfrm>
          </p:contentPart>
        </mc:Choice>
        <mc:Fallback xmlns="">
          <p:pic>
            <p:nvPicPr>
              <p:cNvPr id="31" name="Ink 30">
                <a:extLst>
                  <a:ext uri="{FF2B5EF4-FFF2-40B4-BE49-F238E27FC236}">
                    <a16:creationId xmlns:a16="http://schemas.microsoft.com/office/drawing/2014/main" id="{665BB010-1FC6-4CDC-233F-5E76195AB725}"/>
                  </a:ext>
                </a:extLst>
              </p:cNvPr>
              <p:cNvPicPr/>
              <p:nvPr/>
            </p:nvPicPr>
            <p:blipFill>
              <a:blip r:embed="rId62"/>
              <a:stretch>
                <a:fillRect/>
              </a:stretch>
            </p:blipFill>
            <p:spPr>
              <a:xfrm>
                <a:off x="2044462" y="3772190"/>
                <a:ext cx="1901160" cy="22824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33" name="Ink 32">
                <a:extLst>
                  <a:ext uri="{FF2B5EF4-FFF2-40B4-BE49-F238E27FC236}">
                    <a16:creationId xmlns:a16="http://schemas.microsoft.com/office/drawing/2014/main" id="{7C0BE07D-B165-325F-88A1-E6E51F0CFA44}"/>
                  </a:ext>
                </a:extLst>
              </p14:cNvPr>
              <p14:cNvContentPartPr/>
              <p14:nvPr/>
            </p14:nvContentPartPr>
            <p14:xfrm>
              <a:off x="5403860" y="3521036"/>
              <a:ext cx="1446120" cy="62640"/>
            </p14:xfrm>
          </p:contentPart>
        </mc:Choice>
        <mc:Fallback xmlns="">
          <p:pic>
            <p:nvPicPr>
              <p:cNvPr id="33" name="Ink 32">
                <a:extLst>
                  <a:ext uri="{FF2B5EF4-FFF2-40B4-BE49-F238E27FC236}">
                    <a16:creationId xmlns:a16="http://schemas.microsoft.com/office/drawing/2014/main" id="{7C0BE07D-B165-325F-88A1-E6E51F0CFA44}"/>
                  </a:ext>
                </a:extLst>
              </p:cNvPr>
              <p:cNvPicPr/>
              <p:nvPr/>
            </p:nvPicPr>
            <p:blipFill>
              <a:blip r:embed="rId64"/>
              <a:stretch>
                <a:fillRect/>
              </a:stretch>
            </p:blipFill>
            <p:spPr>
              <a:xfrm>
                <a:off x="5367860" y="3449036"/>
                <a:ext cx="1517760" cy="20628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34" name="Ink 33">
                <a:extLst>
                  <a:ext uri="{FF2B5EF4-FFF2-40B4-BE49-F238E27FC236}">
                    <a16:creationId xmlns:a16="http://schemas.microsoft.com/office/drawing/2014/main" id="{564EE1EB-6F84-617A-1AE3-0916AD8D78FC}"/>
                  </a:ext>
                </a:extLst>
              </p14:cNvPr>
              <p14:cNvContentPartPr/>
              <p14:nvPr/>
            </p14:nvContentPartPr>
            <p14:xfrm>
              <a:off x="7329860" y="3866996"/>
              <a:ext cx="991800" cy="23760"/>
            </p14:xfrm>
          </p:contentPart>
        </mc:Choice>
        <mc:Fallback xmlns="">
          <p:pic>
            <p:nvPicPr>
              <p:cNvPr id="34" name="Ink 33">
                <a:extLst>
                  <a:ext uri="{FF2B5EF4-FFF2-40B4-BE49-F238E27FC236}">
                    <a16:creationId xmlns:a16="http://schemas.microsoft.com/office/drawing/2014/main" id="{564EE1EB-6F84-617A-1AE3-0916AD8D78FC}"/>
                  </a:ext>
                </a:extLst>
              </p:cNvPr>
              <p:cNvPicPr/>
              <p:nvPr/>
            </p:nvPicPr>
            <p:blipFill>
              <a:blip r:embed="rId66"/>
              <a:stretch>
                <a:fillRect/>
              </a:stretch>
            </p:blipFill>
            <p:spPr>
              <a:xfrm>
                <a:off x="7294220" y="3795356"/>
                <a:ext cx="1063440" cy="16740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38" name="Ink 37">
                <a:extLst>
                  <a:ext uri="{FF2B5EF4-FFF2-40B4-BE49-F238E27FC236}">
                    <a16:creationId xmlns:a16="http://schemas.microsoft.com/office/drawing/2014/main" id="{AC248609-0D7A-DA9C-C767-251ADBDB89C8}"/>
                  </a:ext>
                </a:extLst>
              </p14:cNvPr>
              <p14:cNvContentPartPr/>
              <p14:nvPr/>
            </p14:nvContentPartPr>
            <p14:xfrm>
              <a:off x="5403860" y="4039076"/>
              <a:ext cx="2106000" cy="37800"/>
            </p14:xfrm>
          </p:contentPart>
        </mc:Choice>
        <mc:Fallback xmlns="">
          <p:pic>
            <p:nvPicPr>
              <p:cNvPr id="38" name="Ink 37">
                <a:extLst>
                  <a:ext uri="{FF2B5EF4-FFF2-40B4-BE49-F238E27FC236}">
                    <a16:creationId xmlns:a16="http://schemas.microsoft.com/office/drawing/2014/main" id="{AC248609-0D7A-DA9C-C767-251ADBDB89C8}"/>
                  </a:ext>
                </a:extLst>
              </p:cNvPr>
              <p:cNvPicPr/>
              <p:nvPr/>
            </p:nvPicPr>
            <p:blipFill>
              <a:blip r:embed="rId68"/>
              <a:stretch>
                <a:fillRect/>
              </a:stretch>
            </p:blipFill>
            <p:spPr>
              <a:xfrm>
                <a:off x="5367860" y="3967436"/>
                <a:ext cx="2177640" cy="18144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44" name="Ink 43">
                <a:extLst>
                  <a:ext uri="{FF2B5EF4-FFF2-40B4-BE49-F238E27FC236}">
                    <a16:creationId xmlns:a16="http://schemas.microsoft.com/office/drawing/2014/main" id="{F45B9936-C671-8E82-6085-C4267B215D9B}"/>
                  </a:ext>
                </a:extLst>
              </p14:cNvPr>
              <p14:cNvContentPartPr/>
              <p14:nvPr/>
            </p14:nvContentPartPr>
            <p14:xfrm>
              <a:off x="546740" y="4841516"/>
              <a:ext cx="555120" cy="30600"/>
            </p14:xfrm>
          </p:contentPart>
        </mc:Choice>
        <mc:Fallback xmlns="">
          <p:pic>
            <p:nvPicPr>
              <p:cNvPr id="44" name="Ink 43">
                <a:extLst>
                  <a:ext uri="{FF2B5EF4-FFF2-40B4-BE49-F238E27FC236}">
                    <a16:creationId xmlns:a16="http://schemas.microsoft.com/office/drawing/2014/main" id="{F45B9936-C671-8E82-6085-C4267B215D9B}"/>
                  </a:ext>
                </a:extLst>
              </p:cNvPr>
              <p:cNvPicPr/>
              <p:nvPr/>
            </p:nvPicPr>
            <p:blipFill>
              <a:blip r:embed="rId70"/>
              <a:stretch>
                <a:fillRect/>
              </a:stretch>
            </p:blipFill>
            <p:spPr>
              <a:xfrm>
                <a:off x="484100" y="4778516"/>
                <a:ext cx="680760" cy="15624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46" name="Ink 45">
                <a:extLst>
                  <a:ext uri="{FF2B5EF4-FFF2-40B4-BE49-F238E27FC236}">
                    <a16:creationId xmlns:a16="http://schemas.microsoft.com/office/drawing/2014/main" id="{03CCBAFD-5758-69F2-4D69-01B3395729FC}"/>
                  </a:ext>
                </a:extLst>
              </p14:cNvPr>
              <p14:cNvContentPartPr/>
              <p14:nvPr/>
            </p14:nvContentPartPr>
            <p14:xfrm>
              <a:off x="2091140" y="4878956"/>
              <a:ext cx="2386440" cy="720"/>
            </p14:xfrm>
          </p:contentPart>
        </mc:Choice>
        <mc:Fallback xmlns="">
          <p:pic>
            <p:nvPicPr>
              <p:cNvPr id="46" name="Ink 45">
                <a:extLst>
                  <a:ext uri="{FF2B5EF4-FFF2-40B4-BE49-F238E27FC236}">
                    <a16:creationId xmlns:a16="http://schemas.microsoft.com/office/drawing/2014/main" id="{03CCBAFD-5758-69F2-4D69-01B3395729FC}"/>
                  </a:ext>
                </a:extLst>
              </p:cNvPr>
              <p:cNvPicPr/>
              <p:nvPr/>
            </p:nvPicPr>
            <p:blipFill>
              <a:blip r:embed="rId72"/>
              <a:stretch>
                <a:fillRect/>
              </a:stretch>
            </p:blipFill>
            <p:spPr>
              <a:xfrm>
                <a:off x="2028140" y="4752956"/>
                <a:ext cx="2512080" cy="25200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47" name="Ink 46">
                <a:extLst>
                  <a:ext uri="{FF2B5EF4-FFF2-40B4-BE49-F238E27FC236}">
                    <a16:creationId xmlns:a16="http://schemas.microsoft.com/office/drawing/2014/main" id="{25472633-EA55-4062-260B-C97A88147057}"/>
                  </a:ext>
                </a:extLst>
              </p14:cNvPr>
              <p14:cNvContentPartPr/>
              <p14:nvPr/>
            </p14:nvContentPartPr>
            <p14:xfrm>
              <a:off x="3747140" y="4939076"/>
              <a:ext cx="644400" cy="61200"/>
            </p14:xfrm>
          </p:contentPart>
        </mc:Choice>
        <mc:Fallback xmlns="">
          <p:pic>
            <p:nvPicPr>
              <p:cNvPr id="47" name="Ink 46">
                <a:extLst>
                  <a:ext uri="{FF2B5EF4-FFF2-40B4-BE49-F238E27FC236}">
                    <a16:creationId xmlns:a16="http://schemas.microsoft.com/office/drawing/2014/main" id="{25472633-EA55-4062-260B-C97A88147057}"/>
                  </a:ext>
                </a:extLst>
              </p:cNvPr>
              <p:cNvPicPr/>
              <p:nvPr/>
            </p:nvPicPr>
            <p:blipFill>
              <a:blip r:embed="rId74"/>
              <a:stretch>
                <a:fillRect/>
              </a:stretch>
            </p:blipFill>
            <p:spPr>
              <a:xfrm>
                <a:off x="3684500" y="4876076"/>
                <a:ext cx="770040" cy="18684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48" name="Ink 47">
                <a:extLst>
                  <a:ext uri="{FF2B5EF4-FFF2-40B4-BE49-F238E27FC236}">
                    <a16:creationId xmlns:a16="http://schemas.microsoft.com/office/drawing/2014/main" id="{72C5E2B0-B041-E60A-A627-E2F7F78C4723}"/>
                  </a:ext>
                </a:extLst>
              </p14:cNvPr>
              <p14:cNvContentPartPr/>
              <p14:nvPr/>
            </p14:nvContentPartPr>
            <p14:xfrm>
              <a:off x="2555540" y="4909196"/>
              <a:ext cx="360" cy="360"/>
            </p14:xfrm>
          </p:contentPart>
        </mc:Choice>
        <mc:Fallback xmlns="">
          <p:pic>
            <p:nvPicPr>
              <p:cNvPr id="48" name="Ink 47">
                <a:extLst>
                  <a:ext uri="{FF2B5EF4-FFF2-40B4-BE49-F238E27FC236}">
                    <a16:creationId xmlns:a16="http://schemas.microsoft.com/office/drawing/2014/main" id="{72C5E2B0-B041-E60A-A627-E2F7F78C4723}"/>
                  </a:ext>
                </a:extLst>
              </p:cNvPr>
              <p:cNvPicPr/>
              <p:nvPr/>
            </p:nvPicPr>
            <p:blipFill>
              <a:blip r:embed="rId76"/>
              <a:stretch>
                <a:fillRect/>
              </a:stretch>
            </p:blipFill>
            <p:spPr>
              <a:xfrm>
                <a:off x="2492900" y="4846556"/>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50" name="Ink 49">
                <a:extLst>
                  <a:ext uri="{FF2B5EF4-FFF2-40B4-BE49-F238E27FC236}">
                    <a16:creationId xmlns:a16="http://schemas.microsoft.com/office/drawing/2014/main" id="{91BEB9F0-EFCD-548C-ED0B-F6FFCDB42962}"/>
                  </a:ext>
                </a:extLst>
              </p14:cNvPr>
              <p14:cNvContentPartPr/>
              <p14:nvPr/>
            </p14:nvContentPartPr>
            <p14:xfrm>
              <a:off x="5418620" y="4923956"/>
              <a:ext cx="2503800" cy="52920"/>
            </p14:xfrm>
          </p:contentPart>
        </mc:Choice>
        <mc:Fallback xmlns="">
          <p:pic>
            <p:nvPicPr>
              <p:cNvPr id="50" name="Ink 49">
                <a:extLst>
                  <a:ext uri="{FF2B5EF4-FFF2-40B4-BE49-F238E27FC236}">
                    <a16:creationId xmlns:a16="http://schemas.microsoft.com/office/drawing/2014/main" id="{91BEB9F0-EFCD-548C-ED0B-F6FFCDB42962}"/>
                  </a:ext>
                </a:extLst>
              </p:cNvPr>
              <p:cNvPicPr/>
              <p:nvPr/>
            </p:nvPicPr>
            <p:blipFill>
              <a:blip r:embed="rId78"/>
              <a:stretch>
                <a:fillRect/>
              </a:stretch>
            </p:blipFill>
            <p:spPr>
              <a:xfrm>
                <a:off x="5355980" y="4861316"/>
                <a:ext cx="2629440" cy="17856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51" name="Ink 50">
                <a:extLst>
                  <a:ext uri="{FF2B5EF4-FFF2-40B4-BE49-F238E27FC236}">
                    <a16:creationId xmlns:a16="http://schemas.microsoft.com/office/drawing/2014/main" id="{E08AAFC5-94A2-0731-A798-17F2273DD6D4}"/>
                  </a:ext>
                </a:extLst>
              </p14:cNvPr>
              <p14:cNvContentPartPr/>
              <p14:nvPr/>
            </p14:nvContentPartPr>
            <p14:xfrm>
              <a:off x="5313860" y="4436876"/>
              <a:ext cx="360" cy="360"/>
            </p14:xfrm>
          </p:contentPart>
        </mc:Choice>
        <mc:Fallback xmlns="">
          <p:pic>
            <p:nvPicPr>
              <p:cNvPr id="51" name="Ink 50">
                <a:extLst>
                  <a:ext uri="{FF2B5EF4-FFF2-40B4-BE49-F238E27FC236}">
                    <a16:creationId xmlns:a16="http://schemas.microsoft.com/office/drawing/2014/main" id="{E08AAFC5-94A2-0731-A798-17F2273DD6D4}"/>
                  </a:ext>
                </a:extLst>
              </p:cNvPr>
              <p:cNvPicPr/>
              <p:nvPr/>
            </p:nvPicPr>
            <p:blipFill>
              <a:blip r:embed="rId76"/>
              <a:stretch>
                <a:fillRect/>
              </a:stretch>
            </p:blipFill>
            <p:spPr>
              <a:xfrm>
                <a:off x="5250860" y="4373876"/>
                <a:ext cx="126000" cy="126000"/>
              </a:xfrm>
              <a:prstGeom prst="rect">
                <a:avLst/>
              </a:prstGeom>
            </p:spPr>
          </p:pic>
        </mc:Fallback>
      </mc:AlternateContent>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Managers Vs Entrepreneurs</a:t>
            </a:r>
            <a:endParaRPr lang="en-US" dirty="0"/>
          </a:p>
        </p:txBody>
      </p:sp>
      <p:pic>
        <p:nvPicPr>
          <p:cNvPr id="3074" name="Picture 2" descr="E:\Teaching-SVNIT\IIIT\I&amp;E\WhatsApp Image 2020-10-07 at 17.51.38 (1).jpeg"/>
          <p:cNvPicPr>
            <a:picLocks noGrp="1" noChangeAspect="1" noChangeArrowheads="1"/>
          </p:cNvPicPr>
          <p:nvPr>
            <p:ph sz="quarter" idx="1"/>
          </p:nvPr>
        </p:nvPicPr>
        <p:blipFill>
          <a:blip r:embed="rId2"/>
          <a:srcRect t="46260" b="10069"/>
          <a:stretch>
            <a:fillRect/>
          </a:stretch>
        </p:blipFill>
        <p:spPr bwMode="auto">
          <a:xfrm>
            <a:off x="228600" y="1219200"/>
            <a:ext cx="8915400" cy="5237274"/>
          </a:xfrm>
          <a:prstGeom prst="rect">
            <a:avLst/>
          </a:prstGeom>
          <a:noFill/>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C3675C68-35EF-5795-DF19-8C7DC24D5112}"/>
              </a:ext>
            </a:extLst>
          </p:cNvPr>
          <p:cNvSpPr>
            <a:spLocks noGrp="1"/>
          </p:cNvSpPr>
          <p:nvPr>
            <p:ph type="subTitle" idx="1"/>
          </p:nvPr>
        </p:nvSpPr>
        <p:spPr>
          <a:xfrm>
            <a:off x="762000" y="457200"/>
            <a:ext cx="7391400" cy="6019800"/>
          </a:xfrm>
        </p:spPr>
        <p:txBody>
          <a:bodyPr/>
          <a:lstStyle/>
          <a:p>
            <a:pPr algn="just"/>
            <a:r>
              <a:rPr lang="en-US" b="1" dirty="0">
                <a:solidFill>
                  <a:schemeClr val="tx1"/>
                </a:solidFill>
              </a:rPr>
              <a:t>INTRAPRENEUR</a:t>
            </a:r>
          </a:p>
          <a:p>
            <a:pPr algn="just"/>
            <a:r>
              <a:rPr lang="en-US" sz="2800" dirty="0">
                <a:solidFill>
                  <a:schemeClr val="tx1"/>
                </a:solidFill>
              </a:rPr>
              <a:t>An intrapreneur is a person who creates new ideas, products, or processes within a company, but does not own the business. </a:t>
            </a:r>
            <a:r>
              <a:rPr lang="en-US" sz="2800" b="1" dirty="0">
                <a:solidFill>
                  <a:schemeClr val="tx1"/>
                </a:solidFill>
              </a:rPr>
              <a:t>They use the company’s resources to innovate</a:t>
            </a:r>
            <a:r>
              <a:rPr lang="en-US" sz="2800" dirty="0">
                <a:solidFill>
                  <a:schemeClr val="tx1"/>
                </a:solidFill>
              </a:rPr>
              <a:t>.</a:t>
            </a:r>
          </a:p>
          <a:p>
            <a:pPr marL="514350" indent="-514350" algn="just">
              <a:buFont typeface="+mj-lt"/>
              <a:buAutoNum type="arabicPeriod"/>
            </a:pPr>
            <a:r>
              <a:rPr lang="en-US" sz="2800" b="1" dirty="0">
                <a:solidFill>
                  <a:schemeClr val="tx1"/>
                </a:solidFill>
              </a:rPr>
              <a:t>Works inside an organization.</a:t>
            </a:r>
          </a:p>
          <a:p>
            <a:pPr marL="514350" indent="-514350" algn="just">
              <a:buFont typeface="+mj-lt"/>
              <a:buAutoNum type="arabicPeriod"/>
            </a:pPr>
            <a:r>
              <a:rPr lang="en-US" sz="2800" b="1" dirty="0">
                <a:solidFill>
                  <a:schemeClr val="tx1"/>
                </a:solidFill>
              </a:rPr>
              <a:t>Thinks and acts like an entrepreneur.</a:t>
            </a:r>
          </a:p>
          <a:p>
            <a:pPr marL="514350" indent="-514350" algn="just">
              <a:buFont typeface="+mj-lt"/>
              <a:buAutoNum type="arabicPeriod"/>
            </a:pPr>
            <a:r>
              <a:rPr lang="en-US" sz="2800" b="1" dirty="0">
                <a:solidFill>
                  <a:schemeClr val="tx1"/>
                </a:solidFill>
              </a:rPr>
              <a:t>Takes initiative and responsibility.</a:t>
            </a:r>
          </a:p>
          <a:p>
            <a:pPr marL="514350" indent="-514350" algn="just">
              <a:buFont typeface="+mj-lt"/>
              <a:buAutoNum type="arabicPeriod"/>
            </a:pPr>
            <a:r>
              <a:rPr lang="en-US" sz="2800" b="1" dirty="0">
                <a:solidFill>
                  <a:schemeClr val="tx1"/>
                </a:solidFill>
              </a:rPr>
              <a:t>Uses company’s money, time, and resources.</a:t>
            </a:r>
          </a:p>
          <a:p>
            <a:pPr marL="514350" indent="-514350" algn="just">
              <a:buFont typeface="+mj-lt"/>
              <a:buAutoNum type="arabicPeriod"/>
            </a:pPr>
            <a:r>
              <a:rPr lang="en-US" sz="2800" b="1" dirty="0">
                <a:solidFill>
                  <a:schemeClr val="tx1"/>
                </a:solidFill>
              </a:rPr>
              <a:t>Risk is mostly taken by the company, not by the individual.</a:t>
            </a:r>
          </a:p>
          <a:p>
            <a:endParaRPr lang="en-IN" dirty="0">
              <a:solidFill>
                <a:schemeClr val="tx1"/>
              </a:solidFill>
            </a:endParaRPr>
          </a:p>
        </p:txBody>
      </p:sp>
    </p:spTree>
    <p:extLst>
      <p:ext uri="{BB962C8B-B14F-4D97-AF65-F5344CB8AC3E}">
        <p14:creationId xmlns:p14="http://schemas.microsoft.com/office/powerpoint/2010/main" val="220320874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Comparison </a:t>
            </a:r>
          </a:p>
        </p:txBody>
      </p:sp>
      <p:sp>
        <p:nvSpPr>
          <p:cNvPr id="3" name="Content Placeholder 2"/>
          <p:cNvSpPr>
            <a:spLocks noGrp="1"/>
          </p:cNvSpPr>
          <p:nvPr>
            <p:ph sz="quarter" idx="1"/>
          </p:nvPr>
        </p:nvSpPr>
        <p:spPr/>
        <p:txBody>
          <a:bodyPr/>
          <a:lstStyle/>
          <a:p>
            <a:endParaRPr lang="en-US"/>
          </a:p>
        </p:txBody>
      </p:sp>
      <p:pic>
        <p:nvPicPr>
          <p:cNvPr id="4099" name="Picture 3" descr="E:\Teaching-SVNIT\IIIT\I&amp;E\WhatsApp Image 2020-10-07 at 22.37.19.jpeg"/>
          <p:cNvPicPr>
            <a:picLocks noChangeAspect="1" noChangeArrowheads="1"/>
          </p:cNvPicPr>
          <p:nvPr/>
        </p:nvPicPr>
        <p:blipFill>
          <a:blip r:embed="rId2"/>
          <a:srcRect l="5000" t="6650" b="6650"/>
          <a:stretch>
            <a:fillRect/>
          </a:stretch>
        </p:blipFill>
        <p:spPr bwMode="auto">
          <a:xfrm>
            <a:off x="228600" y="1066800"/>
            <a:ext cx="8686800" cy="5257800"/>
          </a:xfrm>
          <a:prstGeom prst="rect">
            <a:avLst/>
          </a:prstGeom>
          <a:noFill/>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gn="ctr">
              <a:buNone/>
            </a:pPr>
            <a:r>
              <a:rPr lang="en-US" dirty="0"/>
              <a:t>        </a:t>
            </a:r>
            <a:r>
              <a:rPr lang="en-US" sz="6600" dirty="0"/>
              <a:t>CLASSIFICATION OF ENTREPRENEURS </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According to type of business</a:t>
            </a:r>
          </a:p>
        </p:txBody>
      </p:sp>
      <p:sp>
        <p:nvSpPr>
          <p:cNvPr id="3" name="Content Placeholder 2"/>
          <p:cNvSpPr>
            <a:spLocks noGrp="1"/>
          </p:cNvSpPr>
          <p:nvPr>
            <p:ph idx="1"/>
          </p:nvPr>
        </p:nvSpPr>
        <p:spPr/>
        <p:txBody>
          <a:bodyPr/>
          <a:lstStyle/>
          <a:p>
            <a:pPr marL="514350" indent="-514350">
              <a:buFont typeface="+mj-lt"/>
              <a:buAutoNum type="arabicPeriod"/>
            </a:pPr>
            <a:r>
              <a:rPr lang="en-US" dirty="0"/>
              <a:t>Business entrepreneur</a:t>
            </a:r>
          </a:p>
          <a:p>
            <a:pPr marL="514350" indent="-514350">
              <a:buFont typeface="+mj-lt"/>
              <a:buAutoNum type="arabicPeriod"/>
            </a:pPr>
            <a:r>
              <a:rPr lang="en-US" dirty="0"/>
              <a:t>Trading entrepreneur</a:t>
            </a:r>
          </a:p>
          <a:p>
            <a:pPr marL="514350" indent="-514350">
              <a:buFont typeface="+mj-lt"/>
              <a:buAutoNum type="arabicPeriod"/>
            </a:pPr>
            <a:r>
              <a:rPr lang="en-US" dirty="0"/>
              <a:t>Industrial entrepreneur</a:t>
            </a:r>
          </a:p>
          <a:p>
            <a:pPr marL="514350" indent="-514350">
              <a:buFont typeface="+mj-lt"/>
              <a:buAutoNum type="arabicPeriod"/>
            </a:pPr>
            <a:r>
              <a:rPr lang="en-US" dirty="0"/>
              <a:t>Corporate entrepreneur</a:t>
            </a:r>
          </a:p>
          <a:p>
            <a:pPr marL="514350" indent="-514350">
              <a:buFont typeface="+mj-lt"/>
              <a:buAutoNum type="arabicPeriod"/>
            </a:pPr>
            <a:r>
              <a:rPr lang="en-US" dirty="0"/>
              <a:t>Agricultural entrepreneur</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According to use of technology</a:t>
            </a:r>
          </a:p>
        </p:txBody>
      </p:sp>
      <p:sp>
        <p:nvSpPr>
          <p:cNvPr id="3" name="Content Placeholder 2"/>
          <p:cNvSpPr>
            <a:spLocks noGrp="1"/>
          </p:cNvSpPr>
          <p:nvPr>
            <p:ph idx="1"/>
          </p:nvPr>
        </p:nvSpPr>
        <p:spPr/>
        <p:txBody>
          <a:bodyPr/>
          <a:lstStyle/>
          <a:p>
            <a:pPr marL="514350" indent="-514350">
              <a:buFont typeface="+mj-lt"/>
              <a:buAutoNum type="arabicPeriod"/>
            </a:pPr>
            <a:r>
              <a:rPr lang="en-US" dirty="0"/>
              <a:t>Technical entrepreneur</a:t>
            </a:r>
          </a:p>
          <a:p>
            <a:pPr marL="514350" indent="-514350">
              <a:buFont typeface="+mj-lt"/>
              <a:buAutoNum type="arabicPeriod"/>
            </a:pPr>
            <a:r>
              <a:rPr lang="en-US" dirty="0"/>
              <a:t>Non-technical entrepreneur</a:t>
            </a:r>
          </a:p>
          <a:p>
            <a:pPr marL="514350" indent="-514350">
              <a:buFont typeface="+mj-lt"/>
              <a:buAutoNum type="arabicPeriod"/>
            </a:pPr>
            <a:r>
              <a:rPr lang="en-US" dirty="0"/>
              <a:t>Professional entrepreneur</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According to motivation</a:t>
            </a:r>
          </a:p>
        </p:txBody>
      </p:sp>
      <p:sp>
        <p:nvSpPr>
          <p:cNvPr id="3" name="Content Placeholder 2"/>
          <p:cNvSpPr>
            <a:spLocks noGrp="1"/>
          </p:cNvSpPr>
          <p:nvPr>
            <p:ph idx="1"/>
          </p:nvPr>
        </p:nvSpPr>
        <p:spPr/>
        <p:txBody>
          <a:bodyPr/>
          <a:lstStyle/>
          <a:p>
            <a:pPr marL="514350" indent="-514350">
              <a:buFont typeface="+mj-lt"/>
              <a:buAutoNum type="arabicPeriod"/>
            </a:pPr>
            <a:r>
              <a:rPr lang="en-US" dirty="0"/>
              <a:t>Pure entrepreneur</a:t>
            </a:r>
          </a:p>
          <a:p>
            <a:pPr marL="514350" indent="-514350">
              <a:buFont typeface="+mj-lt"/>
              <a:buAutoNum type="arabicPeriod"/>
            </a:pPr>
            <a:r>
              <a:rPr lang="en-US" dirty="0"/>
              <a:t>Induced entrepreneur</a:t>
            </a:r>
          </a:p>
          <a:p>
            <a:pPr marL="514350" indent="-514350">
              <a:buFont typeface="+mj-lt"/>
              <a:buAutoNum type="arabicPeriod"/>
            </a:pPr>
            <a:r>
              <a:rPr lang="en-US" dirty="0"/>
              <a:t>Motivated entrepreneur</a:t>
            </a:r>
          </a:p>
          <a:p>
            <a:pPr marL="514350" indent="-514350">
              <a:buFont typeface="+mj-lt"/>
              <a:buAutoNum type="arabicPeriod"/>
            </a:pPr>
            <a:r>
              <a:rPr lang="en-US" dirty="0"/>
              <a:t>Spontaneous entrepreneur</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457200" y="76200"/>
            <a:ext cx="8229600" cy="1143000"/>
          </a:xfrm>
        </p:spPr>
        <p:txBody>
          <a:bodyPr/>
          <a:lstStyle/>
          <a:p>
            <a:r>
              <a:rPr lang="en-US" b="1" dirty="0"/>
              <a:t>Classification of entrepreneurs</a:t>
            </a:r>
          </a:p>
        </p:txBody>
      </p:sp>
      <p:sp>
        <p:nvSpPr>
          <p:cNvPr id="8" name="Content Placeholder 7"/>
          <p:cNvSpPr>
            <a:spLocks noGrp="1"/>
          </p:cNvSpPr>
          <p:nvPr>
            <p:ph sz="quarter" idx="1"/>
          </p:nvPr>
        </p:nvSpPr>
        <p:spPr>
          <a:xfrm>
            <a:off x="457200" y="1066800"/>
            <a:ext cx="8229600" cy="5715000"/>
          </a:xfrm>
        </p:spPr>
        <p:txBody>
          <a:bodyPr>
            <a:normAutofit fontScale="92500" lnSpcReduction="20000"/>
          </a:bodyPr>
          <a:lstStyle/>
          <a:p>
            <a:pPr>
              <a:spcAft>
                <a:spcPts val="1200"/>
              </a:spcAft>
            </a:pPr>
            <a:r>
              <a:rPr lang="en-US" b="1" dirty="0"/>
              <a:t>Acc. to the type of business</a:t>
            </a:r>
          </a:p>
          <a:p>
            <a:pPr lvl="2">
              <a:spcAft>
                <a:spcPts val="1200"/>
              </a:spcAft>
            </a:pPr>
            <a:r>
              <a:rPr lang="en-US" b="1" dirty="0"/>
              <a:t>Business entrepreneurs</a:t>
            </a:r>
          </a:p>
          <a:p>
            <a:pPr lvl="2">
              <a:spcAft>
                <a:spcPts val="1200"/>
              </a:spcAft>
              <a:buFont typeface="Calibri" panose="020F0502020204030204" pitchFamily="34" charset="0"/>
              <a:buChar char="₋"/>
            </a:pPr>
            <a:r>
              <a:rPr lang="en-US" sz="2100" dirty="0"/>
              <a:t>A business entrepreneur is a person who starts and runs a business to earn profit by identifying customers’ needs and providing goods or services. </a:t>
            </a:r>
            <a:r>
              <a:rPr lang="en-US" sz="2100" b="1" dirty="0"/>
              <a:t>Eg- Opening a retail shop and starting a restaurant</a:t>
            </a:r>
          </a:p>
          <a:p>
            <a:pPr lvl="2">
              <a:spcAft>
                <a:spcPts val="1200"/>
              </a:spcAft>
            </a:pPr>
            <a:r>
              <a:rPr lang="en-US" b="1" dirty="0"/>
              <a:t>Trading entrepreneurs</a:t>
            </a:r>
          </a:p>
          <a:p>
            <a:pPr lvl="3" algn="just">
              <a:spcAft>
                <a:spcPts val="1200"/>
              </a:spcAft>
            </a:pPr>
            <a:r>
              <a:rPr lang="en-US" dirty="0"/>
              <a:t>These entrepreneurs are </a:t>
            </a:r>
            <a:r>
              <a:rPr lang="en-US" b="1" dirty="0"/>
              <a:t>associated only with trading activities that is buying and selling only</a:t>
            </a:r>
            <a:r>
              <a:rPr lang="en-US" dirty="0"/>
              <a:t>. They do not engage themselves with the manufacturing work. They undertake wholesale or retail trading activities. </a:t>
            </a:r>
            <a:r>
              <a:rPr lang="en-US" b="1" dirty="0"/>
              <a:t>Eg-A mobile phone shop owner</a:t>
            </a:r>
          </a:p>
          <a:p>
            <a:pPr lvl="2">
              <a:spcAft>
                <a:spcPts val="1200"/>
              </a:spcAft>
            </a:pPr>
            <a:r>
              <a:rPr lang="en-US" b="1" dirty="0"/>
              <a:t>Industrial entrepreneurs</a:t>
            </a:r>
          </a:p>
          <a:p>
            <a:pPr lvl="3" algn="just">
              <a:spcAft>
                <a:spcPts val="1200"/>
              </a:spcAft>
            </a:pPr>
            <a:r>
              <a:rPr lang="en-US" dirty="0"/>
              <a:t>These entrepreneurs are </a:t>
            </a:r>
            <a:r>
              <a:rPr lang="en-US" b="1" dirty="0"/>
              <a:t>associated with the manufacturing process</a:t>
            </a:r>
            <a:r>
              <a:rPr lang="en-US" dirty="0"/>
              <a:t> and industrial activities. These entrepreneurs may be involved in any large scale, medium scale or small scale industries. </a:t>
            </a:r>
            <a:r>
              <a:rPr lang="en-US" b="1" dirty="0"/>
              <a:t>Eg-Cement manufacturing plant</a:t>
            </a:r>
          </a:p>
          <a:p>
            <a:pPr lvl="2"/>
            <a:endParaRPr lang="en-US" b="1"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sz="quarter" idx="1"/>
          </p:nvPr>
        </p:nvSpPr>
        <p:spPr/>
        <p:txBody>
          <a:bodyPr>
            <a:normAutofit fontScale="92500" lnSpcReduction="20000"/>
          </a:bodyPr>
          <a:lstStyle/>
          <a:p>
            <a:pPr lvl="2">
              <a:spcAft>
                <a:spcPts val="1200"/>
              </a:spcAft>
            </a:pPr>
            <a:r>
              <a:rPr lang="en-US" b="1" dirty="0"/>
              <a:t>Corporate entrepreneurs</a:t>
            </a:r>
          </a:p>
          <a:p>
            <a:pPr lvl="3" algn="just">
              <a:spcAft>
                <a:spcPts val="1200"/>
              </a:spcAft>
            </a:pPr>
            <a:r>
              <a:rPr lang="en-US" dirty="0"/>
              <a:t> A person who </a:t>
            </a:r>
            <a:r>
              <a:rPr lang="en-US" b="1" dirty="0"/>
              <a:t>works within a large company and brings new ideas, products, or processes</a:t>
            </a:r>
            <a:r>
              <a:rPr lang="en-US" dirty="0"/>
              <a:t>. These entrepreneurs promote and establish corporate empires. They are successful at initiating and running corporate companies. Eg-An </a:t>
            </a:r>
            <a:r>
              <a:rPr lang="en-US" b="1" dirty="0"/>
              <a:t>employee at Tata, Infosys, Google launching a new product</a:t>
            </a:r>
          </a:p>
          <a:p>
            <a:pPr lvl="2">
              <a:spcAft>
                <a:spcPts val="1200"/>
              </a:spcAft>
            </a:pPr>
            <a:r>
              <a:rPr lang="en-US" b="1" dirty="0"/>
              <a:t>Agricultural entrepreneurs </a:t>
            </a:r>
          </a:p>
          <a:p>
            <a:pPr lvl="3" algn="just">
              <a:spcAft>
                <a:spcPts val="1200"/>
              </a:spcAft>
            </a:pPr>
            <a:r>
              <a:rPr lang="en-US" dirty="0"/>
              <a:t>Agricultural entrepreneurs are the entrepreneurs involved in agricultural and allied activities. </a:t>
            </a:r>
            <a:r>
              <a:rPr lang="en-US" b="1" dirty="0"/>
              <a:t>A person who uses farming and agriculture in an innovative and business-oriented way</a:t>
            </a:r>
            <a:r>
              <a:rPr lang="en-US" dirty="0"/>
              <a:t>. They can also be </a:t>
            </a:r>
            <a:r>
              <a:rPr lang="en-US" b="1" dirty="0"/>
              <a:t>engaged in horticulture, animal husbandry, dairy farming etc.</a:t>
            </a:r>
          </a:p>
          <a:p>
            <a:pPr lvl="3" algn="just">
              <a:spcAft>
                <a:spcPts val="1200"/>
              </a:spcAft>
              <a:buNone/>
            </a:pPr>
            <a:r>
              <a:rPr lang="en-US" b="1" dirty="0"/>
              <a:t> </a:t>
            </a:r>
            <a:br>
              <a:rPr lang="en-US" dirty="0"/>
            </a:br>
            <a:endParaRPr lang="en-US" b="1" dirty="0"/>
          </a:p>
          <a:p>
            <a:endParaRPr 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b="1" dirty="0"/>
              <a:t>Classification of entrepreneurs</a:t>
            </a:r>
          </a:p>
        </p:txBody>
      </p:sp>
      <p:sp>
        <p:nvSpPr>
          <p:cNvPr id="8" name="Content Placeholder 7"/>
          <p:cNvSpPr>
            <a:spLocks noGrp="1"/>
          </p:cNvSpPr>
          <p:nvPr>
            <p:ph sz="quarter" idx="1"/>
          </p:nvPr>
        </p:nvSpPr>
        <p:spPr/>
        <p:txBody>
          <a:bodyPr>
            <a:normAutofit fontScale="85000" lnSpcReduction="10000"/>
          </a:bodyPr>
          <a:lstStyle/>
          <a:p>
            <a:pPr>
              <a:spcAft>
                <a:spcPts val="1200"/>
              </a:spcAft>
            </a:pPr>
            <a:r>
              <a:rPr lang="en-US" b="1" dirty="0"/>
              <a:t>Acc. to the use of technology</a:t>
            </a:r>
          </a:p>
          <a:p>
            <a:pPr lvl="2">
              <a:spcAft>
                <a:spcPts val="1200"/>
              </a:spcAft>
            </a:pPr>
            <a:r>
              <a:rPr lang="en-US" b="1" dirty="0"/>
              <a:t>Technical entrepreneurs</a:t>
            </a:r>
          </a:p>
          <a:p>
            <a:pPr lvl="3" algn="just">
              <a:spcAft>
                <a:spcPts val="1200"/>
              </a:spcAft>
            </a:pPr>
            <a:r>
              <a:rPr lang="en-US" b="1" dirty="0"/>
              <a:t>These entrepreneurs are technically sound and trained</a:t>
            </a:r>
            <a:r>
              <a:rPr lang="en-US" dirty="0"/>
              <a:t>. They </a:t>
            </a:r>
            <a:r>
              <a:rPr lang="en-US" b="1" dirty="0"/>
              <a:t>use their technical skills in establishing and improving the manufacturing units with latest level of technology. </a:t>
            </a:r>
            <a:r>
              <a:rPr lang="en-US" dirty="0"/>
              <a:t>They highly influence the production technique. </a:t>
            </a:r>
          </a:p>
          <a:p>
            <a:pPr lvl="3" algn="just">
              <a:spcAft>
                <a:spcPts val="1200"/>
              </a:spcAft>
            </a:pPr>
            <a:r>
              <a:rPr lang="en-US" b="1" dirty="0"/>
              <a:t>Eg-A software engineer who starts a software company or app startup</a:t>
            </a:r>
          </a:p>
          <a:p>
            <a:pPr lvl="2">
              <a:spcAft>
                <a:spcPts val="1200"/>
              </a:spcAft>
            </a:pPr>
            <a:r>
              <a:rPr lang="en-US" b="1" dirty="0"/>
              <a:t>Non-technical entrepreneurs</a:t>
            </a:r>
          </a:p>
          <a:p>
            <a:pPr lvl="3" algn="just">
              <a:spcAft>
                <a:spcPts val="1200"/>
              </a:spcAft>
            </a:pPr>
            <a:r>
              <a:rPr lang="en-US" dirty="0"/>
              <a:t>These entrepreneurs are </a:t>
            </a:r>
            <a:r>
              <a:rPr lang="en-US" b="1" dirty="0"/>
              <a:t>not much concerned with the technical aspects </a:t>
            </a:r>
            <a:r>
              <a:rPr lang="en-US" dirty="0"/>
              <a:t>of the entrepreneurship. They </a:t>
            </a:r>
            <a:r>
              <a:rPr lang="en-US" b="1" dirty="0"/>
              <a:t>focus on evolving alternative strategies of marketing and distribution in order to promote their business</a:t>
            </a:r>
            <a:r>
              <a:rPr lang="en-US" dirty="0"/>
              <a:t>.</a:t>
            </a:r>
          </a:p>
          <a:p>
            <a:pPr lvl="3" algn="just">
              <a:spcAft>
                <a:spcPts val="1200"/>
              </a:spcAft>
            </a:pPr>
            <a:r>
              <a:rPr lang="en-US" b="1" dirty="0"/>
              <a:t>Eg- A person opening a supermarket </a:t>
            </a:r>
          </a:p>
          <a:p>
            <a:pPr lvl="2"/>
            <a:endParaRPr lang="en-US" b="1"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lstStyle/>
          <a:p>
            <a:pPr lvl="2">
              <a:spcAft>
                <a:spcPts val="1200"/>
              </a:spcAft>
            </a:pPr>
            <a:r>
              <a:rPr lang="en-US" b="1" dirty="0"/>
              <a:t>Professional entrepreneurs</a:t>
            </a:r>
          </a:p>
          <a:p>
            <a:pPr marL="914400" lvl="2" indent="0">
              <a:spcAft>
                <a:spcPts val="1200"/>
              </a:spcAft>
              <a:buNone/>
            </a:pPr>
            <a:r>
              <a:rPr lang="en-US" sz="2000" dirty="0"/>
              <a:t>-A professional entrepreneur is a person who starts a business using their professional knowledge, skills, or expertise. They usually belong to fields like law, medicine, engineering, accounting, architecture, consulting, IT, or design. </a:t>
            </a:r>
          </a:p>
          <a:p>
            <a:pPr marL="914400" lvl="2" indent="0">
              <a:spcAft>
                <a:spcPts val="1200"/>
              </a:spcAft>
              <a:buNone/>
            </a:pPr>
            <a:r>
              <a:rPr lang="en-US" sz="2000" dirty="0"/>
              <a:t>-They are not traditional traders or manufacturers — instead, they sell specialized services.</a:t>
            </a:r>
          </a:p>
          <a:p>
            <a:pPr marL="914400" lvl="2" indent="0">
              <a:spcAft>
                <a:spcPts val="1200"/>
              </a:spcAft>
              <a:buNone/>
            </a:pPr>
            <a:r>
              <a:rPr lang="en-US" sz="2000" dirty="0"/>
              <a:t>-Eg-A chartered accountant opening a CA firm</a:t>
            </a:r>
          </a:p>
          <a:p>
            <a:pPr marL="0" indent="0">
              <a:buNone/>
            </a:pPr>
            <a:endParaRPr 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b="1" dirty="0"/>
              <a:t>Classification of entrepreneurs</a:t>
            </a:r>
          </a:p>
        </p:txBody>
      </p:sp>
      <p:sp>
        <p:nvSpPr>
          <p:cNvPr id="8" name="Content Placeholder 7"/>
          <p:cNvSpPr>
            <a:spLocks noGrp="1"/>
          </p:cNvSpPr>
          <p:nvPr>
            <p:ph sz="quarter" idx="1"/>
          </p:nvPr>
        </p:nvSpPr>
        <p:spPr/>
        <p:txBody>
          <a:bodyPr>
            <a:normAutofit fontScale="92500" lnSpcReduction="20000"/>
          </a:bodyPr>
          <a:lstStyle/>
          <a:p>
            <a:pPr>
              <a:spcAft>
                <a:spcPts val="1200"/>
              </a:spcAft>
            </a:pPr>
            <a:r>
              <a:rPr lang="en-US" b="1" dirty="0"/>
              <a:t>Acc. to motivation</a:t>
            </a:r>
          </a:p>
          <a:p>
            <a:pPr lvl="2">
              <a:spcAft>
                <a:spcPts val="1200"/>
              </a:spcAft>
            </a:pPr>
            <a:r>
              <a:rPr lang="en-US" b="1" dirty="0"/>
              <a:t>Pure entrepreneurs</a:t>
            </a:r>
          </a:p>
          <a:p>
            <a:pPr lvl="3" algn="just">
              <a:spcAft>
                <a:spcPts val="1200"/>
              </a:spcAft>
            </a:pPr>
            <a:r>
              <a:rPr lang="en-US" dirty="0"/>
              <a:t>A pure </a:t>
            </a:r>
            <a:r>
              <a:rPr lang="en-US" b="1" dirty="0"/>
              <a:t>entrepreneur starts a business out of passion and inner desire</a:t>
            </a:r>
            <a:r>
              <a:rPr lang="en-US" dirty="0"/>
              <a:t>, not because of pressure, government support, or compulsion.</a:t>
            </a:r>
          </a:p>
          <a:p>
            <a:pPr lvl="3" algn="just">
              <a:spcAft>
                <a:spcPts val="1200"/>
              </a:spcAft>
            </a:pPr>
            <a:r>
              <a:rPr lang="en-US" b="1" dirty="0"/>
              <a:t>Eg-A person who loves baking starts a bakery because it is their passion, not because they have no job or got a subsidy.</a:t>
            </a:r>
          </a:p>
          <a:p>
            <a:pPr lvl="2"/>
            <a:r>
              <a:rPr lang="en-US" b="1" dirty="0"/>
              <a:t>Spontaneous entrepreneurs</a:t>
            </a:r>
          </a:p>
          <a:p>
            <a:pPr lvl="3" algn="just"/>
            <a:r>
              <a:rPr lang="en-US" dirty="0"/>
              <a:t>A spontaneous entrepreneur starts a business naturally and willingly, without any pressure or external support, because they see an opportunity</a:t>
            </a:r>
            <a:r>
              <a:rPr lang="en-US" b="1" dirty="0"/>
              <a:t>. He is opportunity-driven and acts quickly on ideas.</a:t>
            </a:r>
          </a:p>
          <a:p>
            <a:pPr lvl="3" algn="just"/>
            <a:r>
              <a:rPr lang="en-US" b="1" dirty="0"/>
              <a:t>Eg-Someone notices high demand for organic products and immediately starts an organic food store on their own.</a:t>
            </a:r>
          </a:p>
          <a:p>
            <a:pPr lvl="2"/>
            <a:endParaRPr lang="en-US" b="1"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normAutofit fontScale="92500" lnSpcReduction="20000"/>
          </a:bodyPr>
          <a:lstStyle/>
          <a:p>
            <a:pPr lvl="2">
              <a:spcAft>
                <a:spcPts val="1200"/>
              </a:spcAft>
            </a:pPr>
            <a:r>
              <a:rPr lang="en-US" b="1" dirty="0"/>
              <a:t>Induced entrepreneurs</a:t>
            </a:r>
          </a:p>
          <a:p>
            <a:pPr lvl="3" algn="just">
              <a:spcAft>
                <a:spcPts val="1200"/>
              </a:spcAft>
            </a:pPr>
            <a:r>
              <a:rPr lang="en-US" dirty="0"/>
              <a:t>An induced </a:t>
            </a:r>
            <a:r>
              <a:rPr lang="en-US" b="1" dirty="0"/>
              <a:t>entrepreneur starts a business because of external support or encouragement like government schemes, subsidies, tax benefits, or training programs.</a:t>
            </a:r>
            <a:r>
              <a:rPr lang="en-US" dirty="0"/>
              <a:t> Motivation comes from outside in which government policies play a big role.</a:t>
            </a:r>
          </a:p>
          <a:p>
            <a:pPr lvl="3" algn="just">
              <a:spcAft>
                <a:spcPts val="1200"/>
              </a:spcAft>
            </a:pPr>
            <a:r>
              <a:rPr lang="en-US" dirty="0"/>
              <a:t>Eg- </a:t>
            </a:r>
            <a:r>
              <a:rPr lang="en-US" b="1" dirty="0"/>
              <a:t>A person opens a small manufacturing unit after getting a government loan, subsidy</a:t>
            </a:r>
            <a:r>
              <a:rPr lang="en-US" dirty="0"/>
              <a:t>, and training under a startup scheme.</a:t>
            </a:r>
          </a:p>
          <a:p>
            <a:pPr lvl="2" algn="just">
              <a:spcAft>
                <a:spcPts val="1200"/>
              </a:spcAft>
            </a:pPr>
            <a:r>
              <a:rPr lang="en-US" sz="2200" b="1" dirty="0"/>
              <a:t>Motivated entrepreneur</a:t>
            </a:r>
          </a:p>
          <a:p>
            <a:pPr lvl="3" algn="just">
              <a:spcAft>
                <a:spcPts val="1200"/>
              </a:spcAft>
              <a:buFont typeface="Calibri" panose="020F0502020204030204" pitchFamily="34" charset="0"/>
              <a:buChar char="₋"/>
            </a:pPr>
            <a:r>
              <a:rPr lang="en-US" b="1" dirty="0"/>
              <a:t>A motivated entrepreneur starts a business to achieve personal goals</a:t>
            </a:r>
            <a:r>
              <a:rPr lang="en-US" dirty="0"/>
              <a:t> like earning more </a:t>
            </a:r>
            <a:r>
              <a:rPr lang="en-US" b="1" dirty="0"/>
              <a:t>money, gaining social status</a:t>
            </a:r>
            <a:r>
              <a:rPr lang="en-US" dirty="0"/>
              <a:t>, or becoming successful. </a:t>
            </a:r>
            <a:r>
              <a:rPr lang="en-US" b="1" dirty="0"/>
              <a:t>May be influenced by success stories.</a:t>
            </a:r>
          </a:p>
          <a:p>
            <a:pPr lvl="3" algn="just">
              <a:spcAft>
                <a:spcPts val="1200"/>
              </a:spcAft>
              <a:buFont typeface="Calibri" panose="020F0502020204030204" pitchFamily="34" charset="0"/>
              <a:buChar char="₋"/>
            </a:pPr>
            <a:r>
              <a:rPr lang="en-US" dirty="0"/>
              <a:t>Eg- </a:t>
            </a:r>
            <a:r>
              <a:rPr lang="en-US" b="1" dirty="0"/>
              <a:t>A salaried employee starts an online business after seeing others become financially successful</a:t>
            </a:r>
            <a:r>
              <a:rPr lang="en-US" dirty="0"/>
              <a:t>.</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p:cNvSpPr>
            <a:spLocks noGrp="1"/>
          </p:cNvSpPr>
          <p:nvPr>
            <p:ph sz="quarter" idx="1"/>
          </p:nvPr>
        </p:nvSpPr>
        <p:spPr>
          <a:xfrm>
            <a:off x="0" y="0"/>
            <a:ext cx="9220200" cy="6934200"/>
          </a:xfrm>
        </p:spPr>
        <p:txBody>
          <a:bodyPr>
            <a:normAutofit lnSpcReduction="10000"/>
          </a:bodyPr>
          <a:lstStyle/>
          <a:p>
            <a:pPr>
              <a:spcAft>
                <a:spcPts val="1200"/>
              </a:spcAft>
            </a:pPr>
            <a:r>
              <a:rPr lang="en-US" b="1" dirty="0"/>
              <a:t>Acc. to growth</a:t>
            </a:r>
          </a:p>
          <a:p>
            <a:pPr lvl="2">
              <a:spcAft>
                <a:spcPts val="1200"/>
              </a:spcAft>
            </a:pPr>
            <a:r>
              <a:rPr lang="en-US" b="1" dirty="0">
                <a:latin typeface="+mj-lt"/>
              </a:rPr>
              <a:t>Growth entrepreneurs</a:t>
            </a:r>
          </a:p>
          <a:p>
            <a:pPr marL="914400" lvl="2" indent="0">
              <a:spcAft>
                <a:spcPts val="1200"/>
              </a:spcAft>
              <a:buNone/>
            </a:pPr>
            <a:r>
              <a:rPr lang="en-US" sz="2200" b="1" dirty="0">
                <a:latin typeface="+mj-lt"/>
              </a:rPr>
              <a:t>Growth entrepreneurs start businesses in industries that are expected to grow steadily over time</a:t>
            </a:r>
            <a:r>
              <a:rPr lang="en-US" sz="2200" dirty="0">
                <a:latin typeface="+mj-lt"/>
              </a:rPr>
              <a:t>. Their aim is continuous and stable growth, not overnight success.</a:t>
            </a:r>
          </a:p>
          <a:p>
            <a:pPr marL="914400" lvl="2" indent="0">
              <a:spcAft>
                <a:spcPts val="1200"/>
              </a:spcAft>
              <a:buNone/>
            </a:pPr>
            <a:r>
              <a:rPr lang="en-US" sz="2200" dirty="0">
                <a:latin typeface="+mj-lt"/>
              </a:rPr>
              <a:t>Ex: A person starts a software services company and gradually expands by adding more clients, employees, and branches over the years.</a:t>
            </a:r>
          </a:p>
          <a:p>
            <a:pPr lvl="2">
              <a:spcAft>
                <a:spcPts val="1200"/>
              </a:spcAft>
            </a:pPr>
            <a:r>
              <a:rPr lang="en-US" b="1" dirty="0">
                <a:latin typeface="+mj-lt"/>
              </a:rPr>
              <a:t>Super growth entrepreneurs</a:t>
            </a:r>
          </a:p>
          <a:p>
            <a:pPr marL="914400" lvl="2" indent="0">
              <a:buNone/>
            </a:pPr>
            <a:r>
              <a:rPr lang="en-US" b="1" dirty="0">
                <a:latin typeface="+mj-lt"/>
              </a:rPr>
              <a:t>Super growth entrepreneurs achieve very fast and very high growth in a short time</a:t>
            </a:r>
            <a:r>
              <a:rPr lang="en-US" dirty="0">
                <a:latin typeface="+mj-lt"/>
              </a:rPr>
              <a:t>. Their businesses grow rapidly in size, profit, and market value.</a:t>
            </a:r>
          </a:p>
          <a:p>
            <a:pPr marL="914400" lvl="2" indent="0">
              <a:buNone/>
            </a:pPr>
            <a:r>
              <a:rPr lang="en-US" dirty="0">
                <a:latin typeface="+mj-lt"/>
              </a:rPr>
              <a:t>Business shows enormous growth, Strong profitability, Good liquidity, effective use of borrowed funds to expand and often supported by investors or venture capital.</a:t>
            </a:r>
          </a:p>
          <a:p>
            <a:pPr marL="914400" lvl="2" indent="0">
              <a:buNone/>
            </a:pPr>
            <a:r>
              <a:rPr lang="en-US" dirty="0">
                <a:latin typeface="+mj-lt"/>
              </a:rPr>
              <a:t>Ex: Founders of startups like Flipkart, Zomato, or Paytm—their companies grew extremely fast in revenue, customers, and valuation.</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b="1" dirty="0"/>
              <a:t>Classification of entrepreneurs</a:t>
            </a:r>
          </a:p>
        </p:txBody>
      </p:sp>
      <p:sp>
        <p:nvSpPr>
          <p:cNvPr id="8" name="Content Placeholder 7"/>
          <p:cNvSpPr>
            <a:spLocks noGrp="1"/>
          </p:cNvSpPr>
          <p:nvPr>
            <p:ph sz="quarter" idx="1"/>
          </p:nvPr>
        </p:nvSpPr>
        <p:spPr>
          <a:xfrm>
            <a:off x="301752" y="1527048"/>
            <a:ext cx="8503920" cy="5026152"/>
          </a:xfrm>
        </p:spPr>
        <p:txBody>
          <a:bodyPr>
            <a:normAutofit/>
          </a:bodyPr>
          <a:lstStyle/>
          <a:p>
            <a:pPr>
              <a:spcAft>
                <a:spcPts val="1200"/>
              </a:spcAft>
            </a:pPr>
            <a:r>
              <a:rPr lang="en-US" b="1" dirty="0"/>
              <a:t>Acc. to stages of development</a:t>
            </a:r>
          </a:p>
          <a:p>
            <a:pPr lvl="2">
              <a:spcAft>
                <a:spcPts val="1200"/>
              </a:spcAft>
            </a:pPr>
            <a:r>
              <a:rPr lang="en-US" b="1" dirty="0"/>
              <a:t>First-generation entrepreneurs</a:t>
            </a:r>
          </a:p>
          <a:p>
            <a:pPr lvl="3" algn="just">
              <a:spcAft>
                <a:spcPts val="1200"/>
              </a:spcAft>
            </a:pPr>
            <a:r>
              <a:rPr lang="en-US" sz="2400" dirty="0"/>
              <a:t>These entrepreneurs had </a:t>
            </a:r>
            <a:r>
              <a:rPr lang="en-US" sz="2400" b="1" dirty="0"/>
              <a:t>not inherited any family business</a:t>
            </a:r>
            <a:r>
              <a:rPr lang="en-US" sz="2400" dirty="0"/>
              <a:t>. They had established their own enterprises. They are </a:t>
            </a:r>
            <a:r>
              <a:rPr lang="en-US" sz="2400" b="1" dirty="0"/>
              <a:t>self-made and lack any previous entrepreneurial experiences.</a:t>
            </a:r>
          </a:p>
          <a:p>
            <a:pPr lvl="2">
              <a:spcAft>
                <a:spcPts val="1200"/>
              </a:spcAft>
            </a:pPr>
            <a:r>
              <a:rPr lang="en-US" b="1" dirty="0"/>
              <a:t>Second-generation entrepreneurs</a:t>
            </a:r>
          </a:p>
          <a:p>
            <a:pPr lvl="3" algn="just">
              <a:spcAft>
                <a:spcPts val="1200"/>
              </a:spcAft>
            </a:pPr>
            <a:r>
              <a:rPr lang="en-US" sz="2400" b="1" dirty="0"/>
              <a:t>Second generation entrepreneur are those entrepreneurs who inherit the family business firms </a:t>
            </a:r>
            <a:r>
              <a:rPr lang="en-US" sz="2400" dirty="0"/>
              <a:t>and pass it from one generation to another.</a:t>
            </a:r>
            <a:endParaRPr lang="en-US" sz="2400" b="1" dirty="0"/>
          </a:p>
          <a:p>
            <a:pPr lvl="2"/>
            <a:endParaRPr lang="en-US" b="1"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533400"/>
            <a:ext cx="8229600" cy="6324600"/>
          </a:xfrm>
        </p:spPr>
        <p:txBody>
          <a:bodyPr>
            <a:normAutofit fontScale="77500" lnSpcReduction="20000"/>
          </a:bodyPr>
          <a:lstStyle/>
          <a:p>
            <a:pPr algn="just">
              <a:spcAft>
                <a:spcPts val="1200"/>
              </a:spcAft>
            </a:pPr>
            <a:r>
              <a:rPr lang="en-US" b="1" dirty="0"/>
              <a:t>Modern entrepreneurs</a:t>
            </a:r>
          </a:p>
          <a:p>
            <a:pPr marL="0" indent="0" algn="just">
              <a:spcAft>
                <a:spcPts val="1200"/>
              </a:spcAft>
              <a:buNone/>
            </a:pPr>
            <a:r>
              <a:rPr lang="en-US" b="1" dirty="0"/>
              <a:t>Starts a business by understanding current market trends</a:t>
            </a:r>
            <a:r>
              <a:rPr lang="en-US" dirty="0"/>
              <a:t>. He </a:t>
            </a:r>
            <a:r>
              <a:rPr lang="en-US" b="1" dirty="0"/>
              <a:t>changes products or services according to customer needs</a:t>
            </a:r>
            <a:r>
              <a:rPr lang="en-US" dirty="0"/>
              <a:t>, Uses </a:t>
            </a:r>
            <a:r>
              <a:rPr lang="en-US" b="1" dirty="0"/>
              <a:t>new technology</a:t>
            </a:r>
            <a:r>
              <a:rPr lang="en-US" dirty="0"/>
              <a:t>, i</a:t>
            </a:r>
            <a:r>
              <a:rPr lang="en-US" b="1" dirty="0"/>
              <a:t>nnovation</a:t>
            </a:r>
            <a:r>
              <a:rPr lang="en-US" dirty="0"/>
              <a:t>, and </a:t>
            </a:r>
            <a:r>
              <a:rPr lang="en-US" b="1" dirty="0"/>
              <a:t>ideas</a:t>
            </a:r>
            <a:r>
              <a:rPr lang="en-US" dirty="0"/>
              <a:t>. </a:t>
            </a:r>
            <a:r>
              <a:rPr lang="en-US" b="1" dirty="0"/>
              <a:t>Focuses on growth, creativity, and adaptability.</a:t>
            </a:r>
          </a:p>
          <a:p>
            <a:pPr marL="0" indent="0" algn="just">
              <a:spcAft>
                <a:spcPts val="1200"/>
              </a:spcAft>
              <a:buNone/>
            </a:pPr>
            <a:r>
              <a:rPr lang="en-US" dirty="0"/>
              <a:t>Ex: A person </a:t>
            </a:r>
            <a:r>
              <a:rPr lang="en-US" b="1" dirty="0"/>
              <a:t>starting an online clothing store</a:t>
            </a:r>
            <a:r>
              <a:rPr lang="en-US" dirty="0"/>
              <a:t>, food delivery app, or digital marketing agency based on today’s demand.</a:t>
            </a:r>
          </a:p>
          <a:p>
            <a:pPr algn="just">
              <a:spcAft>
                <a:spcPts val="1200"/>
              </a:spcAft>
            </a:pPr>
            <a:r>
              <a:rPr lang="en-US" b="1" dirty="0"/>
              <a:t>Classical entrepreneurs</a:t>
            </a:r>
          </a:p>
          <a:p>
            <a:pPr marL="0" indent="0" algn="just">
              <a:buNone/>
            </a:pPr>
            <a:r>
              <a:rPr lang="en-US" sz="3400" b="1" dirty="0"/>
              <a:t>Focuses mainly on earning profit. Runs the business in a traditional way</a:t>
            </a:r>
            <a:r>
              <a:rPr lang="en-US" sz="3400" dirty="0"/>
              <a:t>. He is </a:t>
            </a:r>
            <a:r>
              <a:rPr lang="en-US" sz="3400" b="1" dirty="0"/>
              <a:t>satisfied with stable income and survival</a:t>
            </a:r>
            <a:r>
              <a:rPr lang="en-US" sz="3400" dirty="0"/>
              <a:t> also May or may not focus on growth or expansion.</a:t>
            </a:r>
          </a:p>
          <a:p>
            <a:pPr marL="0" indent="0" algn="just">
              <a:buNone/>
            </a:pPr>
            <a:r>
              <a:rPr lang="en-US" sz="3400" dirty="0"/>
              <a:t>Ex: A </a:t>
            </a:r>
            <a:r>
              <a:rPr lang="en-US" sz="3400" b="1" dirty="0"/>
              <a:t>small grocery shop owner </a:t>
            </a:r>
            <a:r>
              <a:rPr lang="en-US" sz="3400" dirty="0"/>
              <a:t>or traditional textile trader who runs the same business for many years without major changes.</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b="1" dirty="0"/>
              <a:t>Classification of entrepreneurs</a:t>
            </a:r>
          </a:p>
        </p:txBody>
      </p:sp>
      <p:sp>
        <p:nvSpPr>
          <p:cNvPr id="8" name="Content Placeholder 7"/>
          <p:cNvSpPr>
            <a:spLocks noGrp="1"/>
          </p:cNvSpPr>
          <p:nvPr>
            <p:ph sz="quarter" idx="1"/>
          </p:nvPr>
        </p:nvSpPr>
        <p:spPr>
          <a:xfrm>
            <a:off x="301752" y="1295400"/>
            <a:ext cx="8503920" cy="5410200"/>
          </a:xfrm>
        </p:spPr>
        <p:txBody>
          <a:bodyPr numCol="2">
            <a:normAutofit fontScale="25000" lnSpcReduction="20000"/>
          </a:bodyPr>
          <a:lstStyle/>
          <a:p>
            <a:pPr>
              <a:spcAft>
                <a:spcPts val="1200"/>
              </a:spcAft>
            </a:pPr>
            <a:r>
              <a:rPr lang="en-US" sz="12800" b="1" dirty="0"/>
              <a:t>Others</a:t>
            </a:r>
          </a:p>
          <a:p>
            <a:pPr lvl="2">
              <a:spcAft>
                <a:spcPts val="1200"/>
              </a:spcAft>
            </a:pPr>
            <a:r>
              <a:rPr lang="en-US" sz="9600" b="1" dirty="0"/>
              <a:t>Social entrepreneurs</a:t>
            </a:r>
          </a:p>
          <a:p>
            <a:pPr lvl="2">
              <a:spcAft>
                <a:spcPts val="1200"/>
              </a:spcAft>
            </a:pPr>
            <a:r>
              <a:rPr lang="en-US" sz="9600" b="1" dirty="0"/>
              <a:t>Women entrepreneurs</a:t>
            </a:r>
          </a:p>
          <a:p>
            <a:pPr lvl="2">
              <a:spcAft>
                <a:spcPts val="1200"/>
              </a:spcAft>
            </a:pPr>
            <a:r>
              <a:rPr lang="en-US" sz="9600" b="1" dirty="0"/>
              <a:t>Innovating entrepreneurs</a:t>
            </a:r>
          </a:p>
          <a:p>
            <a:pPr lvl="2">
              <a:spcAft>
                <a:spcPts val="1200"/>
              </a:spcAft>
            </a:pPr>
            <a:r>
              <a:rPr lang="en-US" sz="9600" b="1" dirty="0"/>
              <a:t>Adaptive/Imitating entrepreneurs</a:t>
            </a:r>
          </a:p>
          <a:p>
            <a:pPr lvl="2">
              <a:spcAft>
                <a:spcPts val="1200"/>
              </a:spcAft>
            </a:pPr>
            <a:r>
              <a:rPr lang="en-US" sz="9600" b="1" dirty="0"/>
              <a:t>Fabian entrepreneurs</a:t>
            </a:r>
          </a:p>
          <a:p>
            <a:pPr lvl="2">
              <a:spcAft>
                <a:spcPts val="1200"/>
              </a:spcAft>
            </a:pPr>
            <a:r>
              <a:rPr lang="en-US" sz="9600" b="1" dirty="0"/>
              <a:t>Drone entrepreneurs</a:t>
            </a:r>
          </a:p>
          <a:p>
            <a:pPr lvl="2">
              <a:spcAft>
                <a:spcPts val="1200"/>
              </a:spcAft>
            </a:pPr>
            <a:r>
              <a:rPr lang="en-US" sz="9600" b="1" dirty="0"/>
              <a:t>Aspiring entrepreneurs</a:t>
            </a:r>
          </a:p>
          <a:p>
            <a:pPr lvl="2">
              <a:spcAft>
                <a:spcPts val="1200"/>
              </a:spcAft>
            </a:pPr>
            <a:endParaRPr lang="en-US" sz="9600" b="1" dirty="0"/>
          </a:p>
          <a:p>
            <a:pPr lvl="2">
              <a:spcAft>
                <a:spcPts val="1200"/>
              </a:spcAft>
            </a:pPr>
            <a:endParaRPr lang="en-US" sz="9600" b="1" dirty="0"/>
          </a:p>
          <a:p>
            <a:pPr lvl="2">
              <a:spcAft>
                <a:spcPts val="1200"/>
              </a:spcAft>
            </a:pPr>
            <a:endParaRPr lang="en-US" sz="9600" b="1" dirty="0"/>
          </a:p>
          <a:p>
            <a:pPr lvl="2">
              <a:spcAft>
                <a:spcPts val="1200"/>
              </a:spcAft>
            </a:pPr>
            <a:endParaRPr lang="en-US" sz="9600" b="1" dirty="0"/>
          </a:p>
          <a:p>
            <a:pPr lvl="2">
              <a:spcAft>
                <a:spcPts val="1200"/>
              </a:spcAft>
            </a:pPr>
            <a:endParaRPr lang="en-US" sz="9600" b="1" dirty="0"/>
          </a:p>
          <a:p>
            <a:pPr lvl="2">
              <a:spcAft>
                <a:spcPts val="1200"/>
              </a:spcAft>
            </a:pPr>
            <a:endParaRPr lang="en-US" sz="9600" b="1" dirty="0"/>
          </a:p>
          <a:p>
            <a:pPr marL="914400" lvl="2" indent="0">
              <a:spcAft>
                <a:spcPts val="1200"/>
              </a:spcAft>
              <a:buNone/>
            </a:pPr>
            <a:endParaRPr lang="en-US" sz="9600" b="1" dirty="0"/>
          </a:p>
          <a:p>
            <a:pPr lvl="2">
              <a:spcAft>
                <a:spcPts val="1200"/>
              </a:spcAft>
            </a:pPr>
            <a:r>
              <a:rPr lang="en-US" sz="9600" b="1" dirty="0"/>
              <a:t>Family-Business Entrepreneur</a:t>
            </a:r>
          </a:p>
          <a:p>
            <a:pPr lvl="2">
              <a:spcAft>
                <a:spcPts val="1200"/>
              </a:spcAft>
            </a:pPr>
            <a:r>
              <a:rPr lang="en-US" sz="9600" b="1" dirty="0"/>
              <a:t>Lifestyle entrepreneurs</a:t>
            </a:r>
          </a:p>
          <a:p>
            <a:pPr lvl="2">
              <a:spcAft>
                <a:spcPts val="1200"/>
              </a:spcAft>
            </a:pPr>
            <a:r>
              <a:rPr lang="en-US" sz="9600" b="1" dirty="0"/>
              <a:t>E- entrepreneurs</a:t>
            </a:r>
          </a:p>
          <a:p>
            <a:pPr lvl="2">
              <a:spcAft>
                <a:spcPts val="1200"/>
              </a:spcAft>
            </a:pPr>
            <a:r>
              <a:rPr lang="en-US" sz="9600" b="1" dirty="0"/>
              <a:t>Mompreneures</a:t>
            </a:r>
          </a:p>
          <a:p>
            <a:pPr lvl="2">
              <a:spcAft>
                <a:spcPts val="1200"/>
              </a:spcAft>
            </a:pPr>
            <a:r>
              <a:rPr lang="en-US" sz="9600" b="1" dirty="0"/>
              <a:t>Professor entrepreneurs</a:t>
            </a:r>
          </a:p>
          <a:p>
            <a:pPr lvl="2"/>
            <a:r>
              <a:rPr lang="en-US" sz="9600" b="1" dirty="0"/>
              <a:t>IT Entrepreneurs</a:t>
            </a:r>
          </a:p>
          <a:p>
            <a:pPr lvl="2"/>
            <a:r>
              <a:rPr lang="en-US" sz="9600" b="1" dirty="0"/>
              <a:t>Intrapreneur</a:t>
            </a:r>
          </a:p>
          <a:p>
            <a:pPr marL="914400" lvl="2" indent="0">
              <a:spcAft>
                <a:spcPts val="1200"/>
              </a:spcAft>
              <a:buNone/>
            </a:pPr>
            <a:endParaRPr lang="en-US" sz="4500" b="1" dirty="0"/>
          </a:p>
          <a:p>
            <a:pPr lvl="2">
              <a:spcAft>
                <a:spcPts val="1200"/>
              </a:spcAft>
            </a:pPr>
            <a:endParaRPr lang="en-US" sz="4500" b="1" dirty="0"/>
          </a:p>
          <a:p>
            <a:pPr lvl="2">
              <a:spcAft>
                <a:spcPts val="1200"/>
              </a:spcAft>
            </a:pPr>
            <a:endParaRPr lang="en-US" sz="4500" b="1" dirty="0"/>
          </a:p>
          <a:p>
            <a:pPr lvl="2">
              <a:spcAft>
                <a:spcPts val="1200"/>
              </a:spcAft>
            </a:pPr>
            <a:endParaRPr lang="en-US" sz="4500" b="1" dirty="0"/>
          </a:p>
          <a:p>
            <a:pPr lvl="2">
              <a:spcAft>
                <a:spcPts val="1200"/>
              </a:spcAft>
            </a:pPr>
            <a:endParaRPr lang="en-US" sz="4500" b="1" dirty="0"/>
          </a:p>
          <a:p>
            <a:pPr lvl="2">
              <a:spcAft>
                <a:spcPts val="1200"/>
              </a:spcAft>
            </a:pPr>
            <a:endParaRPr lang="en-US" sz="4500" b="1" dirty="0"/>
          </a:p>
          <a:p>
            <a:pPr lvl="2">
              <a:spcAft>
                <a:spcPts val="1200"/>
              </a:spcAft>
            </a:pPr>
            <a:endParaRPr lang="en-US" sz="4500" b="1" dirty="0"/>
          </a:p>
          <a:p>
            <a:pPr lvl="2">
              <a:spcAft>
                <a:spcPts val="1200"/>
              </a:spcAft>
            </a:pPr>
            <a:endParaRPr lang="en-US" b="1" dirty="0"/>
          </a:p>
          <a:p>
            <a:pPr lvl="2">
              <a:spcAft>
                <a:spcPts val="1200"/>
              </a:spcAft>
            </a:pPr>
            <a:endParaRPr lang="en-US" b="1" dirty="0"/>
          </a:p>
          <a:p>
            <a:pPr lvl="2">
              <a:spcAft>
                <a:spcPts val="1200"/>
              </a:spcAft>
            </a:pPr>
            <a:endParaRPr lang="en-US" b="1" dirty="0"/>
          </a:p>
          <a:p>
            <a:pPr lvl="3">
              <a:spcAft>
                <a:spcPts val="1200"/>
              </a:spcAft>
            </a:pPr>
            <a:endParaRPr lang="en-US" b="1"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A672D3-8D8A-8CEA-FC3A-0D2CF02875F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DE22B81-46B6-9617-80D2-56FFB5E7AED0}"/>
              </a:ext>
            </a:extLst>
          </p:cNvPr>
          <p:cNvSpPr>
            <a:spLocks noGrp="1"/>
          </p:cNvSpPr>
          <p:nvPr>
            <p:ph idx="1"/>
          </p:nvPr>
        </p:nvSpPr>
        <p:spPr/>
        <p:txBody>
          <a:bodyPr>
            <a:normAutofit/>
          </a:bodyPr>
          <a:lstStyle/>
          <a:p>
            <a:r>
              <a:rPr lang="en-US" b="1" dirty="0"/>
              <a:t>Social entrepreneur</a:t>
            </a:r>
          </a:p>
          <a:p>
            <a:pPr marL="0" indent="0">
              <a:buNone/>
            </a:pPr>
            <a:r>
              <a:rPr lang="en-US" sz="2800" dirty="0"/>
              <a:t>Entrepreneurs are innovative highly motivated and creative thinkers. When these attributes are combined with the drive to solve social problems, a ‘social entrepreneur’ is born. Thus, </a:t>
            </a:r>
            <a:r>
              <a:rPr lang="en-US" sz="2800" b="1" dirty="0"/>
              <a:t>social entrepreneurs are individuals with innovative solutions to society’s most pressing social problems.</a:t>
            </a:r>
          </a:p>
          <a:p>
            <a:pPr marL="0" indent="0">
              <a:buNone/>
            </a:pPr>
            <a:r>
              <a:rPr lang="en-US" sz="2800" b="1" dirty="0"/>
              <a:t>Eg: SELCO India – Provides affordable solar energy to rural areas.</a:t>
            </a:r>
          </a:p>
          <a:p>
            <a:endParaRPr lang="en-IN" dirty="0"/>
          </a:p>
        </p:txBody>
      </p:sp>
    </p:spTree>
    <p:extLst>
      <p:ext uri="{BB962C8B-B14F-4D97-AF65-F5344CB8AC3E}">
        <p14:creationId xmlns:p14="http://schemas.microsoft.com/office/powerpoint/2010/main" val="145754300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a:xfrm>
            <a:off x="-533400" y="1600200"/>
            <a:ext cx="9220200" cy="4525963"/>
          </a:xfrm>
        </p:spPr>
        <p:txBody>
          <a:bodyPr/>
          <a:lstStyle/>
          <a:p>
            <a:pPr lvl="2" algn="just"/>
            <a:r>
              <a:rPr lang="en-US" b="1" dirty="0"/>
              <a:t>Women entrepreneurs</a:t>
            </a:r>
          </a:p>
          <a:p>
            <a:pPr lvl="3" algn="just">
              <a:spcAft>
                <a:spcPts val="1200"/>
              </a:spcAft>
            </a:pPr>
            <a:r>
              <a:rPr lang="en-US" dirty="0"/>
              <a:t>Women entrepreneurs may be defined as the women or a group of women who initiate, organize and operate a business enterprise.</a:t>
            </a:r>
          </a:p>
          <a:p>
            <a:pPr lvl="3" algn="just">
              <a:spcAft>
                <a:spcPts val="1200"/>
              </a:spcAft>
            </a:pPr>
            <a:r>
              <a:rPr lang="en-US" dirty="0"/>
              <a:t>As the name of this type of entrepreneur suggests, it involves women at the forefront of entrepreneurship. </a:t>
            </a:r>
            <a:r>
              <a:rPr lang="en-US" dirty="0" err="1"/>
              <a:t>Shri</a:t>
            </a:r>
            <a:r>
              <a:rPr lang="en-US" dirty="0"/>
              <a:t> </a:t>
            </a:r>
            <a:r>
              <a:rPr lang="en-US" dirty="0" err="1"/>
              <a:t>Mahila</a:t>
            </a:r>
            <a:r>
              <a:rPr lang="en-US" dirty="0"/>
              <a:t> </a:t>
            </a:r>
            <a:r>
              <a:rPr lang="en-US" dirty="0" err="1"/>
              <a:t>Griha</a:t>
            </a:r>
            <a:r>
              <a:rPr lang="en-US" dirty="0"/>
              <a:t> </a:t>
            </a:r>
            <a:r>
              <a:rPr lang="en-US" dirty="0" err="1"/>
              <a:t>Udyog</a:t>
            </a:r>
            <a:r>
              <a:rPr lang="en-US" dirty="0"/>
              <a:t> </a:t>
            </a:r>
            <a:r>
              <a:rPr lang="en-US" dirty="0" err="1"/>
              <a:t>Lijjat</a:t>
            </a:r>
            <a:r>
              <a:rPr lang="en-US" dirty="0"/>
              <a:t> </a:t>
            </a:r>
            <a:r>
              <a:rPr lang="en-US" dirty="0" err="1"/>
              <a:t>Papad</a:t>
            </a:r>
            <a:r>
              <a:rPr lang="en-US" dirty="0"/>
              <a:t> is one such organization. They pride themselves in being a women’s organization —of the women, by the women, and for the women. It was started in 1959 with seven lady members with a borrowed sum of Rs.80 at </a:t>
            </a:r>
            <a:r>
              <a:rPr lang="en-US" dirty="0" err="1"/>
              <a:t>Girgaum</a:t>
            </a:r>
            <a:r>
              <a:rPr lang="en-US" dirty="0"/>
              <a:t> in Mumbai. Another typical example of this type of entrepreneur is </a:t>
            </a:r>
            <a:r>
              <a:rPr lang="en-US" dirty="0" err="1"/>
              <a:t>Kiran</a:t>
            </a:r>
            <a:r>
              <a:rPr lang="en-US" dirty="0"/>
              <a:t> </a:t>
            </a:r>
            <a:r>
              <a:rPr lang="en-US" dirty="0" err="1"/>
              <a:t>Majumdar</a:t>
            </a:r>
            <a:r>
              <a:rPr lang="en-US" dirty="0"/>
              <a:t> Shaw, whose entrepreneurial </a:t>
            </a:r>
            <a:r>
              <a:rPr lang="en-US" dirty="0" err="1"/>
              <a:t>endeavour</a:t>
            </a:r>
            <a:r>
              <a:rPr lang="en-US" dirty="0"/>
              <a:t> has been detailed out in a </a:t>
            </a:r>
            <a:r>
              <a:rPr lang="en-US" dirty="0" err="1"/>
              <a:t>caselet</a:t>
            </a:r>
            <a:r>
              <a:rPr lang="en-US" dirty="0"/>
              <a:t>.</a:t>
            </a:r>
            <a:endParaRPr lang="en-US" b="1"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a:xfrm>
            <a:off x="301752" y="1527048"/>
            <a:ext cx="8503920" cy="5330952"/>
          </a:xfrm>
        </p:spPr>
        <p:txBody>
          <a:bodyPr>
            <a:normAutofit/>
          </a:bodyPr>
          <a:lstStyle/>
          <a:p>
            <a:pPr lvl="2">
              <a:spcAft>
                <a:spcPts val="1200"/>
              </a:spcAft>
            </a:pPr>
            <a:r>
              <a:rPr lang="en-US" b="1" dirty="0"/>
              <a:t>Innovating entrepreneurs</a:t>
            </a:r>
          </a:p>
          <a:p>
            <a:pPr lvl="3" algn="just">
              <a:lnSpc>
                <a:spcPct val="110000"/>
              </a:lnSpc>
              <a:spcAft>
                <a:spcPts val="600"/>
              </a:spcAft>
            </a:pPr>
            <a:r>
              <a:rPr lang="en-US" dirty="0"/>
              <a:t>He is one who introduces new goods, new method of production, discovers new market and reorganizes the enterprise. It is important to note that such entrepreneurs can work only when a certain level of development is already achieved and people look forward to change and improvement.</a:t>
            </a:r>
          </a:p>
          <a:p>
            <a:pPr lvl="3" algn="just">
              <a:lnSpc>
                <a:spcPct val="110000"/>
              </a:lnSpc>
              <a:spcAft>
                <a:spcPts val="600"/>
              </a:spcAft>
            </a:pPr>
            <a:r>
              <a:rPr lang="en-US" b="1" dirty="0"/>
              <a:t>Eg: Paytm – Brought digital payments to common people.</a:t>
            </a:r>
          </a:p>
          <a:p>
            <a:pPr marL="0" indent="0">
              <a:buNone/>
            </a:pPr>
            <a:endParaRPr lang="en-US"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lstStyle/>
          <a:p>
            <a:pPr lvl="2" algn="just">
              <a:lnSpc>
                <a:spcPct val="110000"/>
              </a:lnSpc>
              <a:spcAft>
                <a:spcPts val="600"/>
              </a:spcAft>
            </a:pPr>
            <a:r>
              <a:rPr lang="en-US" b="1" dirty="0"/>
              <a:t>Adaptive/Imitating entrepreneurs</a:t>
            </a:r>
          </a:p>
          <a:p>
            <a:pPr lvl="3" algn="just" fontAlgn="base">
              <a:lnSpc>
                <a:spcPct val="110000"/>
              </a:lnSpc>
              <a:spcAft>
                <a:spcPts val="600"/>
              </a:spcAft>
            </a:pPr>
            <a:r>
              <a:rPr lang="en-US" dirty="0"/>
              <a:t>There are characterized by readiness to adopt successful innovations. Imitative entrepreneurs do not innovate the changes themselves; they only imitate techniques and technology innovated by others.</a:t>
            </a:r>
          </a:p>
          <a:p>
            <a:pPr lvl="3" algn="just" fontAlgn="base">
              <a:lnSpc>
                <a:spcPct val="110000"/>
              </a:lnSpc>
              <a:spcAft>
                <a:spcPts val="600"/>
              </a:spcAft>
            </a:pPr>
            <a:r>
              <a:rPr lang="en-US" dirty="0"/>
              <a:t>Such types of entrepreneurs are particularly suitable for the under-developed regions for bringing a mushroom drive of imitation of new combinations of factors of production already available in developed regions.</a:t>
            </a:r>
          </a:p>
          <a:p>
            <a:pPr lvl="3" algn="just" fontAlgn="base">
              <a:lnSpc>
                <a:spcPct val="110000"/>
              </a:lnSpc>
              <a:spcAft>
                <a:spcPts val="600"/>
              </a:spcAft>
            </a:pPr>
            <a:r>
              <a:rPr lang="en-US" b="1" dirty="0"/>
              <a:t>Eg: Flipkart – Adapted the Amazon-like model for India.</a:t>
            </a:r>
          </a:p>
          <a:p>
            <a:endParaRPr lang="en-US"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152400" y="228600"/>
            <a:ext cx="8534400" cy="6477000"/>
          </a:xfrm>
        </p:spPr>
        <p:txBody>
          <a:bodyPr>
            <a:normAutofit fontScale="62500" lnSpcReduction="20000"/>
          </a:bodyPr>
          <a:lstStyle/>
          <a:p>
            <a:pPr algn="just">
              <a:spcAft>
                <a:spcPts val="1200"/>
              </a:spcAft>
            </a:pPr>
            <a:r>
              <a:rPr lang="en-US" b="1" dirty="0"/>
              <a:t>Fabian entrepreneurs</a:t>
            </a:r>
          </a:p>
          <a:p>
            <a:pPr lvl="1" algn="just">
              <a:spcAft>
                <a:spcPts val="1200"/>
              </a:spcAft>
            </a:pPr>
            <a:r>
              <a:rPr lang="en-US" sz="3200" dirty="0"/>
              <a:t>They are characterized by very great caution in experimenting any change in their enterprise. They imitate only when it becomes perfectly clear that failure to do so would result in a loss of the relative position in the enterprise.</a:t>
            </a:r>
          </a:p>
          <a:p>
            <a:pPr lvl="1" algn="just">
              <a:spcAft>
                <a:spcPts val="1200"/>
              </a:spcAft>
            </a:pPr>
            <a:r>
              <a:rPr lang="en-US" sz="3200" b="1" dirty="0"/>
              <a:t>They are very cautious and adopt changes slowly, only when necessary.</a:t>
            </a:r>
          </a:p>
          <a:p>
            <a:pPr lvl="1" algn="just">
              <a:spcAft>
                <a:spcPts val="1200"/>
              </a:spcAft>
            </a:pPr>
            <a:r>
              <a:rPr lang="en-US" sz="3200" b="1" dirty="0"/>
              <a:t>Eg: Many traditional textile or family manufacturing businesses that moved to online selling only after competition increased.</a:t>
            </a:r>
          </a:p>
          <a:p>
            <a:pPr algn="just">
              <a:spcAft>
                <a:spcPts val="1200"/>
              </a:spcAft>
            </a:pPr>
            <a:r>
              <a:rPr lang="en-US" b="1" dirty="0"/>
              <a:t>Drone entrepreneurs</a:t>
            </a:r>
          </a:p>
          <a:p>
            <a:pPr lvl="1" algn="just">
              <a:spcAft>
                <a:spcPts val="1200"/>
              </a:spcAft>
            </a:pPr>
            <a:r>
              <a:rPr lang="en-US" sz="3200" b="1" dirty="0"/>
              <a:t>These are characterized by a refusal to adopt opportunities </a:t>
            </a:r>
            <a:r>
              <a:rPr lang="en-US" sz="3200" dirty="0"/>
              <a:t>to make changes in production formula even at the cost of severely reduced returns relative to other like producers. Such entrepreneurs may ever suffer losses but they are not ready to make changes in their existing production methods.</a:t>
            </a:r>
            <a:endParaRPr lang="en-US" sz="3200" b="1" dirty="0"/>
          </a:p>
          <a:p>
            <a:pPr algn="just">
              <a:spcAft>
                <a:spcPts val="1200"/>
              </a:spcAft>
            </a:pPr>
            <a:r>
              <a:rPr lang="en-US" b="1" dirty="0"/>
              <a:t>Aspiring entrepreneurs</a:t>
            </a:r>
          </a:p>
          <a:p>
            <a:pPr marL="0" indent="0" algn="just">
              <a:spcAft>
                <a:spcPts val="1200"/>
              </a:spcAft>
              <a:buNone/>
            </a:pPr>
            <a:r>
              <a:rPr lang="en-US" b="1" dirty="0"/>
              <a:t>        -</a:t>
            </a:r>
            <a:r>
              <a:rPr lang="en-US" dirty="0"/>
              <a:t>An aspiring entrepreneur is a person who wants to start their own   business and is preparing for it, but has not started yet.</a:t>
            </a:r>
          </a:p>
          <a:p>
            <a:pPr marL="0" indent="0" algn="just">
              <a:spcAft>
                <a:spcPts val="1200"/>
              </a:spcAft>
              <a:buNone/>
            </a:pPr>
            <a:r>
              <a:rPr lang="en-US" b="1" dirty="0"/>
              <a:t>        -Eg: A person doing market research for a future business idea</a:t>
            </a:r>
          </a:p>
          <a:p>
            <a:pPr marL="914400" lvl="2" indent="0">
              <a:buNone/>
            </a:pPr>
            <a:endParaRPr lang="en-US" b="1" dirty="0"/>
          </a:p>
          <a:p>
            <a:endParaRPr lang="en-US"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838200"/>
            <a:ext cx="8229600" cy="5287963"/>
          </a:xfrm>
        </p:spPr>
        <p:txBody>
          <a:bodyPr>
            <a:normAutofit fontScale="92500" lnSpcReduction="10000"/>
          </a:bodyPr>
          <a:lstStyle/>
          <a:p>
            <a:pPr lvl="2">
              <a:spcAft>
                <a:spcPts val="1200"/>
              </a:spcAft>
            </a:pPr>
            <a:r>
              <a:rPr lang="en-US" b="1" dirty="0"/>
              <a:t>Family-Business Entrepreneur</a:t>
            </a:r>
          </a:p>
          <a:p>
            <a:pPr lvl="3" algn="just">
              <a:spcAft>
                <a:spcPts val="1200"/>
              </a:spcAft>
            </a:pPr>
            <a:r>
              <a:rPr lang="en-US" dirty="0"/>
              <a:t>Family-business entrepreneurs are the followers of family tradition role models. A typical example is that of </a:t>
            </a:r>
            <a:r>
              <a:rPr lang="en-US" dirty="0" err="1"/>
              <a:t>Aditya</a:t>
            </a:r>
            <a:r>
              <a:rPr lang="en-US" dirty="0"/>
              <a:t> </a:t>
            </a:r>
            <a:r>
              <a:rPr lang="en-US" dirty="0" err="1"/>
              <a:t>Vikram</a:t>
            </a:r>
            <a:r>
              <a:rPr lang="en-US" dirty="0"/>
              <a:t> Birla (1944-1995), who created about 75 factories for his business group in a career span of 25 years. </a:t>
            </a:r>
            <a:r>
              <a:rPr lang="en-US" dirty="0" err="1"/>
              <a:t>Aditya</a:t>
            </a:r>
            <a:r>
              <a:rPr lang="en-US" dirty="0"/>
              <a:t> Birla was the son of industrialist </a:t>
            </a:r>
            <a:r>
              <a:rPr lang="en-US" dirty="0" err="1"/>
              <a:t>Basant</a:t>
            </a:r>
            <a:r>
              <a:rPr lang="en-US" dirty="0"/>
              <a:t> Kumar Birla (popularly known as BK). His group is now known after him (</a:t>
            </a:r>
            <a:r>
              <a:rPr lang="en-US" dirty="0" err="1"/>
              <a:t>Aditya</a:t>
            </a:r>
            <a:r>
              <a:rPr lang="en-US" dirty="0"/>
              <a:t> Birla Group) and managed by his son Kumar </a:t>
            </a:r>
            <a:r>
              <a:rPr lang="en-US" dirty="0" err="1"/>
              <a:t>Mangalam</a:t>
            </a:r>
            <a:r>
              <a:rPr lang="en-US" dirty="0"/>
              <a:t> Birla.</a:t>
            </a:r>
            <a:endParaRPr lang="en-US" b="1" dirty="0"/>
          </a:p>
          <a:p>
            <a:pPr lvl="2" algn="just">
              <a:spcAft>
                <a:spcPts val="1200"/>
              </a:spcAft>
            </a:pPr>
            <a:r>
              <a:rPr lang="en-US" b="1" dirty="0"/>
              <a:t>Lifestyle entrepreneurs</a:t>
            </a:r>
          </a:p>
          <a:p>
            <a:pPr lvl="3" algn="just">
              <a:spcAft>
                <a:spcPts val="1200"/>
              </a:spcAft>
            </a:pPr>
            <a:r>
              <a:rPr lang="en-US" dirty="0"/>
              <a:t>These entrepreneurs take business as an integral part of their life. Usually, the family enterprise and business.</a:t>
            </a:r>
          </a:p>
          <a:p>
            <a:pPr lvl="3" algn="just">
              <a:spcAft>
                <a:spcPts val="1200"/>
              </a:spcAft>
            </a:pPr>
            <a:r>
              <a:rPr lang="en-US" b="1" dirty="0"/>
              <a:t>They start businesses to maintain a desired lifestyle, not for big growth. </a:t>
            </a:r>
          </a:p>
          <a:p>
            <a:pPr lvl="3" algn="just">
              <a:spcAft>
                <a:spcPts val="1200"/>
              </a:spcAft>
            </a:pPr>
            <a:r>
              <a:rPr lang="en-US" b="1" dirty="0"/>
              <a:t>Eg: Travel vloggers</a:t>
            </a:r>
          </a:p>
          <a:p>
            <a:endParaRPr lang="en-US"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0" y="76200"/>
            <a:ext cx="9144000" cy="6705600"/>
          </a:xfrm>
        </p:spPr>
        <p:txBody>
          <a:bodyPr>
            <a:normAutofit fontScale="25000" lnSpcReduction="20000"/>
          </a:bodyPr>
          <a:lstStyle/>
          <a:p>
            <a:pPr lvl="1">
              <a:spcAft>
                <a:spcPts val="1200"/>
              </a:spcAft>
              <a:buFont typeface="Arial" panose="020B0604020202020204" pitchFamily="34" charset="0"/>
              <a:buChar char="•"/>
            </a:pPr>
            <a:r>
              <a:rPr lang="en-US" sz="6200" b="1" dirty="0"/>
              <a:t>Opportunist entrepreneurs</a:t>
            </a:r>
          </a:p>
          <a:p>
            <a:pPr marL="514350" lvl="1" indent="0">
              <a:lnSpc>
                <a:spcPct val="120000"/>
              </a:lnSpc>
              <a:spcAft>
                <a:spcPts val="1200"/>
              </a:spcAft>
              <a:buNone/>
            </a:pPr>
            <a:r>
              <a:rPr lang="en-US" sz="7200" b="1" dirty="0"/>
              <a:t>-</a:t>
            </a:r>
            <a:r>
              <a:rPr lang="en-US" sz="7200" dirty="0"/>
              <a:t>As the name suggests, this kind of entrepreneur is an individual who has identified a technology-based opportunity and, while initiating and managing a small technology-based venture, either has little or no technical experience or whose previous occupational experience was within non-technical organizations.</a:t>
            </a:r>
          </a:p>
          <a:p>
            <a:pPr marL="514350" lvl="1" indent="0">
              <a:lnSpc>
                <a:spcPct val="120000"/>
              </a:lnSpc>
              <a:spcAft>
                <a:spcPts val="1200"/>
              </a:spcAft>
              <a:buNone/>
            </a:pPr>
            <a:r>
              <a:rPr lang="en-US" sz="7200" dirty="0"/>
              <a:t>-For example, Azim Hasham Premji inherited Wipro from his father, who was into oil business. Later, </a:t>
            </a:r>
            <a:r>
              <a:rPr lang="en-US" sz="7200" dirty="0" err="1"/>
              <a:t>Premji</a:t>
            </a:r>
            <a:r>
              <a:rPr lang="en-US" sz="7200" dirty="0"/>
              <a:t> realized the potential of information technology and ventured into this business. Rest is history as Wipro is today known as one of India’s IT powerhouses.</a:t>
            </a:r>
          </a:p>
          <a:p>
            <a:pPr lvl="1" algn="just">
              <a:spcAft>
                <a:spcPts val="1200"/>
              </a:spcAft>
              <a:buFont typeface="Arial" panose="020B0604020202020204" pitchFamily="34" charset="0"/>
              <a:buChar char="•"/>
            </a:pPr>
            <a:r>
              <a:rPr lang="en-US" sz="7200" b="1" dirty="0"/>
              <a:t>E- entrepreneurs</a:t>
            </a:r>
          </a:p>
          <a:p>
            <a:pPr marL="514350" lvl="1" indent="0" algn="just">
              <a:spcAft>
                <a:spcPts val="1200"/>
              </a:spcAft>
              <a:buNone/>
            </a:pPr>
            <a:r>
              <a:rPr lang="en-US" sz="7200" dirty="0"/>
              <a:t>-These are people who start and run businesses online. They use the internet to sell products or services.               </a:t>
            </a:r>
          </a:p>
          <a:p>
            <a:pPr marL="514350" lvl="1" indent="0" algn="just">
              <a:spcAft>
                <a:spcPts val="1200"/>
              </a:spcAft>
              <a:buNone/>
            </a:pPr>
            <a:r>
              <a:rPr lang="en-US" sz="7200" dirty="0"/>
              <a:t>-Ex: Someone running an online clothing store, digital marketing agency, or a YouTube channel that earns money.</a:t>
            </a:r>
          </a:p>
          <a:p>
            <a:pPr lvl="1" algn="just">
              <a:spcAft>
                <a:spcPts val="1200"/>
              </a:spcAft>
              <a:buFont typeface="Arial" panose="020B0604020202020204" pitchFamily="34" charset="0"/>
              <a:buChar char="•"/>
            </a:pPr>
            <a:r>
              <a:rPr lang="en-US" sz="7200" b="1" dirty="0"/>
              <a:t>Mompreneures</a:t>
            </a:r>
          </a:p>
          <a:p>
            <a:pPr marL="514350" lvl="1" indent="0" algn="just">
              <a:spcAft>
                <a:spcPts val="1200"/>
              </a:spcAft>
              <a:buNone/>
            </a:pPr>
            <a:r>
              <a:rPr lang="en-US" sz="7200" b="1" dirty="0"/>
              <a:t>-</a:t>
            </a:r>
            <a:r>
              <a:rPr lang="en-US" sz="7200" dirty="0"/>
              <a:t>These are mothers who run their own businesses while taking care of their family. They choose flexible work so they can balance home and business.</a:t>
            </a:r>
          </a:p>
          <a:p>
            <a:pPr marL="514350" lvl="1" indent="0" algn="just">
              <a:spcAft>
                <a:spcPts val="1200"/>
              </a:spcAft>
              <a:buNone/>
            </a:pPr>
            <a:r>
              <a:rPr lang="en-US" sz="7200" dirty="0"/>
              <a:t>-Ex: A mother selling homemade food, running an online boutique, or teaching online classes from home.</a:t>
            </a:r>
          </a:p>
          <a:p>
            <a:pPr marL="914400" lvl="2" indent="0" algn="just" fontAlgn="base">
              <a:lnSpc>
                <a:spcPct val="110000"/>
              </a:lnSpc>
              <a:spcAft>
                <a:spcPts val="600"/>
              </a:spcAft>
              <a:buNone/>
            </a:pPr>
            <a:endParaRPr lang="en-US" sz="7200" dirty="0"/>
          </a:p>
          <a:p>
            <a:pPr>
              <a:buNone/>
            </a:pPr>
            <a:br>
              <a:rPr lang="en-US" sz="6200" dirty="0"/>
            </a:br>
            <a:endParaRPr lang="en-US" sz="6200" b="1" dirty="0"/>
          </a:p>
          <a:p>
            <a:endParaRPr lang="en-US"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152400"/>
            <a:ext cx="9296400" cy="6934200"/>
          </a:xfrm>
        </p:spPr>
        <p:txBody>
          <a:bodyPr>
            <a:normAutofit lnSpcReduction="10000"/>
          </a:bodyPr>
          <a:lstStyle/>
          <a:p>
            <a:pPr lvl="2" algn="just">
              <a:spcAft>
                <a:spcPts val="1200"/>
              </a:spcAft>
            </a:pPr>
            <a:r>
              <a:rPr lang="en-US" b="1" dirty="0"/>
              <a:t>Professor entrepreneurs</a:t>
            </a:r>
          </a:p>
          <a:p>
            <a:pPr marL="914400" lvl="2" indent="0" algn="just">
              <a:spcAft>
                <a:spcPts val="1200"/>
              </a:spcAft>
              <a:buNone/>
            </a:pPr>
            <a:r>
              <a:rPr lang="en-US" b="1" dirty="0"/>
              <a:t>-</a:t>
            </a:r>
            <a:r>
              <a:rPr lang="en-US" dirty="0"/>
              <a:t>These are teachers or professors who start businesses using their knowledge and expertise.</a:t>
            </a:r>
          </a:p>
          <a:p>
            <a:pPr marL="914400" lvl="2" indent="0" algn="just">
              <a:spcAft>
                <a:spcPts val="1200"/>
              </a:spcAft>
              <a:buNone/>
            </a:pPr>
            <a:r>
              <a:rPr lang="en-US" dirty="0"/>
              <a:t>Ex: A professor starting a coaching institute, publishing online courses, or doing consultancy work.</a:t>
            </a:r>
          </a:p>
          <a:p>
            <a:pPr lvl="2" algn="just"/>
            <a:r>
              <a:rPr lang="en-US" b="1" dirty="0"/>
              <a:t>IT Entrepreneurs</a:t>
            </a:r>
          </a:p>
          <a:p>
            <a:pPr marL="914400" lvl="2" indent="0" algn="just">
              <a:buNone/>
            </a:pPr>
            <a:r>
              <a:rPr lang="en-US" b="1" dirty="0"/>
              <a:t>-</a:t>
            </a:r>
            <a:r>
              <a:rPr lang="en-US" dirty="0"/>
              <a:t>These are entrepreneurs who start businesses in the technology or IT field.</a:t>
            </a:r>
          </a:p>
          <a:p>
            <a:pPr marL="914400" lvl="2" indent="0" algn="just">
              <a:buNone/>
            </a:pPr>
            <a:r>
              <a:rPr lang="en-US" dirty="0"/>
              <a:t>Ex: Someone launching a software company, mobile app, website development firm, or AI startup.</a:t>
            </a:r>
          </a:p>
          <a:p>
            <a:pPr lvl="2" algn="just"/>
            <a:r>
              <a:rPr lang="en-US" b="1" dirty="0"/>
              <a:t>Intrapreneur</a:t>
            </a:r>
          </a:p>
          <a:p>
            <a:pPr marL="914400" lvl="2" indent="0" algn="just">
              <a:buNone/>
            </a:pPr>
            <a:r>
              <a:rPr lang="en-US" b="1" dirty="0"/>
              <a:t>-</a:t>
            </a:r>
            <a:r>
              <a:rPr lang="en-US" dirty="0"/>
              <a:t>An intrapreneur works inside an existing company, not their own business. They think and act like an entrepreneur but use the company’s resources. </a:t>
            </a:r>
          </a:p>
          <a:p>
            <a:pPr marL="914400" lvl="2" indent="0" algn="just">
              <a:buNone/>
            </a:pPr>
            <a:r>
              <a:rPr lang="en-US" dirty="0"/>
              <a:t>Ex: An employee who creates a new product or idea for their company and helps it grow.</a:t>
            </a:r>
          </a:p>
          <a:p>
            <a:pPr lvl="2" algn="just">
              <a:spcAft>
                <a:spcPts val="1200"/>
              </a:spcAft>
            </a:pPr>
            <a:endParaRPr lang="en-US"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Women Entrepreneurs</a:t>
            </a:r>
            <a:endParaRPr lang="en-US" dirty="0"/>
          </a:p>
        </p:txBody>
      </p:sp>
      <p:sp>
        <p:nvSpPr>
          <p:cNvPr id="3" name="Content Placeholder 2"/>
          <p:cNvSpPr>
            <a:spLocks noGrp="1"/>
          </p:cNvSpPr>
          <p:nvPr>
            <p:ph sz="quarter" idx="1"/>
          </p:nvPr>
        </p:nvSpPr>
        <p:spPr>
          <a:xfrm>
            <a:off x="301752" y="1752600"/>
            <a:ext cx="8613648" cy="5105400"/>
          </a:xfrm>
        </p:spPr>
        <p:txBody>
          <a:bodyPr>
            <a:normAutofit fontScale="70000" lnSpcReduction="20000"/>
          </a:bodyPr>
          <a:lstStyle/>
          <a:p>
            <a:pPr algn="just">
              <a:lnSpc>
                <a:spcPct val="120000"/>
              </a:lnSpc>
            </a:pPr>
            <a:r>
              <a:rPr lang="en-US" dirty="0"/>
              <a:t>Of the </a:t>
            </a:r>
            <a:r>
              <a:rPr lang="en-US" u="sng" dirty="0">
                <a:hlinkClick r:id="rId2"/>
              </a:rPr>
              <a:t>58.5 million entrepreneurs</a:t>
            </a:r>
            <a:r>
              <a:rPr lang="en-US" dirty="0"/>
              <a:t> in India, nearly 14% are women.</a:t>
            </a:r>
          </a:p>
          <a:p>
            <a:pPr algn="just">
              <a:lnSpc>
                <a:spcPct val="120000"/>
              </a:lnSpc>
            </a:pPr>
            <a:r>
              <a:rPr lang="en-US" dirty="0"/>
              <a:t>Indian women-owned businesses provide employment for </a:t>
            </a:r>
            <a:r>
              <a:rPr lang="en-US" u="sng" dirty="0">
                <a:hlinkClick r:id="rId3"/>
              </a:rPr>
              <a:t>13.45 million</a:t>
            </a:r>
            <a:r>
              <a:rPr lang="en-US" dirty="0"/>
              <a:t> people.</a:t>
            </a:r>
          </a:p>
          <a:p>
            <a:pPr algn="just">
              <a:lnSpc>
                <a:spcPct val="120000"/>
              </a:lnSpc>
            </a:pPr>
            <a:r>
              <a:rPr lang="en-US" dirty="0"/>
              <a:t>About </a:t>
            </a:r>
            <a:r>
              <a:rPr lang="en-US" u="sng" dirty="0">
                <a:hlinkClick r:id="rId3"/>
              </a:rPr>
              <a:t>1/3</a:t>
            </a:r>
            <a:r>
              <a:rPr lang="en-US" dirty="0"/>
              <a:t> of Indian women entrepreneurs work in the agriculture sector, after that in manufacturing and retail trade. </a:t>
            </a:r>
          </a:p>
          <a:p>
            <a:pPr algn="just">
              <a:lnSpc>
                <a:spcPct val="120000"/>
              </a:lnSpc>
            </a:pPr>
            <a:r>
              <a:rPr lang="en-US" dirty="0"/>
              <a:t>In 2017, only</a:t>
            </a:r>
            <a:r>
              <a:rPr lang="en-US" u="sng" dirty="0">
                <a:hlinkClick r:id="rId4"/>
              </a:rPr>
              <a:t> 2%</a:t>
            </a:r>
            <a:r>
              <a:rPr lang="en-US" dirty="0"/>
              <a:t> of startup funding went to a woman founder.</a:t>
            </a:r>
          </a:p>
          <a:p>
            <a:pPr algn="just">
              <a:lnSpc>
                <a:spcPct val="120000"/>
              </a:lnSpc>
            </a:pPr>
            <a:r>
              <a:rPr lang="en-US" dirty="0"/>
              <a:t>The </a:t>
            </a:r>
            <a:r>
              <a:rPr lang="en-US" u="sng" dirty="0">
                <a:hlinkClick r:id="rId5"/>
              </a:rPr>
              <a:t>top 10 fund raises</a:t>
            </a:r>
            <a:r>
              <a:rPr lang="en-US" dirty="0"/>
              <a:t> of 2017 added up to $8.5 billion. The top 10 fund raises by a female-led startup accounted for only $136 million.</a:t>
            </a:r>
          </a:p>
          <a:p>
            <a:r>
              <a:rPr lang="en-US" dirty="0"/>
              <a:t>It is observed that Women entrepreneurs in India contribute a lot to jobs and business, but their number is still low, and they receive much less funding compared to men.</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Women Entrepreneurs</a:t>
            </a:r>
            <a:endParaRPr lang="en-US" dirty="0"/>
          </a:p>
        </p:txBody>
      </p:sp>
      <p:sp>
        <p:nvSpPr>
          <p:cNvPr id="3" name="Content Placeholder 2"/>
          <p:cNvSpPr>
            <a:spLocks noGrp="1"/>
          </p:cNvSpPr>
          <p:nvPr>
            <p:ph sz="quarter" idx="1"/>
          </p:nvPr>
        </p:nvSpPr>
        <p:spPr/>
        <p:txBody>
          <a:bodyPr>
            <a:normAutofit fontScale="77500" lnSpcReduction="20000"/>
          </a:bodyPr>
          <a:lstStyle/>
          <a:p>
            <a:pPr algn="just">
              <a:lnSpc>
                <a:spcPct val="120000"/>
              </a:lnSpc>
            </a:pPr>
            <a:r>
              <a:rPr lang="en-US" dirty="0"/>
              <a:t>A 2015 study by </a:t>
            </a:r>
            <a:r>
              <a:rPr lang="en-US" u="sng" dirty="0">
                <a:hlinkClick r:id="rId2"/>
              </a:rPr>
              <a:t>McKinsey Global Institute</a:t>
            </a:r>
            <a:r>
              <a:rPr lang="en-US" dirty="0"/>
              <a:t> shows India's GDP could rise by between 16-60% by 2025 if women participated equally with men in the economy. Projections show that this could mean a whopping $2.9 trillion added to the economy. Actually, grew </a:t>
            </a:r>
            <a:r>
              <a:rPr lang="en-US" dirty="0" err="1"/>
              <a:t>upto</a:t>
            </a:r>
            <a:r>
              <a:rPr lang="en-US" dirty="0"/>
              <a:t> 40% in 2023-24.</a:t>
            </a:r>
          </a:p>
          <a:p>
            <a:pPr algn="just">
              <a:lnSpc>
                <a:spcPct val="120000"/>
              </a:lnSpc>
            </a:pPr>
            <a:r>
              <a:rPr lang="en-US" u="sng" dirty="0">
                <a:hlinkClick r:id="rId3"/>
              </a:rPr>
              <a:t>30%</a:t>
            </a:r>
            <a:r>
              <a:rPr lang="en-US" dirty="0"/>
              <a:t> of India's tech workforce is female. Although, </a:t>
            </a:r>
            <a:r>
              <a:rPr lang="en-US" u="sng" dirty="0">
                <a:hlinkClick r:id="rId4"/>
              </a:rPr>
              <a:t>51%</a:t>
            </a:r>
            <a:r>
              <a:rPr lang="en-US" dirty="0"/>
              <a:t> of entry-level jobs in India's IT industries are women, indicating that women are leaving at junior and mid-levels.</a:t>
            </a:r>
          </a:p>
          <a:p>
            <a:pPr algn="just">
              <a:lnSpc>
                <a:spcPct val="120000"/>
              </a:lnSpc>
            </a:pPr>
            <a:r>
              <a:rPr lang="en-US" u="sng" dirty="0">
                <a:hlinkClick r:id="rId5"/>
              </a:rPr>
              <a:t>Radhika Aggarwal</a:t>
            </a:r>
            <a:r>
              <a:rPr lang="en-US" dirty="0"/>
              <a:t> e-commerce marketplace </a:t>
            </a:r>
            <a:r>
              <a:rPr lang="en-US" dirty="0" err="1"/>
              <a:t>ShopClues</a:t>
            </a:r>
            <a:r>
              <a:rPr lang="en-US" dirty="0"/>
              <a:t> in 2011 made history as India’s first female co-founder of a billion-dollar company.</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lstStyle/>
          <a:p>
            <a:pPr algn="just"/>
            <a:r>
              <a:rPr lang="en-US" sz="2300" dirty="0"/>
              <a:t>The low literacy rate (40%), low work participation rate (28%) and low urban population share (10%) of women as compared to 60%, 52%, and 18% respectively of their male counterparts well confirm their disadvantageous position in the society.</a:t>
            </a:r>
          </a:p>
          <a:p>
            <a:pPr marL="0" indent="0">
              <a:buNone/>
            </a:pPr>
            <a:endParaRPr lang="en-US"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t">
            <a:normAutofit/>
          </a:bodyPr>
          <a:lstStyle/>
          <a:p>
            <a:r>
              <a:rPr lang="en-US" sz="3600" b="1" dirty="0"/>
              <a:t>Segments of Women Entrepreneurs</a:t>
            </a:r>
          </a:p>
        </p:txBody>
      </p:sp>
      <p:sp>
        <p:nvSpPr>
          <p:cNvPr id="3" name="Content Placeholder 2"/>
          <p:cNvSpPr>
            <a:spLocks noGrp="1"/>
          </p:cNvSpPr>
          <p:nvPr>
            <p:ph sz="quarter" idx="1"/>
          </p:nvPr>
        </p:nvSpPr>
        <p:spPr>
          <a:xfrm>
            <a:off x="182880" y="990600"/>
            <a:ext cx="8503920" cy="5867400"/>
          </a:xfrm>
        </p:spPr>
        <p:txBody>
          <a:bodyPr>
            <a:normAutofit fontScale="92500" lnSpcReduction="20000"/>
          </a:bodyPr>
          <a:lstStyle/>
          <a:p>
            <a:r>
              <a:rPr lang="en-US" sz="2200" b="1" u="sng" dirty="0"/>
              <a:t>Self-help groups</a:t>
            </a:r>
          </a:p>
          <a:p>
            <a:pPr marL="0" indent="0">
              <a:buNone/>
            </a:pPr>
            <a:r>
              <a:rPr lang="en-US" sz="2000" dirty="0"/>
              <a:t>-These are groups of women </a:t>
            </a:r>
            <a:r>
              <a:rPr lang="en-US" sz="2000" b="1" dirty="0"/>
              <a:t>who come together to support each other financially</a:t>
            </a:r>
            <a:r>
              <a:rPr lang="en-US" sz="2000" dirty="0"/>
              <a:t>. </a:t>
            </a:r>
            <a:r>
              <a:rPr lang="en-US" sz="2000" b="1" dirty="0"/>
              <a:t>They get loans, training, and guidance from microfinance institutions or banks</a:t>
            </a:r>
            <a:r>
              <a:rPr lang="en-US" sz="2000" dirty="0"/>
              <a:t>. Mostly </a:t>
            </a:r>
            <a:r>
              <a:rPr lang="en-US" sz="2000" b="1" dirty="0"/>
              <a:t>run small businesses like handicrafts</a:t>
            </a:r>
            <a:r>
              <a:rPr lang="en-US" sz="2000" dirty="0"/>
              <a:t>, food products, etc. </a:t>
            </a:r>
          </a:p>
          <a:p>
            <a:pPr marL="0" indent="0">
              <a:buNone/>
            </a:pPr>
            <a:r>
              <a:rPr lang="en-US" sz="2000" dirty="0"/>
              <a:t>-</a:t>
            </a:r>
            <a:r>
              <a:rPr lang="en-US" sz="2000" b="1" dirty="0"/>
              <a:t>Main purpose is Self-employment and financial independence</a:t>
            </a:r>
            <a:r>
              <a:rPr lang="en-US" sz="2000" dirty="0"/>
              <a:t>.</a:t>
            </a:r>
          </a:p>
          <a:p>
            <a:r>
              <a:rPr lang="en-US" sz="2200" b="1" u="sng" dirty="0"/>
              <a:t>Grassroot Entrepreneurs</a:t>
            </a:r>
          </a:p>
          <a:p>
            <a:pPr marL="0" indent="0">
              <a:buNone/>
            </a:pPr>
            <a:r>
              <a:rPr lang="en-US" sz="2000" dirty="0"/>
              <a:t>-These women </a:t>
            </a:r>
            <a:r>
              <a:rPr lang="en-US" sz="2000" b="1" dirty="0"/>
              <a:t>start businesses mainly to support their family income</a:t>
            </a:r>
            <a:r>
              <a:rPr lang="en-US" sz="2000" dirty="0"/>
              <a:t>. They work to improve their children’s education and future. </a:t>
            </a:r>
            <a:r>
              <a:rPr lang="en-US" sz="2000" b="1" dirty="0"/>
              <a:t>Businesses are usually very small and local. Examples: tailors, flower sellers. </a:t>
            </a:r>
          </a:p>
          <a:p>
            <a:pPr marL="0" indent="0">
              <a:buNone/>
            </a:pPr>
            <a:r>
              <a:rPr lang="en-US" sz="2000" dirty="0"/>
              <a:t>-Main </a:t>
            </a:r>
            <a:r>
              <a:rPr lang="en-US" sz="2000" b="1" dirty="0"/>
              <a:t>purpose</a:t>
            </a:r>
            <a:r>
              <a:rPr lang="en-US" sz="2000" dirty="0"/>
              <a:t> </a:t>
            </a:r>
            <a:r>
              <a:rPr lang="en-US" sz="2000" b="1" dirty="0"/>
              <a:t>is Survival and family welfare</a:t>
            </a:r>
            <a:r>
              <a:rPr lang="en-US" sz="2000" dirty="0"/>
              <a:t>.</a:t>
            </a:r>
          </a:p>
          <a:p>
            <a:r>
              <a:rPr lang="en-US" sz="2200" b="1" u="sng" dirty="0"/>
              <a:t>Mid-rung Entrepreneurs</a:t>
            </a:r>
          </a:p>
          <a:p>
            <a:pPr marL="0" indent="0">
              <a:buNone/>
            </a:pPr>
            <a:r>
              <a:rPr lang="en-US" sz="2000" b="1" dirty="0"/>
              <a:t>-</a:t>
            </a:r>
            <a:r>
              <a:rPr lang="en-US" sz="2000" dirty="0"/>
              <a:t>These women are </a:t>
            </a:r>
            <a:r>
              <a:rPr lang="en-US" sz="2000" b="1" dirty="0"/>
              <a:t>more ambitious and growth-oriented</a:t>
            </a:r>
            <a:r>
              <a:rPr lang="en-US" sz="2000" dirty="0"/>
              <a:t>. They </a:t>
            </a:r>
            <a:r>
              <a:rPr lang="en-US" sz="2000" b="1" dirty="0"/>
              <a:t>want to build a reputation, become well-known, and improve product quality.</a:t>
            </a:r>
            <a:r>
              <a:rPr lang="en-US" sz="2000" dirty="0"/>
              <a:t> They enjoy creativity and innovation in their work</a:t>
            </a:r>
            <a:r>
              <a:rPr lang="en-US" sz="2000" b="1" dirty="0"/>
              <a:t>. Businesses are usually medium-scale</a:t>
            </a:r>
            <a:r>
              <a:rPr lang="en-US" sz="2000" dirty="0"/>
              <a:t>.</a:t>
            </a:r>
          </a:p>
          <a:p>
            <a:pPr marL="0" indent="0">
              <a:buNone/>
            </a:pPr>
            <a:r>
              <a:rPr lang="en-US" sz="2000" dirty="0"/>
              <a:t>- </a:t>
            </a:r>
            <a:r>
              <a:rPr lang="en-US" sz="2000" b="1" dirty="0"/>
              <a:t>Purpose is Recognition, creativity, and business growth.</a:t>
            </a:r>
          </a:p>
          <a:p>
            <a:r>
              <a:rPr lang="en-US" sz="2200" b="1" u="sng" dirty="0"/>
              <a:t>Upper crust</a:t>
            </a:r>
          </a:p>
          <a:p>
            <a:pPr marL="0" indent="0">
              <a:buNone/>
            </a:pPr>
            <a:r>
              <a:rPr lang="en-US" sz="2000" b="1" dirty="0"/>
              <a:t>-</a:t>
            </a:r>
            <a:r>
              <a:rPr lang="en-US" sz="2000" dirty="0"/>
              <a:t>These women </a:t>
            </a:r>
            <a:r>
              <a:rPr lang="en-US" sz="2000" b="1" dirty="0"/>
              <a:t>come from high social and economic backgrounds</a:t>
            </a:r>
            <a:r>
              <a:rPr lang="en-US" sz="2000" dirty="0"/>
              <a:t>. They are </a:t>
            </a:r>
            <a:r>
              <a:rPr lang="en-US" sz="2000" b="1" dirty="0"/>
              <a:t>well-educated</a:t>
            </a:r>
            <a:r>
              <a:rPr lang="en-US" sz="2000" dirty="0"/>
              <a:t> and confident</a:t>
            </a:r>
            <a:r>
              <a:rPr lang="en-US" sz="2000" b="1" dirty="0"/>
              <a:t>. Have better access to money, networks, and technology</a:t>
            </a:r>
            <a:r>
              <a:rPr lang="en-US" sz="2000" dirty="0"/>
              <a:t>. </a:t>
            </a:r>
            <a:r>
              <a:rPr lang="en-US" sz="2000" b="1" dirty="0"/>
              <a:t>Run large or professional businesses like export houses or pharmaceutical trading firms. </a:t>
            </a:r>
          </a:p>
          <a:p>
            <a:pPr marL="0" indent="0">
              <a:buNone/>
            </a:pPr>
            <a:r>
              <a:rPr lang="en-US" sz="2000" dirty="0"/>
              <a:t>-</a:t>
            </a:r>
            <a:r>
              <a:rPr lang="en-US" sz="2000" b="1" dirty="0"/>
              <a:t>Purpose is Expansion, profit, and leadership in business</a:t>
            </a:r>
            <a:r>
              <a:rPr lang="en-US" sz="2000" dirty="0"/>
              <a:t>.</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Psycho-social Barrier</a:t>
            </a:r>
          </a:p>
        </p:txBody>
      </p:sp>
      <p:sp>
        <p:nvSpPr>
          <p:cNvPr id="3" name="Content Placeholder 2"/>
          <p:cNvSpPr>
            <a:spLocks noGrp="1"/>
          </p:cNvSpPr>
          <p:nvPr>
            <p:ph sz="quarter" idx="1"/>
          </p:nvPr>
        </p:nvSpPr>
        <p:spPr/>
        <p:txBody>
          <a:bodyPr numCol="2">
            <a:normAutofit fontScale="77500" lnSpcReduction="20000"/>
          </a:bodyPr>
          <a:lstStyle/>
          <a:p>
            <a:r>
              <a:rPr lang="en-US" dirty="0"/>
              <a:t>Poor self-image of women</a:t>
            </a:r>
          </a:p>
          <a:p>
            <a:r>
              <a:rPr lang="en-US" dirty="0"/>
              <a:t>Inadequate motivation</a:t>
            </a:r>
          </a:p>
          <a:p>
            <a:r>
              <a:rPr lang="en-US" dirty="0"/>
              <a:t>Discriminating treatment</a:t>
            </a:r>
          </a:p>
          <a:p>
            <a:r>
              <a:rPr lang="en-US" dirty="0"/>
              <a:t>Faulty socialization</a:t>
            </a:r>
          </a:p>
          <a:p>
            <a:r>
              <a:rPr lang="en-US" dirty="0"/>
              <a:t>Role conflict</a:t>
            </a:r>
          </a:p>
          <a:p>
            <a:r>
              <a:rPr lang="en-US" dirty="0"/>
              <a:t>Cultural values</a:t>
            </a:r>
          </a:p>
          <a:p>
            <a:r>
              <a:rPr lang="en-US" dirty="0"/>
              <a:t>Lack of courage and self-confidence</a:t>
            </a:r>
          </a:p>
          <a:p>
            <a:r>
              <a:rPr lang="en-US" dirty="0"/>
              <a:t>Inadequate encouragement</a:t>
            </a:r>
          </a:p>
          <a:p>
            <a:r>
              <a:rPr lang="en-US" dirty="0"/>
              <a:t>Lack of social acceptance</a:t>
            </a:r>
          </a:p>
          <a:p>
            <a:r>
              <a:rPr lang="en-US" dirty="0"/>
              <a:t>Unjust economic, social and cultural system</a:t>
            </a:r>
          </a:p>
          <a:p>
            <a:r>
              <a:rPr lang="en-US" dirty="0"/>
              <a:t>Lack of freedom of expression</a:t>
            </a:r>
          </a:p>
          <a:p>
            <a:r>
              <a:rPr lang="en-US" dirty="0"/>
              <a:t>Afraid of failures and criticism</a:t>
            </a:r>
          </a:p>
          <a:p>
            <a:r>
              <a:rPr lang="en-US" dirty="0"/>
              <a:t>Susceptible to negative attitudes</a:t>
            </a:r>
          </a:p>
          <a:p>
            <a:r>
              <a:rPr lang="en-US" dirty="0"/>
              <a:t>Non-persistent attitude</a:t>
            </a:r>
          </a:p>
          <a:p>
            <a:r>
              <a:rPr lang="en-US" dirty="0"/>
              <a:t>Low dignity of labor</a:t>
            </a:r>
          </a:p>
          <a:p>
            <a:r>
              <a:rPr lang="en-US" dirty="0"/>
              <a:t>Lacking in leadership qualities</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Sickness in small scale industries</a:t>
            </a:r>
          </a:p>
        </p:txBody>
      </p:sp>
      <p:sp>
        <p:nvSpPr>
          <p:cNvPr id="3" name="Content Placeholder 2"/>
          <p:cNvSpPr>
            <a:spLocks noGrp="1"/>
          </p:cNvSpPr>
          <p:nvPr>
            <p:ph sz="quarter" idx="1"/>
          </p:nvPr>
        </p:nvSpPr>
        <p:spPr/>
        <p:txBody>
          <a:bodyPr>
            <a:normAutofit fontScale="92500" lnSpcReduction="10000"/>
          </a:bodyPr>
          <a:lstStyle/>
          <a:p>
            <a:r>
              <a:rPr lang="en-US" dirty="0"/>
              <a:t>A </a:t>
            </a:r>
            <a:r>
              <a:rPr lang="en-US" b="1" dirty="0"/>
              <a:t>sick industrial unit </a:t>
            </a:r>
            <a:r>
              <a:rPr lang="en-US" dirty="0"/>
              <a:t>may be defined as one when it </a:t>
            </a:r>
            <a:r>
              <a:rPr lang="en-US" b="1" dirty="0"/>
              <a:t>fails to generate surplus on a continuous basis </a:t>
            </a:r>
            <a:r>
              <a:rPr lang="en-US" dirty="0"/>
              <a:t>and </a:t>
            </a:r>
            <a:r>
              <a:rPr lang="en-US" b="1" dirty="0"/>
              <a:t>depend on frequent infusion of external funds for its survival </a:t>
            </a:r>
            <a:r>
              <a:rPr lang="en-US" dirty="0"/>
              <a:t>.</a:t>
            </a:r>
          </a:p>
          <a:p>
            <a:r>
              <a:rPr lang="en-US" dirty="0"/>
              <a:t>According to the </a:t>
            </a:r>
            <a:r>
              <a:rPr lang="en-US" b="1" dirty="0"/>
              <a:t>Reserve Bank of India (RBI), </a:t>
            </a:r>
            <a:r>
              <a:rPr lang="en-US" dirty="0"/>
              <a:t>a small-scale unit is sick, </a:t>
            </a:r>
            <a:r>
              <a:rPr lang="en-US" b="1" dirty="0"/>
              <a:t>if It suffered cash loss in the previous year, and It is likely to suffer cash loss in the current year also, and Because of continuous losses, 50% or more of its net worth (owner’s capital) has been wiped out</a:t>
            </a:r>
            <a:r>
              <a:rPr lang="en-US" dirty="0"/>
              <a:t>.</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1752" y="228600"/>
            <a:ext cx="8534400" cy="990600"/>
          </a:xfrm>
        </p:spPr>
        <p:txBody>
          <a:bodyPr>
            <a:normAutofit fontScale="90000"/>
          </a:bodyPr>
          <a:lstStyle/>
          <a:p>
            <a:r>
              <a:rPr lang="en-US" b="1" dirty="0"/>
              <a:t>Causes of sickness</a:t>
            </a:r>
            <a:br>
              <a:rPr lang="en-US" b="1" dirty="0"/>
            </a:br>
            <a:r>
              <a:rPr lang="en-US" b="1" dirty="0"/>
              <a:t>A. Internal Causes</a:t>
            </a:r>
          </a:p>
        </p:txBody>
      </p:sp>
      <p:sp>
        <p:nvSpPr>
          <p:cNvPr id="3" name="Content Placeholder 2"/>
          <p:cNvSpPr>
            <a:spLocks noGrp="1"/>
          </p:cNvSpPr>
          <p:nvPr>
            <p:ph sz="quarter" idx="1"/>
          </p:nvPr>
        </p:nvSpPr>
        <p:spPr>
          <a:xfrm>
            <a:off x="457200" y="1722437"/>
            <a:ext cx="8229600" cy="4525963"/>
          </a:xfrm>
        </p:spPr>
        <p:txBody>
          <a:bodyPr>
            <a:normAutofit fontScale="92500" lnSpcReduction="10000"/>
          </a:bodyPr>
          <a:lstStyle/>
          <a:p>
            <a:pPr marL="514350" indent="-514350">
              <a:buFont typeface="+mj-lt"/>
              <a:buAutoNum type="arabicParenR"/>
            </a:pPr>
            <a:r>
              <a:rPr lang="en-US" dirty="0"/>
              <a:t>Planning</a:t>
            </a:r>
          </a:p>
          <a:p>
            <a:pPr marL="788670" lvl="1" indent="-514350">
              <a:buFont typeface="+mj-lt"/>
              <a:buAutoNum type="arabicParenR"/>
            </a:pPr>
            <a:r>
              <a:rPr lang="en-US" dirty="0"/>
              <a:t>Technical Feasibility</a:t>
            </a:r>
          </a:p>
          <a:p>
            <a:pPr marL="1062990" lvl="2" indent="-514350">
              <a:buFont typeface="+mj-lt"/>
              <a:buAutoNum type="arabicParenR"/>
            </a:pPr>
            <a:r>
              <a:rPr lang="en-US" dirty="0"/>
              <a:t>Inadequate technical know-how</a:t>
            </a:r>
          </a:p>
          <a:p>
            <a:pPr marL="1062990" lvl="2" indent="-514350">
              <a:buFont typeface="+mj-lt"/>
              <a:buAutoNum type="arabicParenR"/>
            </a:pPr>
            <a:r>
              <a:rPr lang="en-US" dirty="0"/>
              <a:t>Location disadvantage</a:t>
            </a:r>
          </a:p>
          <a:p>
            <a:pPr marL="1062990" lvl="2" indent="-514350">
              <a:buFont typeface="+mj-lt"/>
              <a:buAutoNum type="arabicParenR"/>
            </a:pPr>
            <a:r>
              <a:rPr lang="en-US" dirty="0"/>
              <a:t>Outdated production process</a:t>
            </a:r>
          </a:p>
          <a:p>
            <a:pPr marL="788670" lvl="1" indent="-514350">
              <a:buFont typeface="+mj-lt"/>
              <a:buAutoNum type="arabicParenR"/>
            </a:pPr>
            <a:r>
              <a:rPr lang="en-US" dirty="0"/>
              <a:t>Economic viability</a:t>
            </a:r>
          </a:p>
          <a:p>
            <a:pPr marL="1062990" lvl="2" indent="-514350">
              <a:buFont typeface="+mj-lt"/>
              <a:buAutoNum type="arabicParenR"/>
            </a:pPr>
            <a:r>
              <a:rPr lang="en-US" dirty="0"/>
              <a:t>High cost of inputs</a:t>
            </a:r>
          </a:p>
          <a:p>
            <a:pPr marL="1062990" lvl="2" indent="-514350">
              <a:buFont typeface="+mj-lt"/>
              <a:buAutoNum type="arabicParenR"/>
            </a:pPr>
            <a:r>
              <a:rPr lang="en-US" dirty="0"/>
              <a:t>Break-even point too high</a:t>
            </a:r>
          </a:p>
          <a:p>
            <a:pPr marL="1062990" lvl="2" indent="-514350">
              <a:buFont typeface="+mj-lt"/>
              <a:buAutoNum type="arabicParenR"/>
            </a:pPr>
            <a:r>
              <a:rPr lang="en-US" dirty="0"/>
              <a:t>Uneconomic size of project</a:t>
            </a:r>
          </a:p>
          <a:p>
            <a:pPr marL="1062990" lvl="2" indent="-514350">
              <a:buFont typeface="+mj-lt"/>
              <a:buAutoNum type="arabicParenR"/>
            </a:pPr>
            <a:r>
              <a:rPr lang="en-US" dirty="0"/>
              <a:t>Under-estimation of financial requirements</a:t>
            </a:r>
          </a:p>
          <a:p>
            <a:pPr marL="1062990" lvl="2" indent="-514350">
              <a:buFont typeface="+mj-lt"/>
              <a:buAutoNum type="arabicParenR"/>
            </a:pPr>
            <a:r>
              <a:rPr lang="en-US" dirty="0"/>
              <a:t>Unduly large investments  in fixed assets</a:t>
            </a:r>
          </a:p>
          <a:p>
            <a:pPr marL="514350" indent="-514350">
              <a:buFont typeface="+mj-lt"/>
              <a:buAutoNum type="arabicParenR"/>
            </a:pPr>
            <a:endParaRPr lang="en-US"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a:xfrm>
            <a:off x="457200" y="1600200"/>
            <a:ext cx="8229600" cy="4876800"/>
          </a:xfrm>
        </p:spPr>
        <p:txBody>
          <a:bodyPr>
            <a:normAutofit fontScale="92500" lnSpcReduction="20000"/>
          </a:bodyPr>
          <a:lstStyle/>
          <a:p>
            <a:pPr marL="514350" indent="-514350">
              <a:buFont typeface="+mj-lt"/>
              <a:buAutoNum type="arabicParenR" startAt="2"/>
            </a:pPr>
            <a:r>
              <a:rPr lang="en-US" dirty="0"/>
              <a:t>Implementation</a:t>
            </a:r>
          </a:p>
          <a:p>
            <a:pPr marL="788670" lvl="1" indent="-514350">
              <a:buFont typeface="+mj-lt"/>
              <a:buAutoNum type="arabicParenR"/>
            </a:pPr>
            <a:r>
              <a:rPr lang="en-US" dirty="0"/>
              <a:t>Cost overruns resulting from delays in getting government licenses and approvals etc.</a:t>
            </a:r>
          </a:p>
          <a:p>
            <a:pPr marL="788670" lvl="1" indent="-514350">
              <a:buFont typeface="+mj-lt"/>
              <a:buAutoNum type="arabicParenR" startAt="2"/>
            </a:pPr>
            <a:r>
              <a:rPr lang="en-US" dirty="0"/>
              <a:t>Inadequate mobilization of finance (fails to arrange sufficient funds)</a:t>
            </a:r>
          </a:p>
          <a:p>
            <a:pPr marL="514350" indent="-514350">
              <a:buFont typeface="+mj-lt"/>
              <a:buAutoNum type="arabicParenR" startAt="2"/>
            </a:pPr>
            <a:r>
              <a:rPr lang="en-US" dirty="0"/>
              <a:t>Production</a:t>
            </a:r>
          </a:p>
          <a:p>
            <a:pPr marL="788670" lvl="1" indent="-514350">
              <a:buFont typeface="+mj-lt"/>
              <a:buAutoNum type="arabicParenR"/>
            </a:pPr>
            <a:r>
              <a:rPr lang="en-US" dirty="0"/>
              <a:t>Production management</a:t>
            </a:r>
          </a:p>
          <a:p>
            <a:pPr marL="1062990" lvl="2" indent="-514350"/>
            <a:r>
              <a:rPr lang="en-US" dirty="0"/>
              <a:t>Inappropriate product-mix (product not match market demand or too much varieties of product)</a:t>
            </a:r>
          </a:p>
          <a:p>
            <a:pPr marL="1062990" lvl="2" indent="-514350"/>
            <a:r>
              <a:rPr lang="en-US" dirty="0"/>
              <a:t>Poor quality control</a:t>
            </a:r>
          </a:p>
          <a:p>
            <a:pPr marL="1062990" lvl="2" indent="-514350"/>
            <a:r>
              <a:rPr lang="en-US" dirty="0"/>
              <a:t>Poor capacity utilization</a:t>
            </a:r>
          </a:p>
          <a:p>
            <a:pPr marL="1062990" lvl="2" indent="-514350"/>
            <a:r>
              <a:rPr lang="en-US" dirty="0"/>
              <a:t>High cost of production</a:t>
            </a:r>
          </a:p>
          <a:p>
            <a:pPr marL="1062990" lvl="2" indent="-514350"/>
            <a:r>
              <a:rPr lang="en-US" dirty="0"/>
              <a:t>Inadequate maintenance and replacement</a:t>
            </a:r>
          </a:p>
          <a:p>
            <a:endParaRPr lang="en-US"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normAutofit fontScale="92500" lnSpcReduction="10000"/>
          </a:bodyPr>
          <a:lstStyle/>
          <a:p>
            <a:pPr marL="274320" lvl="1" indent="0">
              <a:buNone/>
            </a:pPr>
            <a:r>
              <a:rPr lang="en-US" dirty="0"/>
              <a:t>4) Labor management</a:t>
            </a:r>
          </a:p>
          <a:p>
            <a:pPr marL="1062990" lvl="2" indent="-514350"/>
            <a:r>
              <a:rPr lang="en-US" dirty="0"/>
              <a:t>High wage structure</a:t>
            </a:r>
          </a:p>
          <a:p>
            <a:pPr marL="1062990" lvl="2" indent="-514350"/>
            <a:r>
              <a:rPr lang="en-US" dirty="0"/>
              <a:t>Inefficient handling of labor problems</a:t>
            </a:r>
          </a:p>
          <a:p>
            <a:pPr marL="1062990" lvl="2" indent="-514350"/>
            <a:r>
              <a:rPr lang="en-US" dirty="0"/>
              <a:t>Excessive manpower</a:t>
            </a:r>
          </a:p>
          <a:p>
            <a:pPr marL="1062990" lvl="2" indent="-514350"/>
            <a:r>
              <a:rPr lang="en-US" dirty="0"/>
              <a:t>Poor labor relations</a:t>
            </a:r>
          </a:p>
          <a:p>
            <a:pPr marL="1062990" lvl="2" indent="-514350"/>
            <a:r>
              <a:rPr lang="en-US" dirty="0"/>
              <a:t>Poor labor productivity</a:t>
            </a:r>
          </a:p>
          <a:p>
            <a:pPr marL="274320" lvl="1" indent="0">
              <a:buNone/>
            </a:pPr>
            <a:r>
              <a:rPr lang="en-US" dirty="0"/>
              <a:t>5) Marketing management</a:t>
            </a:r>
          </a:p>
          <a:p>
            <a:pPr marL="1062990" lvl="2" indent="-514350"/>
            <a:r>
              <a:rPr lang="en-US" dirty="0"/>
              <a:t>Poor sales realization</a:t>
            </a:r>
          </a:p>
          <a:p>
            <a:pPr marL="1062990" lvl="2" indent="-514350"/>
            <a:r>
              <a:rPr lang="en-US" dirty="0"/>
              <a:t>Defective pricing policy</a:t>
            </a:r>
          </a:p>
          <a:p>
            <a:pPr marL="1062990" lvl="2" indent="-514350"/>
            <a:r>
              <a:rPr lang="en-US" dirty="0"/>
              <a:t>Weak market organization (less advertisement or customers are unaware about product)</a:t>
            </a:r>
          </a:p>
          <a:p>
            <a:pPr marL="1062990" lvl="2" indent="-514350"/>
            <a:r>
              <a:rPr lang="en-US" dirty="0"/>
              <a:t>Lack of market Feedback and market research</a:t>
            </a:r>
          </a:p>
          <a:p>
            <a:pPr marL="788670" lvl="1" indent="-514350">
              <a:buFont typeface="+mj-lt"/>
              <a:buAutoNum type="arabicParenR" startAt="2"/>
            </a:pPr>
            <a:endParaRPr lang="en-US" dirty="0"/>
          </a:p>
          <a:p>
            <a:endParaRPr lang="en-US"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numCol="2">
            <a:normAutofit/>
          </a:bodyPr>
          <a:lstStyle/>
          <a:p>
            <a:pPr marL="274320" lvl="1" indent="0">
              <a:buNone/>
            </a:pPr>
            <a:r>
              <a:rPr lang="en-US" dirty="0"/>
              <a:t>6) Financial management</a:t>
            </a:r>
          </a:p>
          <a:p>
            <a:pPr marL="1062990" lvl="2" indent="-514350"/>
            <a:r>
              <a:rPr lang="en-US" sz="2000" dirty="0"/>
              <a:t>Faulty costing (</a:t>
            </a:r>
            <a:r>
              <a:rPr lang="en-US" sz="1600" dirty="0"/>
              <a:t>cost of production is not properly calculated</a:t>
            </a:r>
            <a:r>
              <a:rPr lang="en-US" sz="2000" dirty="0"/>
              <a:t>)</a:t>
            </a:r>
          </a:p>
          <a:p>
            <a:pPr marL="1062990" lvl="2" indent="-514350"/>
            <a:r>
              <a:rPr lang="en-US" sz="2000" dirty="0"/>
              <a:t>Poor resource management</a:t>
            </a:r>
          </a:p>
          <a:p>
            <a:pPr marL="1062990" lvl="2" indent="-514350"/>
            <a:r>
              <a:rPr lang="en-US" sz="2000" dirty="0"/>
              <a:t>Liberal dividend policy</a:t>
            </a:r>
          </a:p>
          <a:p>
            <a:pPr marL="1062990" lvl="2" indent="-514350"/>
            <a:r>
              <a:rPr lang="en-US" sz="2000" dirty="0"/>
              <a:t>General financial indiscipline(</a:t>
            </a:r>
            <a:r>
              <a:rPr lang="en-US" sz="1600" dirty="0"/>
              <a:t>no proper budgeting or proper records are maintained</a:t>
            </a:r>
            <a:r>
              <a:rPr lang="en-US" sz="2000" dirty="0"/>
              <a:t>)</a:t>
            </a:r>
          </a:p>
          <a:p>
            <a:pPr marL="1062990" lvl="2" indent="-514350"/>
            <a:r>
              <a:rPr lang="en-US" sz="2000" dirty="0"/>
              <a:t>Poor liquidity</a:t>
            </a:r>
          </a:p>
          <a:p>
            <a:pPr marL="1062990" lvl="2" indent="-514350"/>
            <a:r>
              <a:rPr lang="en-US" sz="2000" dirty="0"/>
              <a:t>Deficiency of funds</a:t>
            </a:r>
          </a:p>
          <a:p>
            <a:pPr marL="1062990" lvl="2" indent="-514350"/>
            <a:r>
              <a:rPr lang="en-US" sz="2000" dirty="0"/>
              <a:t>Poor cash control</a:t>
            </a:r>
          </a:p>
          <a:p>
            <a:pPr marL="1062990" lvl="2" indent="-514350"/>
            <a:r>
              <a:rPr lang="en-US" sz="2000" dirty="0"/>
              <a:t>No plan “b”</a:t>
            </a:r>
          </a:p>
          <a:p>
            <a:pPr marL="1062990" lvl="2" indent="-514350"/>
            <a:r>
              <a:rPr lang="en-US" sz="2000" dirty="0"/>
              <a:t>Delaying debt</a:t>
            </a:r>
          </a:p>
          <a:p>
            <a:pPr marL="1062990" lvl="2" indent="-514350"/>
            <a:r>
              <a:rPr lang="en-US" sz="2000" dirty="0"/>
              <a:t>Borrowing blind</a:t>
            </a:r>
          </a:p>
          <a:p>
            <a:pPr marL="1062990" lvl="2" indent="-514350"/>
            <a:r>
              <a:rPr lang="en-US" sz="2000" dirty="0"/>
              <a:t>Ignoring lender like SIDBI(Small Industries Development Bank of India)</a:t>
            </a:r>
          </a:p>
          <a:p>
            <a:endParaRPr lang="en-US"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normAutofit/>
          </a:bodyPr>
          <a:lstStyle/>
          <a:p>
            <a:pPr marL="274320" lvl="1" indent="0">
              <a:buNone/>
            </a:pPr>
            <a:r>
              <a:rPr lang="en-US" dirty="0"/>
              <a:t>7) Administrative management</a:t>
            </a:r>
          </a:p>
          <a:p>
            <a:pPr marL="1062990" lvl="2" indent="-514350"/>
            <a:r>
              <a:rPr lang="en-US" dirty="0"/>
              <a:t>Over centralization</a:t>
            </a:r>
          </a:p>
          <a:p>
            <a:pPr marL="1062990" lvl="2" indent="-514350"/>
            <a:r>
              <a:rPr lang="en-US" dirty="0"/>
              <a:t>Lack of professionalism</a:t>
            </a:r>
          </a:p>
          <a:p>
            <a:pPr marL="1062990" lvl="2" indent="-514350"/>
            <a:r>
              <a:rPr lang="en-US" dirty="0"/>
              <a:t>Lack of feedback to management</a:t>
            </a:r>
          </a:p>
          <a:p>
            <a:pPr marL="1062990" lvl="2" indent="-514350"/>
            <a:r>
              <a:rPr lang="en-US" dirty="0"/>
              <a:t>Lack of controls </a:t>
            </a:r>
          </a:p>
          <a:p>
            <a:pPr marL="1062990" lvl="2" indent="-514350"/>
            <a:r>
              <a:rPr lang="en-US" dirty="0"/>
              <a:t>Lack of timely diversification (</a:t>
            </a:r>
            <a:r>
              <a:rPr lang="en-US" sz="2000" dirty="0"/>
              <a:t>using new platforms, product divarication, technology and strategy adoption</a:t>
            </a:r>
            <a:r>
              <a:rPr lang="en-US" dirty="0"/>
              <a:t>)</a:t>
            </a:r>
          </a:p>
          <a:p>
            <a:pPr marL="1062990" lvl="2" indent="-514350"/>
            <a:r>
              <a:rPr lang="en-US" dirty="0"/>
              <a:t>Excessive expenditure on R&amp;D</a:t>
            </a:r>
          </a:p>
          <a:p>
            <a:pPr marL="1062990" lvl="2" indent="-514350"/>
            <a:r>
              <a:rPr lang="en-US" dirty="0"/>
              <a:t>Incompetent management</a:t>
            </a:r>
          </a:p>
          <a:p>
            <a:pPr marL="1062990" lvl="2" indent="-514350"/>
            <a:r>
              <a:rPr lang="en-US" dirty="0"/>
              <a:t>Dishonest management</a:t>
            </a:r>
          </a:p>
          <a:p>
            <a:endParaRPr lang="en-US"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457200"/>
            <a:ext cx="8534400" cy="758952"/>
          </a:xfrm>
        </p:spPr>
        <p:txBody>
          <a:bodyPr>
            <a:normAutofit fontScale="90000"/>
          </a:bodyPr>
          <a:lstStyle/>
          <a:p>
            <a:r>
              <a:rPr lang="en-US" b="1" dirty="0"/>
              <a:t>Causes of sickness</a:t>
            </a:r>
            <a:br>
              <a:rPr lang="en-US" b="1" dirty="0"/>
            </a:br>
            <a:r>
              <a:rPr lang="en-US" b="1" dirty="0"/>
              <a:t>B. External Causes</a:t>
            </a:r>
            <a:endParaRPr lang="en-US" dirty="0"/>
          </a:p>
        </p:txBody>
      </p:sp>
      <p:sp>
        <p:nvSpPr>
          <p:cNvPr id="3" name="Content Placeholder 2"/>
          <p:cNvSpPr>
            <a:spLocks noGrp="1"/>
          </p:cNvSpPr>
          <p:nvPr>
            <p:ph sz="quarter" idx="1"/>
          </p:nvPr>
        </p:nvSpPr>
        <p:spPr>
          <a:xfrm>
            <a:off x="301752" y="1527048"/>
            <a:ext cx="8503920" cy="5102352"/>
          </a:xfrm>
        </p:spPr>
        <p:txBody>
          <a:bodyPr>
            <a:normAutofit lnSpcReduction="10000"/>
          </a:bodyPr>
          <a:lstStyle/>
          <a:p>
            <a:pPr marL="514350" indent="-514350">
              <a:buClr>
                <a:schemeClr val="accent3">
                  <a:lumMod val="75000"/>
                </a:schemeClr>
              </a:buClr>
              <a:buFont typeface="Wingdings" pitchFamily="2" charset="2"/>
              <a:buChar char="Ø"/>
            </a:pPr>
            <a:r>
              <a:rPr lang="en-US" b="1" dirty="0"/>
              <a:t>Infrastructure bottlenecks</a:t>
            </a:r>
          </a:p>
          <a:p>
            <a:pPr marL="788670" lvl="1" indent="-514350">
              <a:buClr>
                <a:schemeClr val="accent3">
                  <a:lumMod val="75000"/>
                </a:schemeClr>
              </a:buClr>
              <a:buFont typeface="Wingdings" pitchFamily="2" charset="2"/>
              <a:buChar char="§"/>
            </a:pPr>
            <a:r>
              <a:rPr lang="en-US" dirty="0"/>
              <a:t>Non-availability/irregular supply of raw material</a:t>
            </a:r>
          </a:p>
          <a:p>
            <a:pPr marL="788670" lvl="1" indent="-514350">
              <a:buClr>
                <a:schemeClr val="accent3">
                  <a:lumMod val="75000"/>
                </a:schemeClr>
              </a:buClr>
              <a:buFont typeface="Wingdings" pitchFamily="2" charset="2"/>
              <a:buChar char="§"/>
            </a:pPr>
            <a:r>
              <a:rPr lang="en-US" dirty="0"/>
              <a:t>Chronic power shortage</a:t>
            </a:r>
          </a:p>
          <a:p>
            <a:pPr marL="788670" lvl="1" indent="-514350">
              <a:buClr>
                <a:schemeClr val="accent3">
                  <a:lumMod val="75000"/>
                </a:schemeClr>
              </a:buClr>
              <a:buFont typeface="Wingdings" pitchFamily="2" charset="2"/>
              <a:buChar char="§"/>
            </a:pPr>
            <a:r>
              <a:rPr lang="en-US" dirty="0"/>
              <a:t>Transport bottlenecks</a:t>
            </a:r>
          </a:p>
          <a:p>
            <a:pPr marL="514350" indent="-514350">
              <a:buClr>
                <a:schemeClr val="accent3">
                  <a:lumMod val="75000"/>
                </a:schemeClr>
              </a:buClr>
              <a:buFont typeface="Wingdings" pitchFamily="2" charset="2"/>
              <a:buChar char="Ø"/>
            </a:pPr>
            <a:r>
              <a:rPr lang="en-US" b="1" dirty="0"/>
              <a:t>Financial bottlenecks</a:t>
            </a:r>
          </a:p>
          <a:p>
            <a:pPr marL="788670" lvl="1" indent="-514350">
              <a:buClr>
                <a:schemeClr val="accent3">
                  <a:lumMod val="75000"/>
                </a:schemeClr>
              </a:buClr>
              <a:buFont typeface="Wingdings" pitchFamily="2" charset="2"/>
              <a:buChar char="§"/>
            </a:pPr>
            <a:r>
              <a:rPr lang="en-US" dirty="0"/>
              <a:t>Non-availability of adequate finance</a:t>
            </a:r>
          </a:p>
          <a:p>
            <a:pPr marL="514350" indent="-514350">
              <a:buClr>
                <a:schemeClr val="accent3">
                  <a:lumMod val="75000"/>
                </a:schemeClr>
              </a:buClr>
              <a:buFont typeface="Wingdings" pitchFamily="2" charset="2"/>
              <a:buChar char="Ø"/>
            </a:pPr>
            <a:r>
              <a:rPr lang="en-US" b="1" dirty="0"/>
              <a:t>Government controls and policies</a:t>
            </a:r>
          </a:p>
          <a:p>
            <a:pPr marL="788670" lvl="1" indent="-514350">
              <a:buClr>
                <a:schemeClr val="accent3">
                  <a:lumMod val="75000"/>
                </a:schemeClr>
              </a:buClr>
              <a:buFont typeface="Wingdings" pitchFamily="2" charset="2"/>
              <a:buChar char="§"/>
            </a:pPr>
            <a:r>
              <a:rPr lang="en-US" dirty="0"/>
              <a:t>Government price controls</a:t>
            </a:r>
          </a:p>
          <a:p>
            <a:pPr marL="788670" lvl="1" indent="-514350">
              <a:buClr>
                <a:schemeClr val="accent3">
                  <a:lumMod val="75000"/>
                </a:schemeClr>
              </a:buClr>
              <a:buFont typeface="Wingdings" pitchFamily="2" charset="2"/>
              <a:buChar char="§"/>
            </a:pPr>
            <a:r>
              <a:rPr lang="en-US" dirty="0"/>
              <a:t>Fiscal duties</a:t>
            </a:r>
          </a:p>
          <a:p>
            <a:pPr marL="788670" lvl="1" indent="-514350">
              <a:buClr>
                <a:schemeClr val="accent3">
                  <a:lumMod val="75000"/>
                </a:schemeClr>
              </a:buClr>
              <a:buFont typeface="Wingdings" pitchFamily="2" charset="2"/>
              <a:buChar char="§"/>
            </a:pPr>
            <a:r>
              <a:rPr lang="en-US" dirty="0"/>
              <a:t>Changes in government policies</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normAutofit fontScale="92500"/>
          </a:bodyPr>
          <a:lstStyle/>
          <a:p>
            <a:pPr marL="514350" indent="-514350">
              <a:buClr>
                <a:schemeClr val="accent3">
                  <a:lumMod val="75000"/>
                </a:schemeClr>
              </a:buClr>
              <a:buFont typeface="Wingdings" pitchFamily="2" charset="2"/>
              <a:buChar char="Ø"/>
            </a:pPr>
            <a:r>
              <a:rPr lang="en-US" b="1" dirty="0"/>
              <a:t>Market constraints</a:t>
            </a:r>
          </a:p>
          <a:p>
            <a:pPr marL="788670" lvl="1" indent="-514350">
              <a:buClr>
                <a:schemeClr val="accent3">
                  <a:lumMod val="75000"/>
                </a:schemeClr>
              </a:buClr>
              <a:buFont typeface="Wingdings" pitchFamily="2" charset="2"/>
              <a:buChar char="§"/>
            </a:pPr>
            <a:r>
              <a:rPr lang="en-US" dirty="0"/>
              <a:t>Market Saturation (No many customers left to serve EG- every one is having mobile phones)</a:t>
            </a:r>
          </a:p>
          <a:p>
            <a:pPr marL="788670" lvl="1" indent="-514350">
              <a:buClr>
                <a:schemeClr val="accent3">
                  <a:lumMod val="75000"/>
                </a:schemeClr>
              </a:buClr>
              <a:buFont typeface="Wingdings" pitchFamily="2" charset="2"/>
              <a:buChar char="§"/>
            </a:pPr>
            <a:r>
              <a:rPr lang="en-US" dirty="0"/>
              <a:t>Revolutionary technological advancement</a:t>
            </a:r>
          </a:p>
          <a:p>
            <a:pPr marL="514350" indent="-514350">
              <a:buClr>
                <a:schemeClr val="accent3">
                  <a:lumMod val="75000"/>
                </a:schemeClr>
              </a:buClr>
              <a:buFont typeface="Wingdings" pitchFamily="2" charset="2"/>
              <a:buChar char="Ø"/>
            </a:pPr>
            <a:r>
              <a:rPr lang="en-US" b="1" dirty="0"/>
              <a:t>Extraneous factors</a:t>
            </a:r>
          </a:p>
          <a:p>
            <a:pPr marL="788670" lvl="1" indent="-514350">
              <a:buClr>
                <a:schemeClr val="accent3">
                  <a:lumMod val="75000"/>
                </a:schemeClr>
              </a:buClr>
              <a:buFont typeface="Wingdings" pitchFamily="2" charset="2"/>
              <a:buChar char="§"/>
            </a:pPr>
            <a:r>
              <a:rPr lang="en-US" dirty="0"/>
              <a:t>Natural calamities</a:t>
            </a:r>
          </a:p>
          <a:p>
            <a:pPr marL="788670" lvl="1" indent="-514350">
              <a:buClr>
                <a:schemeClr val="accent3">
                  <a:lumMod val="75000"/>
                </a:schemeClr>
              </a:buClr>
              <a:buFont typeface="Wingdings" pitchFamily="2" charset="2"/>
              <a:buChar char="§"/>
            </a:pPr>
            <a:r>
              <a:rPr lang="en-US" dirty="0"/>
              <a:t>Political situation (domestic as well as international)</a:t>
            </a:r>
          </a:p>
          <a:p>
            <a:pPr marL="788670" lvl="1" indent="-514350">
              <a:buClr>
                <a:schemeClr val="accent3">
                  <a:lumMod val="75000"/>
                </a:schemeClr>
              </a:buClr>
              <a:buFont typeface="Wingdings" pitchFamily="2" charset="2"/>
              <a:buChar char="§"/>
            </a:pPr>
            <a:r>
              <a:rPr lang="en-US" dirty="0"/>
              <a:t>War</a:t>
            </a:r>
          </a:p>
          <a:p>
            <a:pPr marL="788670" lvl="1" indent="-514350">
              <a:buClr>
                <a:schemeClr val="accent3">
                  <a:lumMod val="75000"/>
                </a:schemeClr>
              </a:buClr>
              <a:buFont typeface="Wingdings" pitchFamily="2" charset="2"/>
              <a:buChar char="§"/>
            </a:pPr>
            <a:r>
              <a:rPr lang="en-US" dirty="0"/>
              <a:t>Sympathetic strikes</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01752" y="685800"/>
            <a:ext cx="8503920" cy="5867400"/>
          </a:xfrm>
        </p:spPr>
        <p:txBody>
          <a:bodyPr>
            <a:normAutofit fontScale="85000" lnSpcReduction="10000"/>
          </a:bodyPr>
          <a:lstStyle/>
          <a:p>
            <a:pPr algn="just" fontAlgn="base">
              <a:lnSpc>
                <a:spcPct val="120000"/>
              </a:lnSpc>
              <a:buNone/>
            </a:pPr>
            <a:r>
              <a:rPr lang="en-US" dirty="0"/>
              <a:t>(a) </a:t>
            </a:r>
            <a:r>
              <a:rPr lang="en-US" b="1" dirty="0"/>
              <a:t>Delay in land acquisition </a:t>
            </a:r>
            <a:r>
              <a:rPr lang="en-US" dirty="0"/>
              <a:t>and building construction</a:t>
            </a:r>
          </a:p>
          <a:p>
            <a:pPr algn="just" fontAlgn="base">
              <a:lnSpc>
                <a:spcPct val="120000"/>
              </a:lnSpc>
              <a:buNone/>
            </a:pPr>
            <a:r>
              <a:rPr lang="en-US" dirty="0"/>
              <a:t>(b) </a:t>
            </a:r>
            <a:r>
              <a:rPr lang="en-US" b="1" dirty="0"/>
              <a:t>Delay in obtaining financial as­sistance </a:t>
            </a:r>
            <a:r>
              <a:rPr lang="en-US" dirty="0"/>
              <a:t>from public financial institutions</a:t>
            </a:r>
          </a:p>
          <a:p>
            <a:pPr algn="just" fontAlgn="base">
              <a:lnSpc>
                <a:spcPct val="120000"/>
              </a:lnSpc>
              <a:buNone/>
            </a:pPr>
            <a:r>
              <a:rPr lang="en-US" dirty="0"/>
              <a:t>(c) </a:t>
            </a:r>
            <a:r>
              <a:rPr lang="en-US" b="1" dirty="0"/>
              <a:t>De­layed supply of machinery</a:t>
            </a:r>
            <a:r>
              <a:rPr lang="en-US" dirty="0"/>
              <a:t> by the manufacturers</a:t>
            </a:r>
          </a:p>
          <a:p>
            <a:pPr algn="just" fontAlgn="base">
              <a:lnSpc>
                <a:spcPct val="120000"/>
              </a:lnSpc>
              <a:buNone/>
            </a:pPr>
            <a:r>
              <a:rPr lang="en-US" dirty="0"/>
              <a:t>(d) </a:t>
            </a:r>
            <a:r>
              <a:rPr lang="en-US" b="1" dirty="0"/>
              <a:t>Problems related to recruitment </a:t>
            </a:r>
            <a:r>
              <a:rPr lang="en-US" dirty="0"/>
              <a:t>of technical and managerial staff</a:t>
            </a:r>
          </a:p>
          <a:p>
            <a:pPr algn="just" fontAlgn="base">
              <a:lnSpc>
                <a:spcPct val="120000"/>
              </a:lnSpc>
              <a:buNone/>
            </a:pPr>
            <a:r>
              <a:rPr lang="en-US" dirty="0"/>
              <a:t>(e) </a:t>
            </a:r>
            <a:r>
              <a:rPr lang="en-US" b="1" dirty="0"/>
              <a:t>Delay on the part of the Government </a:t>
            </a:r>
            <a:r>
              <a:rPr lang="en-US" dirty="0"/>
              <a:t>in sanctioning licenses, permits, etc.</a:t>
            </a:r>
          </a:p>
          <a:p>
            <a:pPr algn="just" fontAlgn="base">
              <a:lnSpc>
                <a:spcPct val="120000"/>
              </a:lnSpc>
              <a:buNone/>
            </a:pPr>
            <a:r>
              <a:rPr lang="en-US" dirty="0"/>
              <a:t>(f) </a:t>
            </a:r>
            <a:r>
              <a:rPr lang="en-US" b="1" dirty="0"/>
              <a:t>Shortages of basic inputs like power and coal</a:t>
            </a:r>
            <a:r>
              <a:rPr lang="en-US" dirty="0"/>
              <a:t>. Other causes include</a:t>
            </a:r>
          </a:p>
          <a:p>
            <a:pPr fontAlgn="base">
              <a:buNone/>
            </a:pPr>
            <a:endParaRPr lang="en-US" dirty="0"/>
          </a:p>
          <a:p>
            <a:endParaRPr lang="en-US"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a:xfrm>
            <a:off x="301752" y="1527048"/>
            <a:ext cx="8503920" cy="4797552"/>
          </a:xfrm>
        </p:spPr>
        <p:txBody>
          <a:bodyPr>
            <a:normAutofit fontScale="77500" lnSpcReduction="20000"/>
          </a:bodyPr>
          <a:lstStyle/>
          <a:p>
            <a:pPr algn="just" fontAlgn="base">
              <a:lnSpc>
                <a:spcPct val="110000"/>
              </a:lnSpc>
              <a:buNone/>
            </a:pPr>
            <a:r>
              <a:rPr lang="en-US" dirty="0"/>
              <a:t>(g) </a:t>
            </a:r>
            <a:r>
              <a:rPr lang="en-US" b="1" dirty="0"/>
              <a:t>Cost over-runs </a:t>
            </a:r>
            <a:r>
              <a:rPr lang="en-US" dirty="0"/>
              <a:t>due to factors beyond the control of management</a:t>
            </a:r>
          </a:p>
          <a:p>
            <a:pPr algn="just" fontAlgn="base">
              <a:lnSpc>
                <a:spcPct val="110000"/>
              </a:lnSpc>
              <a:buNone/>
            </a:pPr>
            <a:r>
              <a:rPr lang="en-US" dirty="0"/>
              <a:t>(h) </a:t>
            </a:r>
            <a:r>
              <a:rPr lang="en-US" b="1" dirty="0"/>
              <a:t>Lack of demand for products </a:t>
            </a:r>
            <a:r>
              <a:rPr lang="en-US" dirty="0"/>
              <a:t>or shift of demand to products of rival firms due to delays in project implementation</a:t>
            </a:r>
          </a:p>
          <a:p>
            <a:pPr algn="just" fontAlgn="base">
              <a:lnSpc>
                <a:spcPct val="110000"/>
              </a:lnSpc>
              <a:buNone/>
            </a:pPr>
            <a:r>
              <a:rPr lang="en-US" dirty="0"/>
              <a:t>(</a:t>
            </a:r>
            <a:r>
              <a:rPr lang="en-US" dirty="0" err="1"/>
              <a:t>i</a:t>
            </a:r>
            <a:r>
              <a:rPr lang="en-US" dirty="0"/>
              <a:t>) </a:t>
            </a:r>
            <a:r>
              <a:rPr lang="en-US" b="1" dirty="0"/>
              <a:t>Unsatisfactory performance by collaborators</a:t>
            </a:r>
            <a:r>
              <a:rPr lang="en-US" dirty="0"/>
              <a:t>—financial and technical</a:t>
            </a:r>
          </a:p>
          <a:p>
            <a:pPr algn="just" fontAlgn="base">
              <a:lnSpc>
                <a:spcPct val="110000"/>
              </a:lnSpc>
              <a:buNone/>
            </a:pPr>
            <a:r>
              <a:rPr lang="en-US" dirty="0"/>
              <a:t>(j) </a:t>
            </a:r>
            <a:r>
              <a:rPr lang="en-US" b="1" dirty="0"/>
              <a:t>Large changes in the scale of operation and optimum product mix in the long run</a:t>
            </a:r>
            <a:r>
              <a:rPr lang="en-US" dirty="0"/>
              <a:t> and, last but not the least</a:t>
            </a:r>
          </a:p>
          <a:p>
            <a:pPr algn="just" fontAlgn="base">
              <a:lnSpc>
                <a:spcPct val="110000"/>
              </a:lnSpc>
              <a:buNone/>
            </a:pPr>
            <a:r>
              <a:rPr lang="en-US" dirty="0"/>
              <a:t>(k) </a:t>
            </a:r>
            <a:r>
              <a:rPr lang="en-US" b="1" dirty="0"/>
              <a:t>Changes in the policy of the Government </a:t>
            </a:r>
            <a:r>
              <a:rPr lang="en-US" dirty="0"/>
              <a:t>relating to movement of goods from one place to another within the country</a:t>
            </a:r>
          </a:p>
          <a:p>
            <a:endParaRPr lang="en-US"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Remedial Mechanism</a:t>
            </a:r>
          </a:p>
        </p:txBody>
      </p:sp>
      <p:sp>
        <p:nvSpPr>
          <p:cNvPr id="3" name="Content Placeholder 2"/>
          <p:cNvSpPr>
            <a:spLocks noGrp="1"/>
          </p:cNvSpPr>
          <p:nvPr>
            <p:ph sz="quarter" idx="1"/>
          </p:nvPr>
        </p:nvSpPr>
        <p:spPr/>
        <p:txBody>
          <a:bodyPr>
            <a:normAutofit fontScale="77500" lnSpcReduction="20000"/>
          </a:bodyPr>
          <a:lstStyle/>
          <a:p>
            <a:pPr fontAlgn="base">
              <a:lnSpc>
                <a:spcPct val="120000"/>
              </a:lnSpc>
            </a:pPr>
            <a:r>
              <a:rPr lang="en-US" b="1" dirty="0"/>
              <a:t>Government Policy:</a:t>
            </a:r>
          </a:p>
          <a:p>
            <a:pPr algn="just" fontAlgn="base">
              <a:lnSpc>
                <a:spcPct val="120000"/>
              </a:lnSpc>
            </a:pPr>
            <a:r>
              <a:rPr lang="en-US" dirty="0"/>
              <a:t>A number of measures have been taken to tackle the problem of industrial sickness. </a:t>
            </a:r>
            <a:r>
              <a:rPr lang="en-US" b="1" dirty="0"/>
              <a:t>The importance of detection of sickness at the early stage has been emphasized by the RBI. </a:t>
            </a:r>
          </a:p>
          <a:p>
            <a:pPr algn="just" fontAlgn="base">
              <a:lnSpc>
                <a:spcPct val="120000"/>
              </a:lnSpc>
            </a:pPr>
            <a:r>
              <a:rPr lang="en-US" dirty="0"/>
              <a:t>The </a:t>
            </a:r>
            <a:r>
              <a:rPr lang="en-US" b="1" dirty="0"/>
              <a:t>policy framework in respect of measures to deal with the problem of industrial sick­ness has been laid down </a:t>
            </a:r>
            <a:r>
              <a:rPr lang="en-US" dirty="0"/>
              <a:t>in the guidelines issued </a:t>
            </a:r>
            <a:r>
              <a:rPr lang="en-US" b="1" dirty="0"/>
              <a:t>on October 1981 (which were subsequently modified in February 1982) </a:t>
            </a:r>
            <a:r>
              <a:rPr lang="en-US" dirty="0"/>
              <a:t>for </a:t>
            </a:r>
            <a:r>
              <a:rPr lang="en-US" b="1" dirty="0"/>
              <a:t>guidance of administrative ministries of the Central Government, State Governments and financial institutions.</a:t>
            </a:r>
          </a:p>
          <a:p>
            <a:endParaRPr lang="en-US"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1752" y="-7374"/>
            <a:ext cx="8534400" cy="1066800"/>
          </a:xfrm>
        </p:spPr>
        <p:txBody>
          <a:bodyPr>
            <a:noAutofit/>
          </a:bodyPr>
          <a:lstStyle/>
          <a:p>
            <a:r>
              <a:rPr lang="en-US" sz="3200" b="1" dirty="0"/>
              <a:t>The salient features of these guidelines are the following:</a:t>
            </a:r>
            <a:endParaRPr lang="en-US" sz="3200" dirty="0"/>
          </a:p>
        </p:txBody>
      </p:sp>
      <p:sp>
        <p:nvSpPr>
          <p:cNvPr id="3" name="Content Placeholder 2"/>
          <p:cNvSpPr>
            <a:spLocks noGrp="1"/>
          </p:cNvSpPr>
          <p:nvPr>
            <p:ph sz="quarter" idx="1"/>
          </p:nvPr>
        </p:nvSpPr>
        <p:spPr>
          <a:xfrm>
            <a:off x="0" y="914400"/>
            <a:ext cx="8805672" cy="6019800"/>
          </a:xfrm>
        </p:spPr>
        <p:txBody>
          <a:bodyPr>
            <a:normAutofit/>
          </a:bodyPr>
          <a:lstStyle/>
          <a:p>
            <a:pPr algn="just">
              <a:lnSpc>
                <a:spcPct val="120000"/>
              </a:lnSpc>
              <a:buFont typeface="Wingdings" panose="05000000000000000000" pitchFamily="2" charset="2"/>
              <a:buChar char="Ø"/>
            </a:pPr>
            <a:r>
              <a:rPr lang="en-US" sz="1800" b="1" u="sng" dirty="0"/>
              <a:t>Role of Government Ministries</a:t>
            </a:r>
          </a:p>
          <a:p>
            <a:pPr algn="just">
              <a:lnSpc>
                <a:spcPct val="120000"/>
              </a:lnSpc>
            </a:pPr>
            <a:r>
              <a:rPr lang="en-US" sz="1800" dirty="0"/>
              <a:t>Government ministries will </a:t>
            </a:r>
            <a:r>
              <a:rPr lang="en-US" sz="1800" b="1" dirty="0"/>
              <a:t>keep a close watch on industries that are becoming sick.</a:t>
            </a:r>
          </a:p>
          <a:p>
            <a:pPr algn="just">
              <a:lnSpc>
                <a:spcPct val="120000"/>
              </a:lnSpc>
            </a:pPr>
            <a:r>
              <a:rPr lang="en-US" sz="1800" dirty="0"/>
              <a:t>They will </a:t>
            </a:r>
            <a:r>
              <a:rPr lang="en-US" sz="1800" b="1" dirty="0"/>
              <a:t>coordinate actions to revive such sick units</a:t>
            </a:r>
            <a:r>
              <a:rPr lang="en-US" sz="1800" dirty="0"/>
              <a:t>. (coordinate with banks and other institution)</a:t>
            </a:r>
          </a:p>
          <a:p>
            <a:pPr algn="just">
              <a:lnSpc>
                <a:spcPct val="120000"/>
              </a:lnSpc>
            </a:pPr>
            <a:r>
              <a:rPr lang="en-US" sz="1800" b="1" dirty="0"/>
              <a:t>If many units in a particular industry are facing problems</a:t>
            </a:r>
            <a:r>
              <a:rPr lang="en-US" sz="1800" dirty="0"/>
              <a:t>, the government may </a:t>
            </a:r>
            <a:r>
              <a:rPr lang="en-US" sz="1800" b="1" dirty="0"/>
              <a:t>form special committees </a:t>
            </a:r>
            <a:r>
              <a:rPr lang="en-US" sz="1800" dirty="0"/>
              <a:t>to deal with that industry. </a:t>
            </a:r>
            <a:r>
              <a:rPr lang="en-US" sz="1800" b="1" dirty="0"/>
              <a:t>Can provide policy support, subsidies and etc.</a:t>
            </a:r>
          </a:p>
          <a:p>
            <a:pPr algn="just">
              <a:lnSpc>
                <a:spcPct val="120000"/>
              </a:lnSpc>
              <a:buFont typeface="Wingdings" panose="05000000000000000000" pitchFamily="2" charset="2"/>
              <a:buChar char="Ø"/>
            </a:pPr>
            <a:r>
              <a:rPr lang="en-US" sz="1800" b="1" u="sng" dirty="0"/>
              <a:t>Role of Financial Institutions</a:t>
            </a:r>
            <a:endParaRPr lang="en-US" sz="1600" b="1" u="sng" dirty="0"/>
          </a:p>
          <a:p>
            <a:pPr algn="just">
              <a:lnSpc>
                <a:spcPct val="120000"/>
              </a:lnSpc>
            </a:pPr>
            <a:r>
              <a:rPr lang="en-US" sz="1600" b="1" dirty="0"/>
              <a:t>Banks improve their monitoring systems to spot financial trouble early </a:t>
            </a:r>
            <a:r>
              <a:rPr lang="en-US" sz="1600" dirty="0"/>
              <a:t>(missed payments, falling sales, rising losses).</a:t>
            </a:r>
          </a:p>
          <a:p>
            <a:pPr algn="just">
              <a:lnSpc>
                <a:spcPct val="120000"/>
              </a:lnSpc>
            </a:pPr>
            <a:r>
              <a:rPr lang="en-US" sz="1600" dirty="0"/>
              <a:t>They will </a:t>
            </a:r>
            <a:r>
              <a:rPr lang="en-US" sz="1600" b="1" dirty="0"/>
              <a:t>regularly collect reports from the companies they have funded. (</a:t>
            </a:r>
            <a:r>
              <a:rPr lang="en-US" sz="1600" dirty="0"/>
              <a:t>profit and loss statement, cashflow and </a:t>
            </a:r>
            <a:r>
              <a:rPr lang="en-US" sz="1600" dirty="0" err="1"/>
              <a:t>etc</a:t>
            </a:r>
            <a:r>
              <a:rPr lang="en-US" sz="1600" dirty="0"/>
              <a:t>)</a:t>
            </a:r>
          </a:p>
          <a:p>
            <a:pPr algn="just">
              <a:lnSpc>
                <a:spcPct val="120000"/>
              </a:lnSpc>
            </a:pPr>
            <a:r>
              <a:rPr lang="en-US" sz="1600" b="1" dirty="0"/>
              <a:t>Directors appointed by banks on company boards will also send regular updates about the company’s working, decisions, and financial health.</a:t>
            </a:r>
            <a:endParaRPr lang="en-US" sz="1600" dirty="0"/>
          </a:p>
          <a:p>
            <a:pPr algn="just">
              <a:lnSpc>
                <a:spcPct val="120000"/>
              </a:lnSpc>
            </a:pPr>
            <a:r>
              <a:rPr lang="en-US" sz="1600" dirty="0"/>
              <a:t>All this </a:t>
            </a:r>
            <a:r>
              <a:rPr lang="en-US" sz="1600" b="1" dirty="0"/>
              <a:t>information will be examined by IDBI</a:t>
            </a:r>
            <a:r>
              <a:rPr lang="en-US" sz="1600" dirty="0"/>
              <a:t> (Industrial Development Bank of India).</a:t>
            </a:r>
          </a:p>
          <a:p>
            <a:pPr algn="just">
              <a:lnSpc>
                <a:spcPct val="120000"/>
              </a:lnSpc>
            </a:pPr>
            <a:r>
              <a:rPr lang="en-US" sz="1600" b="1" dirty="0"/>
              <a:t>IDBI will then share its findings with the concerned banks and the government so timely action can be taken such as financial support, restructuring loans, or revival plans.</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2E9968D7-09AA-EC23-497B-6F0C88EFAD89}"/>
              </a:ext>
            </a:extLst>
          </p:cNvPr>
          <p:cNvSpPr>
            <a:spLocks noGrp="1"/>
          </p:cNvSpPr>
          <p:nvPr>
            <p:ph sz="quarter" idx="1"/>
          </p:nvPr>
        </p:nvSpPr>
        <p:spPr>
          <a:xfrm>
            <a:off x="301625" y="152400"/>
            <a:ext cx="8504238" cy="6324600"/>
          </a:xfrm>
        </p:spPr>
        <p:txBody>
          <a:bodyPr>
            <a:normAutofit fontScale="70000" lnSpcReduction="20000"/>
          </a:bodyPr>
          <a:lstStyle/>
          <a:p>
            <a:pPr marL="0" indent="0">
              <a:buNone/>
            </a:pPr>
            <a:r>
              <a:rPr lang="en-US" b="1" dirty="0"/>
              <a:t>1. Taking over management if sickness increases</a:t>
            </a:r>
          </a:p>
          <a:p>
            <a:r>
              <a:rPr lang="en-US" dirty="0"/>
              <a:t>If a company’s financial condition getting worse, </a:t>
            </a:r>
            <a:r>
              <a:rPr lang="en-US" b="1" dirty="0"/>
              <a:t>banks and financial institutions may take responsibility for managing the company.</a:t>
            </a:r>
          </a:p>
          <a:p>
            <a:r>
              <a:rPr lang="en-US" dirty="0"/>
              <a:t>They </a:t>
            </a:r>
            <a:r>
              <a:rPr lang="en-US" b="1" dirty="0"/>
              <a:t>will do this only if they believe the company can be made healthy again.</a:t>
            </a:r>
          </a:p>
          <a:p>
            <a:r>
              <a:rPr lang="en-US" dirty="0"/>
              <a:t>The </a:t>
            </a:r>
            <a:r>
              <a:rPr lang="en-US" b="1" dirty="0"/>
              <a:t>Ministry of Finance will give clear rules on how banks should manage such sick companies.</a:t>
            </a:r>
          </a:p>
          <a:p>
            <a:pPr marL="0" indent="0">
              <a:buNone/>
            </a:pPr>
            <a:endParaRPr lang="en-US" dirty="0"/>
          </a:p>
          <a:p>
            <a:pPr marL="0" indent="0">
              <a:buNone/>
            </a:pPr>
            <a:r>
              <a:rPr lang="en-US" b="1" dirty="0"/>
              <a:t>2. If revival is not possible</a:t>
            </a:r>
          </a:p>
          <a:p>
            <a:r>
              <a:rPr lang="en-US" dirty="0"/>
              <a:t>If banks and financial institutions fail to stop the sickness or cannot revive the sick unit, then </a:t>
            </a:r>
            <a:r>
              <a:rPr lang="en-US" b="1" dirty="0"/>
              <a:t>they will try to recover their unpaid loans (dues) by following normal banking rules.</a:t>
            </a:r>
          </a:p>
          <a:p>
            <a:r>
              <a:rPr lang="en-US" b="1" dirty="0"/>
              <a:t>Before taking recovery action, banks must inform the Government.</a:t>
            </a:r>
          </a:p>
          <a:p>
            <a:r>
              <a:rPr lang="en-US" dirty="0"/>
              <a:t>The Government will then decide:</a:t>
            </a:r>
          </a:p>
          <a:p>
            <a:r>
              <a:rPr lang="en-US" dirty="0"/>
              <a:t>whether the company should be nationalized (taken over by the government), or</a:t>
            </a:r>
          </a:p>
          <a:p>
            <a:r>
              <a:rPr lang="en-US" dirty="0"/>
              <a:t>whether other options (like workers’ participation in management) can help revive the company.</a:t>
            </a:r>
            <a:endParaRPr lang="en-IN"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143000"/>
          </a:xfrm>
        </p:spPr>
        <p:txBody>
          <a:bodyPr>
            <a:normAutofit/>
          </a:bodyPr>
          <a:lstStyle/>
          <a:p>
            <a:r>
              <a:rPr lang="en-US" sz="3600" b="1" dirty="0"/>
              <a:t>Concessions:</a:t>
            </a:r>
            <a:endParaRPr lang="en-US" sz="3600" dirty="0"/>
          </a:p>
        </p:txBody>
      </p:sp>
      <p:sp>
        <p:nvSpPr>
          <p:cNvPr id="3" name="Content Placeholder 2"/>
          <p:cNvSpPr>
            <a:spLocks noGrp="1"/>
          </p:cNvSpPr>
          <p:nvPr>
            <p:ph sz="quarter" idx="1"/>
          </p:nvPr>
        </p:nvSpPr>
        <p:spPr>
          <a:xfrm>
            <a:off x="228600" y="609600"/>
            <a:ext cx="8686800" cy="5867400"/>
          </a:xfrm>
        </p:spPr>
        <p:txBody>
          <a:bodyPr>
            <a:normAutofit fontScale="62500" lnSpcReduction="20000"/>
          </a:bodyPr>
          <a:lstStyle/>
          <a:p>
            <a:pPr algn="just" fontAlgn="base">
              <a:lnSpc>
                <a:spcPct val="120000"/>
              </a:lnSpc>
            </a:pPr>
            <a:r>
              <a:rPr lang="en-US" dirty="0"/>
              <a:t>The </a:t>
            </a:r>
            <a:r>
              <a:rPr lang="en-US" b="1" dirty="0"/>
              <a:t>Government has also provided certain concessions to assist revival </a:t>
            </a:r>
            <a:r>
              <a:rPr lang="en-US" dirty="0"/>
              <a:t>of sick units </a:t>
            </a:r>
            <a:r>
              <a:rPr lang="en-US" b="1" dirty="0"/>
              <a:t>without direct intervention</a:t>
            </a:r>
            <a:r>
              <a:rPr lang="en-US" dirty="0"/>
              <a:t>. </a:t>
            </a:r>
          </a:p>
          <a:p>
            <a:pPr algn="just" fontAlgn="base">
              <a:lnSpc>
                <a:spcPct val="120000"/>
              </a:lnSpc>
            </a:pPr>
            <a:r>
              <a:rPr lang="en-US" dirty="0"/>
              <a:t>For example, the Government has amended the Income-tax Act in 1977 by addition of Section 72A by which</a:t>
            </a:r>
            <a:r>
              <a:rPr lang="en-US" b="1" dirty="0"/>
              <a:t> tax benefit can be given to healthy units when they take over the sick units by amalgamation(merger), with a view to reviving them.</a:t>
            </a:r>
          </a:p>
          <a:p>
            <a:pPr algn="just" fontAlgn="base">
              <a:lnSpc>
                <a:spcPct val="120000"/>
              </a:lnSpc>
            </a:pPr>
            <a:r>
              <a:rPr lang="en-US" dirty="0"/>
              <a:t>The </a:t>
            </a:r>
            <a:r>
              <a:rPr lang="en-US" b="1" dirty="0"/>
              <a:t>tax benefit is in the form of carry forward of the business losses </a:t>
            </a:r>
            <a:r>
              <a:rPr lang="en-US" dirty="0"/>
              <a:t>and </a:t>
            </a:r>
            <a:r>
              <a:rPr lang="en-US" b="1" dirty="0"/>
              <a:t>unprovided depreciation </a:t>
            </a:r>
            <a:r>
              <a:rPr lang="en-US" dirty="0"/>
              <a:t>of the sick companies by the healthy companies after amalgamation. </a:t>
            </a:r>
          </a:p>
          <a:p>
            <a:pPr algn="just" fontAlgn="base">
              <a:lnSpc>
                <a:spcPct val="120000"/>
              </a:lnSpc>
            </a:pPr>
            <a:r>
              <a:rPr lang="en-US" dirty="0"/>
              <a:t>A </a:t>
            </a:r>
            <a:r>
              <a:rPr lang="en-US" b="1" dirty="0"/>
              <a:t>scheme for provisions of margin money </a:t>
            </a:r>
            <a:r>
              <a:rPr lang="en-US" dirty="0"/>
              <a:t>to sick units in the small-scale sector </a:t>
            </a:r>
            <a:r>
              <a:rPr lang="en-US" b="1" dirty="0"/>
              <a:t>at soft terms to enable them to obtain necessary funds from banks</a:t>
            </a:r>
            <a:r>
              <a:rPr lang="en-US" dirty="0"/>
              <a:t> and financial institutions to implement their revival </a:t>
            </a:r>
            <a:r>
              <a:rPr lang="en-US" b="1" dirty="0"/>
              <a:t>scheme has been introduced from January 1, 1982.</a:t>
            </a:r>
          </a:p>
          <a:p>
            <a:pPr algn="just" fontAlgn="base">
              <a:lnSpc>
                <a:spcPct val="120000"/>
              </a:lnSpc>
            </a:pPr>
            <a:r>
              <a:rPr lang="en-US" dirty="0"/>
              <a:t>Moreover, </a:t>
            </a:r>
            <a:r>
              <a:rPr lang="en-US" b="1" dirty="0"/>
              <a:t>financial assistance in the form of long-term equity up to Rs. 15 lakh to units with a project cost not exceeding Rs. 10 lakhs at a nominal service charge of 1% is available</a:t>
            </a:r>
            <a:r>
              <a:rPr lang="en-US" dirty="0"/>
              <a:t> to potentially viable sick SSI </a:t>
            </a:r>
            <a:r>
              <a:rPr lang="en-US" b="1" dirty="0"/>
              <a:t>from the National Equity Fund.</a:t>
            </a:r>
          </a:p>
          <a:p>
            <a:endParaRPr lang="en-US"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Establishment of BIFR:</a:t>
            </a:r>
            <a:endParaRPr lang="en-US" dirty="0"/>
          </a:p>
        </p:txBody>
      </p:sp>
      <p:sp>
        <p:nvSpPr>
          <p:cNvPr id="3" name="Content Placeholder 2"/>
          <p:cNvSpPr>
            <a:spLocks noGrp="1"/>
          </p:cNvSpPr>
          <p:nvPr>
            <p:ph sz="quarter" idx="1"/>
          </p:nvPr>
        </p:nvSpPr>
        <p:spPr>
          <a:xfrm>
            <a:off x="0" y="1295400"/>
            <a:ext cx="9144000" cy="5334000"/>
          </a:xfrm>
        </p:spPr>
        <p:txBody>
          <a:bodyPr>
            <a:normAutofit fontScale="70000" lnSpcReduction="20000"/>
          </a:bodyPr>
          <a:lstStyle/>
          <a:p>
            <a:pPr algn="just" fontAlgn="base">
              <a:lnSpc>
                <a:spcPct val="120000"/>
              </a:lnSpc>
            </a:pPr>
            <a:r>
              <a:rPr lang="en-US" b="1" dirty="0"/>
              <a:t>The Central Government has set up a Board for Industrial and Financial Reconstruction (BIFR) </a:t>
            </a:r>
            <a:r>
              <a:rPr lang="en-US" dirty="0"/>
              <a:t>with </a:t>
            </a:r>
            <a:r>
              <a:rPr lang="en-US" b="1" dirty="0"/>
              <a:t>effect from 12 January 1987 </a:t>
            </a:r>
            <a:r>
              <a:rPr lang="en-US" dirty="0"/>
              <a:t>in pursuance of </a:t>
            </a:r>
            <a:r>
              <a:rPr lang="en-US" b="1" dirty="0"/>
              <a:t>special provision of the Sick Industrial Companies (Special Provision) Act, 1985.</a:t>
            </a:r>
          </a:p>
          <a:p>
            <a:pPr algn="just" fontAlgn="base">
              <a:lnSpc>
                <a:spcPct val="120000"/>
              </a:lnSpc>
            </a:pPr>
            <a:r>
              <a:rPr lang="en-US" dirty="0"/>
              <a:t>The role is a </a:t>
            </a:r>
            <a:r>
              <a:rPr lang="en-US" b="1" dirty="0"/>
              <a:t>major step for intervening at an early stage and detecting, preventing, as well as taking ameliorative</a:t>
            </a:r>
            <a:r>
              <a:rPr lang="en-US" dirty="0"/>
              <a:t>, remedial and such other measures which to be taken with respect to sick and potentially viable companies. Board for Industrial and Financial Reconstruction (BIFR) needs a relook in the face of a steep rise in the number of industries turning sick. BIFR was constituted to facilitate the revival of industries deemed sick. When an industry turns sick, BIFR acts as an operating agency (generally the lead financial institution having the largest loan exposure among the creditors) to devise a revival strategy proposal.</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a:xfrm>
            <a:off x="0" y="1295400"/>
            <a:ext cx="8915400" cy="5334000"/>
          </a:xfrm>
        </p:spPr>
        <p:txBody>
          <a:bodyPr>
            <a:normAutofit fontScale="85000" lnSpcReduction="20000"/>
          </a:bodyPr>
          <a:lstStyle/>
          <a:p>
            <a:pPr algn="just" fontAlgn="base">
              <a:lnSpc>
                <a:spcPct val="120000"/>
              </a:lnSpc>
            </a:pPr>
            <a:r>
              <a:rPr lang="en-US" dirty="0"/>
              <a:t>A sick industrial company has to report its sickness to BIFR, once its accumulated losses at the end of financial year exceed 50% of the peak net worth attained during the period of 4 years immediately preceding the financial year.</a:t>
            </a:r>
          </a:p>
          <a:p>
            <a:pPr algn="just" fontAlgn="base">
              <a:lnSpc>
                <a:spcPct val="120000"/>
              </a:lnSpc>
            </a:pPr>
            <a:r>
              <a:rPr lang="en-US" dirty="0"/>
              <a:t> BIFR provides a forum where the agencies concerned are brought together for </a:t>
            </a:r>
            <a:r>
              <a:rPr lang="en-US" dirty="0" err="1"/>
              <a:t>analysing</a:t>
            </a:r>
            <a:r>
              <a:rPr lang="en-US" dirty="0"/>
              <a:t>, diagnosing and evolving a reasoned decision for revival, or otherwise of the sick industrial unit. The agencies concerned are:</a:t>
            </a:r>
          </a:p>
          <a:p>
            <a:pPr lvl="1" algn="just" fontAlgn="base">
              <a:lnSpc>
                <a:spcPct val="120000"/>
              </a:lnSpc>
            </a:pPr>
            <a:r>
              <a:rPr lang="en-US" dirty="0"/>
              <a:t>Sick Industrial Unit</a:t>
            </a:r>
          </a:p>
          <a:p>
            <a:pPr lvl="1" algn="just" fontAlgn="base">
              <a:lnSpc>
                <a:spcPct val="120000"/>
              </a:lnSpc>
            </a:pPr>
            <a:r>
              <a:rPr lang="en-US" dirty="0"/>
              <a:t>State Government</a:t>
            </a:r>
          </a:p>
          <a:p>
            <a:pPr lvl="1" algn="just" fontAlgn="base">
              <a:lnSpc>
                <a:spcPct val="120000"/>
              </a:lnSpc>
            </a:pPr>
            <a:r>
              <a:rPr lang="en-US" dirty="0"/>
              <a:t>Banks and Financial Institutions</a:t>
            </a:r>
          </a:p>
          <a:p>
            <a:pPr lvl="1" algn="just" fontAlgn="base">
              <a:lnSpc>
                <a:spcPct val="120000"/>
              </a:lnSpc>
            </a:pPr>
            <a:r>
              <a:rPr lang="en-US" dirty="0"/>
              <a:t>The concerned departments of the Central Government</a:t>
            </a:r>
          </a:p>
          <a:p>
            <a:pPr algn="just" fontAlgn="base">
              <a:lnSpc>
                <a:spcPct val="120000"/>
              </a:lnSpc>
            </a:pPr>
            <a:endParaRPr lang="en-US" dirty="0"/>
          </a:p>
          <a:p>
            <a:endParaRPr lang="en-US"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a:xfrm>
            <a:off x="228600" y="1295400"/>
            <a:ext cx="8686800" cy="5105400"/>
          </a:xfrm>
        </p:spPr>
        <p:txBody>
          <a:bodyPr>
            <a:normAutofit fontScale="92500" lnSpcReduction="20000"/>
          </a:bodyPr>
          <a:lstStyle/>
          <a:p>
            <a:pPr algn="just" fontAlgn="base">
              <a:lnSpc>
                <a:spcPct val="120000"/>
              </a:lnSpc>
            </a:pPr>
            <a:r>
              <a:rPr lang="en-US" dirty="0"/>
              <a:t>Sick Industrial Companies Act (SICA), 1985, has invested BIFR with the following powers:</a:t>
            </a:r>
          </a:p>
          <a:p>
            <a:pPr lvl="1" algn="just" fontAlgn="base">
              <a:lnSpc>
                <a:spcPct val="120000"/>
              </a:lnSpc>
            </a:pPr>
            <a:r>
              <a:rPr lang="en-US" dirty="0"/>
              <a:t>Potential sickness has to be reported to BIFR</a:t>
            </a:r>
          </a:p>
          <a:p>
            <a:pPr lvl="1" algn="just" fontAlgn="base">
              <a:lnSpc>
                <a:spcPct val="120000"/>
              </a:lnSpc>
            </a:pPr>
            <a:r>
              <a:rPr lang="en-US" dirty="0"/>
              <a:t>Mismanagement of industrial units by any person can be looked into by BIFR and, the BIFR may direct that person to restore the losses; and</a:t>
            </a:r>
          </a:p>
          <a:p>
            <a:pPr lvl="1" algn="just" fontAlgn="base">
              <a:lnSpc>
                <a:spcPct val="120000"/>
              </a:lnSpc>
            </a:pPr>
            <a:r>
              <a:rPr lang="en-US" dirty="0"/>
              <a:t>BIFR can initiate changes in management, amalgamation of the sick industrial company with any other healthy company, sale or lease of a part, or whole of the industrial unit, or whole of the industrial unit, or any other preventive/remedial measures. </a:t>
            </a:r>
          </a:p>
          <a:p>
            <a:endParaRPr lang="en-US"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Remedial Measures</a:t>
            </a:r>
          </a:p>
        </p:txBody>
      </p:sp>
      <p:sp>
        <p:nvSpPr>
          <p:cNvPr id="3" name="Content Placeholder 2"/>
          <p:cNvSpPr>
            <a:spLocks noGrp="1"/>
          </p:cNvSpPr>
          <p:nvPr>
            <p:ph sz="quarter" idx="1"/>
          </p:nvPr>
        </p:nvSpPr>
        <p:spPr>
          <a:xfrm>
            <a:off x="228600" y="1371600"/>
            <a:ext cx="8686800" cy="5105400"/>
          </a:xfrm>
        </p:spPr>
        <p:txBody>
          <a:bodyPr>
            <a:normAutofit fontScale="70000" lnSpcReduction="20000"/>
          </a:bodyPr>
          <a:lstStyle/>
          <a:p>
            <a:pPr algn="just">
              <a:lnSpc>
                <a:spcPct val="120000"/>
              </a:lnSpc>
            </a:pPr>
            <a:r>
              <a:rPr lang="en-US" dirty="0"/>
              <a:t>Early detection of sickness. Establishment of a proper management information system for providing early warning signals from within.</a:t>
            </a:r>
          </a:p>
          <a:p>
            <a:pPr algn="just">
              <a:lnSpc>
                <a:spcPct val="120000"/>
              </a:lnSpc>
            </a:pPr>
            <a:r>
              <a:rPr lang="en-US" dirty="0"/>
              <a:t>Financial institutions and banks should initiate necessary corrective action for sick or prone to sickness units based on diagnostic studies.</a:t>
            </a:r>
          </a:p>
          <a:p>
            <a:pPr algn="just">
              <a:lnSpc>
                <a:spcPct val="120000"/>
              </a:lnSpc>
            </a:pPr>
            <a:r>
              <a:rPr lang="en-US" dirty="0"/>
              <a:t>Wherever possible, attempts should be made to restore sick units to financial health even if it requires divestment of sick units.</a:t>
            </a:r>
          </a:p>
          <a:p>
            <a:pPr algn="just">
              <a:lnSpc>
                <a:spcPct val="120000"/>
              </a:lnSpc>
            </a:pPr>
            <a:r>
              <a:rPr lang="en-US" dirty="0"/>
              <a:t>The setting up of BFIR appears a sound decision.</a:t>
            </a:r>
          </a:p>
          <a:p>
            <a:pPr algn="just">
              <a:lnSpc>
                <a:spcPct val="120000"/>
              </a:lnSpc>
            </a:pPr>
            <a:r>
              <a:rPr lang="en-US" dirty="0"/>
              <a:t>The management of a unit that has lost net worth entirely will not be allowed to manage that unit any more, but before branding the management as a bad one, all the aspects of the case ought to be examined.</a:t>
            </a:r>
          </a:p>
          <a:p>
            <a:endParaRPr lang="en-US"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a:xfrm>
            <a:off x="228600" y="1295400"/>
            <a:ext cx="8686800" cy="5334000"/>
          </a:xfrm>
        </p:spPr>
        <p:txBody>
          <a:bodyPr>
            <a:normAutofit fontScale="77500" lnSpcReduction="20000"/>
          </a:bodyPr>
          <a:lstStyle/>
          <a:p>
            <a:pPr algn="just">
              <a:lnSpc>
                <a:spcPct val="120000"/>
              </a:lnSpc>
            </a:pPr>
            <a:r>
              <a:rPr lang="en-US" dirty="0"/>
              <a:t>Management responsible for mismanagement should not be allowed assistance from financial institutions even for new ventures, too, needs re-thinking.</a:t>
            </a:r>
          </a:p>
          <a:p>
            <a:pPr algn="just">
              <a:lnSpc>
                <a:spcPct val="120000"/>
              </a:lnSpc>
            </a:pPr>
            <a:r>
              <a:rPr lang="en-US" dirty="0"/>
              <a:t>It is important in any scheme of reconstruction of a sick unit, all the stake-holders bear sacrifices on equitable and just basis.</a:t>
            </a:r>
          </a:p>
          <a:p>
            <a:pPr algn="just">
              <a:lnSpc>
                <a:spcPct val="120000"/>
              </a:lnSpc>
            </a:pPr>
            <a:r>
              <a:rPr lang="en-US" dirty="0"/>
              <a:t>The important criterion for take-over of a sick unit by another company should be whether the company taking over the sick unit has skill, technology and finance to save it.</a:t>
            </a:r>
          </a:p>
          <a:p>
            <a:pPr algn="just">
              <a:lnSpc>
                <a:spcPct val="120000"/>
              </a:lnSpc>
            </a:pPr>
            <a:r>
              <a:rPr lang="en-US" dirty="0"/>
              <a:t>There is need for a fresh look at Section 72-A of Income-tax Act to remove the inhibition caused to companies taking over sick units by insistence on the part of income-tax authorities for prior full implementation of the revival schemes before tax benefits can accrue.</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normAutofit/>
          </a:bodyPr>
          <a:lstStyle/>
          <a:p>
            <a:pPr algn="just"/>
            <a:r>
              <a:rPr lang="en-US" sz="2400" dirty="0"/>
              <a:t>Debt-equity ratio ought to be realistic.</a:t>
            </a:r>
          </a:p>
          <a:p>
            <a:pPr algn="just"/>
            <a:r>
              <a:rPr lang="en-US" sz="2400" dirty="0"/>
              <a:t>Incentives should be provided to professional managers helping in reviving sick units.</a:t>
            </a:r>
          </a:p>
          <a:p>
            <a:pPr algn="just"/>
            <a:r>
              <a:rPr lang="en-US" sz="2400" dirty="0"/>
              <a:t>Treatment of capital-intensive units prone to sickness has to be on a different footing than tackling of sickness in industry in general.</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Entrepreneurial Environment</a:t>
            </a:r>
          </a:p>
        </p:txBody>
      </p:sp>
      <p:sp>
        <p:nvSpPr>
          <p:cNvPr id="3" name="Content Placeholder 2"/>
          <p:cNvSpPr>
            <a:spLocks noGrp="1"/>
          </p:cNvSpPr>
          <p:nvPr>
            <p:ph sz="quarter" idx="1"/>
          </p:nvPr>
        </p:nvSpPr>
        <p:spPr>
          <a:xfrm>
            <a:off x="228600" y="1527048"/>
            <a:ext cx="8915400" cy="4572000"/>
          </a:xfrm>
        </p:spPr>
        <p:txBody>
          <a:bodyPr numCol="3">
            <a:normAutofit fontScale="92500" lnSpcReduction="20000"/>
          </a:bodyPr>
          <a:lstStyle/>
          <a:p>
            <a:r>
              <a:rPr lang="en-US" dirty="0"/>
              <a:t>Political</a:t>
            </a:r>
          </a:p>
          <a:p>
            <a:pPr lvl="1"/>
            <a:r>
              <a:rPr lang="en-US" dirty="0"/>
              <a:t>Political atmosphere</a:t>
            </a:r>
          </a:p>
          <a:p>
            <a:pPr lvl="1"/>
            <a:r>
              <a:rPr lang="en-US" dirty="0"/>
              <a:t>Quality of leadership</a:t>
            </a:r>
          </a:p>
          <a:p>
            <a:r>
              <a:rPr lang="en-US" dirty="0"/>
              <a:t>Economical</a:t>
            </a:r>
          </a:p>
          <a:p>
            <a:pPr lvl="1"/>
            <a:r>
              <a:rPr lang="en-US" dirty="0"/>
              <a:t>Economic policies</a:t>
            </a:r>
          </a:p>
          <a:p>
            <a:pPr lvl="1"/>
            <a:r>
              <a:rPr lang="en-US" dirty="0" err="1"/>
              <a:t>Labour</a:t>
            </a:r>
            <a:endParaRPr lang="en-US" dirty="0"/>
          </a:p>
          <a:p>
            <a:pPr lvl="1"/>
            <a:r>
              <a:rPr lang="en-US" dirty="0"/>
              <a:t> Trade</a:t>
            </a:r>
          </a:p>
          <a:p>
            <a:pPr lvl="1"/>
            <a:r>
              <a:rPr lang="en-US" dirty="0"/>
              <a:t>Tariffs</a:t>
            </a:r>
          </a:p>
          <a:p>
            <a:pPr lvl="1"/>
            <a:r>
              <a:rPr lang="en-US" dirty="0"/>
              <a:t>Incentives</a:t>
            </a:r>
          </a:p>
          <a:p>
            <a:pPr lvl="1"/>
            <a:r>
              <a:rPr lang="en-US" dirty="0"/>
              <a:t>Subsidies</a:t>
            </a:r>
          </a:p>
          <a:p>
            <a:r>
              <a:rPr lang="en-US" dirty="0"/>
              <a:t>Social</a:t>
            </a:r>
          </a:p>
          <a:p>
            <a:pPr lvl="1"/>
            <a:r>
              <a:rPr lang="en-US" dirty="0"/>
              <a:t>Consumer</a:t>
            </a:r>
          </a:p>
          <a:p>
            <a:pPr lvl="1"/>
            <a:r>
              <a:rPr lang="en-US" dirty="0" err="1"/>
              <a:t>Labour</a:t>
            </a:r>
            <a:endParaRPr lang="en-US" dirty="0"/>
          </a:p>
          <a:p>
            <a:pPr lvl="1"/>
            <a:r>
              <a:rPr lang="en-US" dirty="0"/>
              <a:t>Attitude</a:t>
            </a:r>
          </a:p>
          <a:p>
            <a:pPr lvl="1"/>
            <a:r>
              <a:rPr lang="en-US" dirty="0"/>
              <a:t>Opinions</a:t>
            </a:r>
          </a:p>
          <a:p>
            <a:pPr lvl="1"/>
            <a:r>
              <a:rPr lang="en-US" dirty="0"/>
              <a:t>Motives</a:t>
            </a:r>
          </a:p>
          <a:p>
            <a:r>
              <a:rPr lang="en-US" dirty="0"/>
              <a:t>Technological</a:t>
            </a:r>
          </a:p>
          <a:p>
            <a:pPr lvl="1"/>
            <a:r>
              <a:rPr lang="en-US" dirty="0"/>
              <a:t>Competition and risk</a:t>
            </a:r>
          </a:p>
          <a:p>
            <a:pPr lvl="1"/>
            <a:r>
              <a:rPr lang="en-US" dirty="0"/>
              <a:t>Efficiency</a:t>
            </a:r>
          </a:p>
          <a:p>
            <a:pPr lvl="1"/>
            <a:r>
              <a:rPr lang="en-US" dirty="0"/>
              <a:t>Productivity</a:t>
            </a:r>
          </a:p>
          <a:p>
            <a:pPr lvl="1"/>
            <a:r>
              <a:rPr lang="en-US" dirty="0"/>
              <a:t>Profitability</a:t>
            </a:r>
          </a:p>
          <a:p>
            <a:r>
              <a:rPr lang="en-US" dirty="0"/>
              <a:t>Legal</a:t>
            </a:r>
          </a:p>
          <a:p>
            <a:pPr lvl="1"/>
            <a:r>
              <a:rPr lang="en-US" dirty="0"/>
              <a:t>Rules and regulations</a:t>
            </a:r>
          </a:p>
          <a:p>
            <a:r>
              <a:rPr lang="en-US" dirty="0"/>
              <a:t>Cultural</a:t>
            </a:r>
          </a:p>
          <a:p>
            <a:pPr lvl="1"/>
            <a:r>
              <a:rPr lang="en-US" dirty="0"/>
              <a:t>Structure</a:t>
            </a:r>
          </a:p>
          <a:p>
            <a:pPr lvl="1"/>
            <a:r>
              <a:rPr lang="en-US" dirty="0"/>
              <a:t>Aspirations and values</a:t>
            </a:r>
          </a:p>
          <a:p>
            <a:pPr lvl="1"/>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Gallery</Template>
  <TotalTime>11866</TotalTime>
  <Words>8014</Words>
  <Application>Microsoft Office PowerPoint</Application>
  <PresentationFormat>On-screen Show (4:3)</PresentationFormat>
  <Paragraphs>624</Paragraphs>
  <Slides>86</Slides>
  <Notes>16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86</vt:i4>
      </vt:variant>
    </vt:vector>
  </HeadingPairs>
  <TitlesOfParts>
    <vt:vector size="92" baseType="lpstr">
      <vt:lpstr>Arial</vt:lpstr>
      <vt:lpstr>Calibri</vt:lpstr>
      <vt:lpstr>Lora</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CONCEPT </vt:lpstr>
      <vt:lpstr>CONCEPT </vt:lpstr>
      <vt:lpstr>DEFINITION </vt:lpstr>
      <vt:lpstr>PowerPoint Presentation</vt:lpstr>
      <vt:lpstr> Why Should You Become an Entrepreneur? </vt:lpstr>
      <vt:lpstr>PowerPoint Presentation</vt:lpstr>
      <vt:lpstr> Scope of Entrepreneurship? </vt:lpstr>
      <vt:lpstr>PowerPoint Presentation</vt:lpstr>
      <vt:lpstr>PowerPoint Presentation</vt:lpstr>
      <vt:lpstr>PowerPoint Presentation</vt:lpstr>
      <vt:lpstr>  Characteristics of an Entrepreneur    </vt:lpstr>
      <vt:lpstr>PowerPoint Presentation</vt:lpstr>
      <vt:lpstr>PowerPoint Presentation</vt:lpstr>
      <vt:lpstr>  Models of Entrepreneurship Development</vt:lpstr>
      <vt:lpstr>PowerPoint Presentation</vt:lpstr>
      <vt:lpstr>1. Psychological Models</vt:lpstr>
      <vt:lpstr>David McClelland’s theory of Achievement motivation </vt:lpstr>
      <vt:lpstr>Hagen’s Theory of Withdrawal of Status Respect (1964) </vt:lpstr>
      <vt:lpstr>Rotter- Internal–External Locus of Control Theory </vt:lpstr>
      <vt:lpstr>PowerPoint Presentation</vt:lpstr>
      <vt:lpstr>2. Sociological Model</vt:lpstr>
      <vt:lpstr>Max Weber’s Theory of Religious Beliefs</vt:lpstr>
      <vt:lpstr>Hozelist’s Sociocultural Theory  </vt:lpstr>
      <vt:lpstr>Thomas Cochran’s Theory of Entrepreneurial Supply   </vt:lpstr>
      <vt:lpstr>Frank W. Young’s Theory of Group Level Pattern</vt:lpstr>
      <vt:lpstr>3. Integrated Models</vt:lpstr>
      <vt:lpstr>PowerPoint Presentation</vt:lpstr>
      <vt:lpstr>Functions of Entrepreneur and Manager in managing organization</vt:lpstr>
      <vt:lpstr>Managers and Entrepreneurs (Similarities)</vt:lpstr>
      <vt:lpstr>Managers Vs Entrepreneurs</vt:lpstr>
      <vt:lpstr>Managers Vs Entrepreneurs</vt:lpstr>
      <vt:lpstr>PowerPoint Presentation</vt:lpstr>
      <vt:lpstr>Comparison </vt:lpstr>
      <vt:lpstr>PowerPoint Presentation</vt:lpstr>
      <vt:lpstr>According to type of business</vt:lpstr>
      <vt:lpstr>According to use of technology</vt:lpstr>
      <vt:lpstr>According to motivation</vt:lpstr>
      <vt:lpstr>Classification of entrepreneurs</vt:lpstr>
      <vt:lpstr>PowerPoint Presentation</vt:lpstr>
      <vt:lpstr>Classification of entrepreneurs</vt:lpstr>
      <vt:lpstr>PowerPoint Presentation</vt:lpstr>
      <vt:lpstr>Classification of entrepreneurs</vt:lpstr>
      <vt:lpstr>PowerPoint Presentation</vt:lpstr>
      <vt:lpstr>PowerPoint Presentation</vt:lpstr>
      <vt:lpstr>Classification of entrepreneurs</vt:lpstr>
      <vt:lpstr>PowerPoint Presentation</vt:lpstr>
      <vt:lpstr>Classification of entrepreneurs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Women Entrepreneurs</vt:lpstr>
      <vt:lpstr>Women Entrepreneurs</vt:lpstr>
      <vt:lpstr>PowerPoint Presentation</vt:lpstr>
      <vt:lpstr>Segments of Women Entrepreneurs</vt:lpstr>
      <vt:lpstr>Psycho-social Barrier</vt:lpstr>
      <vt:lpstr>Sickness in small scale industries</vt:lpstr>
      <vt:lpstr>Causes of sickness A. Internal Causes</vt:lpstr>
      <vt:lpstr>PowerPoint Presentation</vt:lpstr>
      <vt:lpstr>PowerPoint Presentation</vt:lpstr>
      <vt:lpstr>PowerPoint Presentation</vt:lpstr>
      <vt:lpstr>PowerPoint Presentation</vt:lpstr>
      <vt:lpstr>Causes of sickness B. External Causes</vt:lpstr>
      <vt:lpstr>PowerPoint Presentation</vt:lpstr>
      <vt:lpstr>PowerPoint Presentation</vt:lpstr>
      <vt:lpstr>PowerPoint Presentation</vt:lpstr>
      <vt:lpstr>Remedial Mechanism</vt:lpstr>
      <vt:lpstr>The salient features of these guidelines are the following:</vt:lpstr>
      <vt:lpstr>PowerPoint Presentation</vt:lpstr>
      <vt:lpstr>Concessions:</vt:lpstr>
      <vt:lpstr>Establishment of BIFR:</vt:lpstr>
      <vt:lpstr>PowerPoint Presentation</vt:lpstr>
      <vt:lpstr>PowerPoint Presentation</vt:lpstr>
      <vt:lpstr>Remedial Measures</vt:lpstr>
      <vt:lpstr>PowerPoint Presentation</vt:lpstr>
      <vt:lpstr>PowerPoint Presentation</vt:lpstr>
      <vt:lpstr>Entrepreneurial Environment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AAZMIN FARDUN GANDHI</dc:creator>
  <cp:lastModifiedBy>NENCY VALA</cp:lastModifiedBy>
  <cp:revision>129</cp:revision>
  <dcterms:created xsi:type="dcterms:W3CDTF">2022-07-27T14:16:10Z</dcterms:created>
  <dcterms:modified xsi:type="dcterms:W3CDTF">2026-02-01T17:38:04Z</dcterms:modified>
</cp:coreProperties>
</file>