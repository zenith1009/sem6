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
  </p:notesMasterIdLst>
  <p:sldIdLst>
    <p:sldId id="256" r:id="rId2"/>
    <p:sldId id="257" r:id="rId3"/>
    <p:sldId id="258" r:id="rId4"/>
    <p:sldId id="259" r:id="rId5"/>
    <p:sldId id="260" r:id="rId6"/>
    <p:sldId id="261" r:id="rId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40894028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5045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956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3719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0720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8666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Problems for small scale Industries and Industrial sickness</a:t>
            </a:r>
            <a:endParaRPr/>
          </a:p>
        </p:txBody>
      </p:sp>
      <p:sp>
        <p:nvSpPr>
          <p:cNvPr id="85" name="Google Shape;85;p13"/>
          <p:cNvSpPr txBox="1">
            <a:spLocks noGrp="1"/>
          </p:cNvSpPr>
          <p:nvPr>
            <p:ph type="subTitle" idx="1"/>
          </p:nvPr>
        </p:nvSpPr>
        <p:spPr>
          <a:xfrm>
            <a:off x="4648200" y="3886200"/>
            <a:ext cx="4114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US"/>
              <a:t>Refer pg 705 onwards (Vasant Desai)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body" idx="1"/>
          </p:nvPr>
        </p:nvSpPr>
        <p:spPr>
          <a:xfrm>
            <a:off x="457200" y="1447800"/>
            <a:ext cx="8458200" cy="46783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just" rtl="0">
              <a:spcBef>
                <a:spcPts val="0"/>
              </a:spcBef>
              <a:spcAft>
                <a:spcPts val="0"/>
              </a:spcAft>
              <a:buClr>
                <a:schemeClr val="dk1"/>
              </a:buClr>
              <a:buSzPct val="100000"/>
              <a:buChar char="•"/>
            </a:pPr>
            <a:r>
              <a:rPr lang="en-US" dirty="0">
                <a:latin typeface="Times New Roman"/>
                <a:ea typeface="Times New Roman"/>
                <a:cs typeface="Times New Roman"/>
                <a:sym typeface="Times New Roman"/>
              </a:rPr>
              <a:t>Small Scale Enterprises manufactures, offers service, and produces goods with minimal manpower and fewer machines, i.e., they offer services on a small scale. Usually, these industries make a one-time investment of less than Rs.10 </a:t>
            </a:r>
            <a:r>
              <a:rPr lang="en-US" dirty="0" err="1">
                <a:latin typeface="Times New Roman"/>
                <a:ea typeface="Times New Roman"/>
                <a:cs typeface="Times New Roman"/>
                <a:sym typeface="Times New Roman"/>
              </a:rPr>
              <a:t>crore</a:t>
            </a:r>
            <a:r>
              <a:rPr lang="en-US" dirty="0">
                <a:latin typeface="Times New Roman"/>
                <a:ea typeface="Times New Roman"/>
                <a:cs typeface="Times New Roman"/>
                <a:sym typeface="Times New Roman"/>
              </a:rPr>
              <a:t> on equipment and plant</a:t>
            </a:r>
            <a:endParaRPr dirty="0"/>
          </a:p>
          <a:p>
            <a:pPr marL="342900" lvl="0" indent="-342900" algn="just"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Some examples of the small scale industries or SSI include paper, toothpicks, pens, bakeries, candles, native or local chocolates, water bottles, toys, beauty </a:t>
            </a:r>
            <a:r>
              <a:rPr lang="en-US" dirty="0" err="1">
                <a:latin typeface="Times New Roman"/>
                <a:ea typeface="Times New Roman"/>
                <a:cs typeface="Times New Roman"/>
                <a:sym typeface="Times New Roman"/>
              </a:rPr>
              <a:t>parlours</a:t>
            </a:r>
            <a:r>
              <a:rPr lang="en-US" dirty="0">
                <a:latin typeface="Times New Roman"/>
                <a:ea typeface="Times New Roman"/>
                <a:cs typeface="Times New Roman"/>
                <a:sym typeface="Times New Roman"/>
              </a:rPr>
              <a:t>, photography, leather belts, bags, and a lot more.</a:t>
            </a:r>
            <a:endParaRPr dirty="0">
              <a:latin typeface="Times New Roman"/>
              <a:ea typeface="Times New Roman"/>
              <a:cs typeface="Times New Roman"/>
              <a:sym typeface="Times New Roman"/>
            </a:endParaRPr>
          </a:p>
        </p:txBody>
      </p:sp>
      <p:sp>
        <p:nvSpPr>
          <p:cNvPr id="91" name="Google Shape;9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0">
                <a:latin typeface="Times New Roman"/>
                <a:ea typeface="Times New Roman"/>
                <a:cs typeface="Times New Roman"/>
                <a:sym typeface="Times New Roman"/>
              </a:rPr>
              <a:t>Small scale enterprise</a:t>
            </a:r>
            <a:endParaRPr b="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dirty="0">
                <a:latin typeface="Times New Roman"/>
                <a:ea typeface="Times New Roman"/>
                <a:cs typeface="Times New Roman"/>
                <a:sym typeface="Times New Roman"/>
              </a:rPr>
              <a:t>Poor capacity utilization</a:t>
            </a:r>
            <a:endParaRPr dirty="0"/>
          </a:p>
          <a:p>
            <a:pPr marL="342900" lvl="0" indent="-342900" algn="l"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Incompetent management</a:t>
            </a:r>
            <a:endParaRPr dirty="0"/>
          </a:p>
          <a:p>
            <a:pPr marL="342900" lvl="0" indent="-342900" algn="l"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Inadequate Finance</a:t>
            </a:r>
            <a:endParaRPr dirty="0"/>
          </a:p>
          <a:p>
            <a:pPr marL="342900" lvl="0" indent="-342900" algn="l"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Raw material shortages</a:t>
            </a:r>
            <a:endParaRPr dirty="0"/>
          </a:p>
          <a:p>
            <a:pPr marL="342900" lvl="0" indent="-342900" algn="l"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Lack of marketing support</a:t>
            </a:r>
            <a:endParaRPr dirty="0"/>
          </a:p>
          <a:p>
            <a:pPr marL="342900" lvl="0" indent="-342900" algn="l"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Problem of working capital</a:t>
            </a:r>
            <a:endParaRPr dirty="0"/>
          </a:p>
          <a:p>
            <a:pPr marL="342900" lvl="0" indent="-342900" algn="l"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Problems in Export</a:t>
            </a:r>
            <a:endParaRPr dirty="0"/>
          </a:p>
          <a:p>
            <a:pPr marL="342900" lvl="0" indent="-342900" algn="l"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Lack of technology up-gradation</a:t>
            </a:r>
            <a:endParaRPr dirty="0"/>
          </a:p>
          <a:p>
            <a:pPr marL="342900" lvl="0" indent="-342900" algn="l" rtl="0">
              <a:spcBef>
                <a:spcPts val="592"/>
              </a:spcBef>
              <a:spcAft>
                <a:spcPts val="0"/>
              </a:spcAft>
              <a:buClr>
                <a:schemeClr val="dk1"/>
              </a:buClr>
              <a:buSzPct val="100000"/>
              <a:buChar char="•"/>
            </a:pPr>
            <a:r>
              <a:rPr lang="en-US" dirty="0">
                <a:latin typeface="Times New Roman"/>
                <a:ea typeface="Times New Roman"/>
                <a:cs typeface="Times New Roman"/>
                <a:sym typeface="Times New Roman"/>
              </a:rPr>
              <a:t>Multiplicity of </a:t>
            </a:r>
            <a:r>
              <a:rPr lang="en-US" dirty="0" err="1">
                <a:latin typeface="Times New Roman"/>
                <a:ea typeface="Times New Roman"/>
                <a:cs typeface="Times New Roman"/>
                <a:sym typeface="Times New Roman"/>
              </a:rPr>
              <a:t>labour</a:t>
            </a:r>
            <a:r>
              <a:rPr lang="en-US" dirty="0">
                <a:latin typeface="Times New Roman"/>
                <a:ea typeface="Times New Roman"/>
                <a:cs typeface="Times New Roman"/>
                <a:sym typeface="Times New Roman"/>
              </a:rPr>
              <a:t> laws</a:t>
            </a:r>
            <a:endParaRPr dirty="0"/>
          </a:p>
          <a:p>
            <a:pPr marL="342900" lvl="0" indent="-154940" algn="l" rtl="0">
              <a:spcBef>
                <a:spcPts val="592"/>
              </a:spcBef>
              <a:spcAft>
                <a:spcPts val="0"/>
              </a:spcAft>
              <a:buClr>
                <a:schemeClr val="dk1"/>
              </a:buClr>
              <a:buSzPct val="100000"/>
              <a:buNone/>
            </a:pPr>
            <a:endParaRPr dirty="0">
              <a:latin typeface="Times New Roman"/>
              <a:ea typeface="Times New Roman"/>
              <a:cs typeface="Times New Roman"/>
              <a:sym typeface="Times New Roman"/>
            </a:endParaRPr>
          </a:p>
          <a:p>
            <a:pPr marL="342900" lvl="0" indent="-154940" algn="l" rtl="0">
              <a:spcBef>
                <a:spcPts val="592"/>
              </a:spcBef>
              <a:spcAft>
                <a:spcPts val="0"/>
              </a:spcAft>
              <a:buClr>
                <a:schemeClr val="dk1"/>
              </a:buClr>
              <a:buSzPct val="100000"/>
              <a:buNone/>
            </a:pPr>
            <a:endParaRPr dirty="0">
              <a:latin typeface="Times New Roman"/>
              <a:ea typeface="Times New Roman"/>
              <a:cs typeface="Times New Roman"/>
              <a:sym typeface="Times New Roman"/>
            </a:endParaRPr>
          </a:p>
          <a:p>
            <a:pPr marL="342900" lvl="0" indent="-154940" algn="l" rtl="0">
              <a:spcBef>
                <a:spcPts val="592"/>
              </a:spcBef>
              <a:spcAft>
                <a:spcPts val="0"/>
              </a:spcAft>
              <a:buClr>
                <a:schemeClr val="dk1"/>
              </a:buClr>
              <a:buSzPct val="100000"/>
              <a:buNone/>
            </a:pPr>
            <a:endParaRPr dirty="0">
              <a:latin typeface="Times New Roman"/>
              <a:ea typeface="Times New Roman"/>
              <a:cs typeface="Times New Roman"/>
              <a:sym typeface="Times New Roman"/>
            </a:endParaRPr>
          </a:p>
        </p:txBody>
      </p:sp>
      <p:sp>
        <p:nvSpPr>
          <p:cNvPr id="97" name="Google Shape;97;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0" dirty="0">
                <a:latin typeface="Times New Roman"/>
                <a:ea typeface="Times New Roman"/>
                <a:cs typeface="Times New Roman"/>
                <a:sym typeface="Times New Roman"/>
              </a:rPr>
              <a:t>Problems of small scale enterprises</a:t>
            </a:r>
            <a:endParaRPr b="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body" idx="1"/>
          </p:nvPr>
        </p:nvSpPr>
        <p:spPr>
          <a:xfrm>
            <a:off x="304800" y="1371600"/>
            <a:ext cx="8534400" cy="47545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latin typeface="Times New Roman"/>
                <a:ea typeface="Times New Roman"/>
                <a:cs typeface="Times New Roman"/>
                <a:sym typeface="Times New Roman"/>
              </a:rPr>
              <a:t>Industrial sickness is defined all over the world as an industrial company which has, at the end of any financial year, accumulated losses equal to, or exceeding 50 per cent of its peak net worth and has also suffered cash losses in such financial year and the financial year immediately preceding such financial year.</a:t>
            </a:r>
            <a:endParaRPr>
              <a:latin typeface="Times New Roman"/>
              <a:ea typeface="Times New Roman"/>
              <a:cs typeface="Times New Roman"/>
              <a:sym typeface="Times New Roman"/>
            </a:endParaRPr>
          </a:p>
        </p:txBody>
      </p:sp>
      <p:sp>
        <p:nvSpPr>
          <p:cNvPr id="103" name="Google Shape;10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dirty="0">
                <a:latin typeface="Times New Roman"/>
                <a:ea typeface="Times New Roman"/>
                <a:cs typeface="Times New Roman"/>
                <a:sym typeface="Times New Roman"/>
              </a:rPr>
              <a:t>Industrial sickness</a:t>
            </a:r>
            <a:endParaRPr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dirty="0">
                <a:latin typeface="Times New Roman"/>
                <a:ea typeface="Times New Roman"/>
                <a:cs typeface="Times New Roman"/>
                <a:sym typeface="Times New Roman"/>
              </a:rPr>
              <a:t>Management deficiency</a:t>
            </a:r>
            <a:endParaRPr dirty="0"/>
          </a:p>
          <a:p>
            <a:pPr marL="342900" lvl="0" indent="-342900" algn="l" rtl="0">
              <a:spcBef>
                <a:spcPts val="640"/>
              </a:spcBef>
              <a:spcAft>
                <a:spcPts val="0"/>
              </a:spcAft>
              <a:buClr>
                <a:schemeClr val="dk1"/>
              </a:buClr>
              <a:buSzPts val="3200"/>
              <a:buChar char="•"/>
            </a:pPr>
            <a:r>
              <a:rPr lang="en-US" dirty="0">
                <a:latin typeface="Times New Roman"/>
                <a:ea typeface="Times New Roman"/>
                <a:cs typeface="Times New Roman"/>
                <a:sym typeface="Times New Roman"/>
              </a:rPr>
              <a:t>Shortage of working</a:t>
            </a:r>
            <a:endParaRPr dirty="0"/>
          </a:p>
          <a:p>
            <a:pPr marL="342900" lvl="0" indent="-342900" algn="l" rtl="0">
              <a:spcBef>
                <a:spcPts val="640"/>
              </a:spcBef>
              <a:spcAft>
                <a:spcPts val="0"/>
              </a:spcAft>
              <a:buClr>
                <a:schemeClr val="dk1"/>
              </a:buClr>
              <a:buSzPts val="3200"/>
              <a:buChar char="•"/>
            </a:pPr>
            <a:r>
              <a:rPr lang="en-US" dirty="0">
                <a:latin typeface="Times New Roman"/>
                <a:ea typeface="Times New Roman"/>
                <a:cs typeface="Times New Roman"/>
                <a:sym typeface="Times New Roman"/>
              </a:rPr>
              <a:t>Non availability of raw material</a:t>
            </a:r>
            <a:endParaRPr dirty="0"/>
          </a:p>
          <a:p>
            <a:pPr marL="342900" lvl="0" indent="-342900" algn="l" rtl="0">
              <a:spcBef>
                <a:spcPts val="640"/>
              </a:spcBef>
              <a:spcAft>
                <a:spcPts val="0"/>
              </a:spcAft>
              <a:buClr>
                <a:schemeClr val="dk1"/>
              </a:buClr>
              <a:buSzPts val="3200"/>
              <a:buChar char="•"/>
            </a:pPr>
            <a:r>
              <a:rPr lang="en-US" dirty="0">
                <a:latin typeface="Times New Roman"/>
                <a:ea typeface="Times New Roman"/>
                <a:cs typeface="Times New Roman"/>
                <a:sym typeface="Times New Roman"/>
              </a:rPr>
              <a:t>Power shortage </a:t>
            </a:r>
            <a:endParaRPr dirty="0"/>
          </a:p>
          <a:p>
            <a:pPr marL="342900" lvl="0" indent="-342900" algn="l" rtl="0">
              <a:spcBef>
                <a:spcPts val="640"/>
              </a:spcBef>
              <a:spcAft>
                <a:spcPts val="0"/>
              </a:spcAft>
              <a:buClr>
                <a:schemeClr val="dk1"/>
              </a:buClr>
              <a:buSzPts val="3200"/>
              <a:buChar char="•"/>
            </a:pPr>
            <a:r>
              <a:rPr lang="en-US" dirty="0" err="1">
                <a:latin typeface="Times New Roman"/>
                <a:ea typeface="Times New Roman"/>
                <a:cs typeface="Times New Roman"/>
                <a:sym typeface="Times New Roman"/>
              </a:rPr>
              <a:t>Labour</a:t>
            </a:r>
            <a:r>
              <a:rPr lang="en-US" dirty="0">
                <a:latin typeface="Times New Roman"/>
                <a:ea typeface="Times New Roman"/>
                <a:cs typeface="Times New Roman"/>
                <a:sym typeface="Times New Roman"/>
              </a:rPr>
              <a:t> shortage</a:t>
            </a:r>
            <a:endParaRPr dirty="0"/>
          </a:p>
          <a:p>
            <a:pPr marL="342900" lvl="0" indent="-342900" algn="l" rtl="0">
              <a:spcBef>
                <a:spcPts val="640"/>
              </a:spcBef>
              <a:spcAft>
                <a:spcPts val="0"/>
              </a:spcAft>
              <a:buClr>
                <a:schemeClr val="dk1"/>
              </a:buClr>
              <a:buSzPts val="3200"/>
              <a:buChar char="•"/>
            </a:pPr>
            <a:r>
              <a:rPr lang="en-US" dirty="0">
                <a:latin typeface="Times New Roman"/>
                <a:ea typeface="Times New Roman"/>
                <a:cs typeface="Times New Roman"/>
                <a:sym typeface="Times New Roman"/>
              </a:rPr>
              <a:t>Outdated technology</a:t>
            </a:r>
            <a:endParaRPr dirty="0"/>
          </a:p>
          <a:p>
            <a:pPr marL="342900" lvl="0" indent="-342900" algn="l" rtl="0">
              <a:spcBef>
                <a:spcPts val="640"/>
              </a:spcBef>
              <a:spcAft>
                <a:spcPts val="0"/>
              </a:spcAft>
              <a:buClr>
                <a:schemeClr val="dk1"/>
              </a:buClr>
              <a:buSzPts val="3200"/>
              <a:buChar char="•"/>
            </a:pPr>
            <a:r>
              <a:rPr lang="en-US" dirty="0">
                <a:latin typeface="Times New Roman"/>
                <a:ea typeface="Times New Roman"/>
                <a:cs typeface="Times New Roman"/>
                <a:sym typeface="Times New Roman"/>
              </a:rPr>
              <a:t>Marketing problems</a:t>
            </a:r>
            <a:endParaRPr dirty="0"/>
          </a:p>
          <a:p>
            <a:pPr marL="342900" lvl="0" indent="-342900" algn="l" rtl="0">
              <a:spcBef>
                <a:spcPts val="640"/>
              </a:spcBef>
              <a:spcAft>
                <a:spcPts val="0"/>
              </a:spcAft>
              <a:buClr>
                <a:schemeClr val="dk1"/>
              </a:buClr>
              <a:buSzPts val="3200"/>
              <a:buChar char="•"/>
            </a:pPr>
            <a:r>
              <a:rPr lang="en-US" dirty="0">
                <a:latin typeface="Times New Roman"/>
                <a:ea typeface="Times New Roman"/>
                <a:cs typeface="Times New Roman"/>
                <a:sym typeface="Times New Roman"/>
              </a:rPr>
              <a:t>Inadequate and timely availability of finance</a:t>
            </a:r>
            <a:endParaRPr dirty="0"/>
          </a:p>
          <a:p>
            <a:pPr marL="342900" lvl="0" indent="-342900" algn="l" rtl="0">
              <a:spcBef>
                <a:spcPts val="640"/>
              </a:spcBef>
              <a:spcAft>
                <a:spcPts val="0"/>
              </a:spcAft>
              <a:buClr>
                <a:schemeClr val="dk1"/>
              </a:buClr>
              <a:buSzPts val="3200"/>
              <a:buNone/>
            </a:pPr>
            <a:endParaRPr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dirty="0">
              <a:latin typeface="Times New Roman"/>
              <a:ea typeface="Times New Roman"/>
              <a:cs typeface="Times New Roman"/>
              <a:sym typeface="Times New Roman"/>
            </a:endParaRPr>
          </a:p>
        </p:txBody>
      </p:sp>
      <p:sp>
        <p:nvSpPr>
          <p:cNvPr id="109" name="Google Shape;109;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b="0">
                <a:latin typeface="Times New Roman"/>
                <a:ea typeface="Times New Roman"/>
                <a:cs typeface="Times New Roman"/>
                <a:sym typeface="Times New Roman"/>
              </a:rPr>
              <a:t>Reasons for Industrial sickness</a:t>
            </a:r>
            <a:endParaRPr b="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67058"/>
          </a:xfrm>
        </p:spPr>
        <p:txBody>
          <a:bodyPr>
            <a:normAutofit fontScale="90000"/>
          </a:bodyPr>
          <a:lstStyle/>
          <a:p>
            <a:r>
              <a:rPr lang="en-US" dirty="0" smtClean="0"/>
              <a:t>Psycho-social barriers </a:t>
            </a:r>
            <a:endParaRPr lang="en-US" dirty="0"/>
          </a:p>
        </p:txBody>
      </p:sp>
      <p:sp>
        <p:nvSpPr>
          <p:cNvPr id="3" name="Text Placeholder 2"/>
          <p:cNvSpPr>
            <a:spLocks noGrp="1"/>
          </p:cNvSpPr>
          <p:nvPr>
            <p:ph type="body" idx="1"/>
          </p:nvPr>
        </p:nvSpPr>
        <p:spPr>
          <a:xfrm>
            <a:off x="457200" y="1417638"/>
            <a:ext cx="8229600" cy="5114499"/>
          </a:xfrm>
        </p:spPr>
        <p:txBody>
          <a:bodyPr>
            <a:normAutofit fontScale="47500" lnSpcReduction="20000"/>
          </a:bodyPr>
          <a:lstStyle/>
          <a:p>
            <a:pPr>
              <a:lnSpc>
                <a:spcPct val="170000"/>
              </a:lnSpc>
            </a:pPr>
            <a:r>
              <a:rPr lang="en-US" b="1" dirty="0">
                <a:solidFill>
                  <a:schemeClr val="tx1"/>
                </a:solidFill>
              </a:rPr>
              <a:t>Poor self-image of women</a:t>
            </a:r>
          </a:p>
          <a:p>
            <a:pPr>
              <a:lnSpc>
                <a:spcPct val="170000"/>
              </a:lnSpc>
            </a:pPr>
            <a:r>
              <a:rPr lang="en-US" b="1" dirty="0">
                <a:solidFill>
                  <a:schemeClr val="tx1"/>
                </a:solidFill>
              </a:rPr>
              <a:t>Inadequate motivation</a:t>
            </a:r>
          </a:p>
          <a:p>
            <a:pPr>
              <a:lnSpc>
                <a:spcPct val="170000"/>
              </a:lnSpc>
            </a:pPr>
            <a:r>
              <a:rPr lang="en-US" b="1" dirty="0">
                <a:solidFill>
                  <a:schemeClr val="tx1"/>
                </a:solidFill>
              </a:rPr>
              <a:t>Discriminating treatment</a:t>
            </a:r>
          </a:p>
          <a:p>
            <a:pPr>
              <a:lnSpc>
                <a:spcPct val="170000"/>
              </a:lnSpc>
            </a:pPr>
            <a:r>
              <a:rPr lang="en-US" b="1" dirty="0">
                <a:solidFill>
                  <a:schemeClr val="tx1"/>
                </a:solidFill>
              </a:rPr>
              <a:t>Faulty </a:t>
            </a:r>
            <a:r>
              <a:rPr lang="en-US" b="1" dirty="0" err="1">
                <a:solidFill>
                  <a:schemeClr val="tx1"/>
                </a:solidFill>
              </a:rPr>
              <a:t>socialisation</a:t>
            </a:r>
            <a:endParaRPr lang="en-US" b="1" dirty="0">
              <a:solidFill>
                <a:schemeClr val="tx1"/>
              </a:solidFill>
            </a:endParaRPr>
          </a:p>
          <a:p>
            <a:pPr>
              <a:lnSpc>
                <a:spcPct val="170000"/>
              </a:lnSpc>
            </a:pPr>
            <a:r>
              <a:rPr lang="en-US" b="1" dirty="0">
                <a:solidFill>
                  <a:schemeClr val="tx1"/>
                </a:solidFill>
              </a:rPr>
              <a:t>Role conflict</a:t>
            </a:r>
          </a:p>
          <a:p>
            <a:pPr>
              <a:lnSpc>
                <a:spcPct val="170000"/>
              </a:lnSpc>
            </a:pPr>
            <a:r>
              <a:rPr lang="en-US" b="1" dirty="0">
                <a:solidFill>
                  <a:schemeClr val="tx1"/>
                </a:solidFill>
              </a:rPr>
              <a:t>Cultural values</a:t>
            </a:r>
          </a:p>
          <a:p>
            <a:pPr>
              <a:lnSpc>
                <a:spcPct val="170000"/>
              </a:lnSpc>
            </a:pPr>
            <a:r>
              <a:rPr lang="en-US" b="1" dirty="0">
                <a:solidFill>
                  <a:schemeClr val="tx1"/>
                </a:solidFill>
              </a:rPr>
              <a:t>Lack of courage and self-confidence</a:t>
            </a:r>
          </a:p>
          <a:p>
            <a:pPr>
              <a:lnSpc>
                <a:spcPct val="170000"/>
              </a:lnSpc>
            </a:pPr>
            <a:r>
              <a:rPr lang="en-US" b="1" dirty="0">
                <a:solidFill>
                  <a:schemeClr val="tx1"/>
                </a:solidFill>
              </a:rPr>
              <a:t>Inadequate encouragement</a:t>
            </a:r>
          </a:p>
          <a:p>
            <a:pPr>
              <a:lnSpc>
                <a:spcPct val="170000"/>
              </a:lnSpc>
            </a:pPr>
            <a:r>
              <a:rPr lang="en-US" b="1" dirty="0">
                <a:solidFill>
                  <a:schemeClr val="tx1"/>
                </a:solidFill>
              </a:rPr>
              <a:t>Lack of social acceptance</a:t>
            </a:r>
          </a:p>
          <a:p>
            <a:pPr>
              <a:lnSpc>
                <a:spcPct val="170000"/>
              </a:lnSpc>
            </a:pPr>
            <a:r>
              <a:rPr lang="en-US" b="1" dirty="0">
                <a:solidFill>
                  <a:schemeClr val="tx1"/>
                </a:solidFill>
              </a:rPr>
              <a:t>Unjust economic, social and cultural </a:t>
            </a:r>
            <a:r>
              <a:rPr lang="en-US" b="1" dirty="0" smtClean="0">
                <a:solidFill>
                  <a:schemeClr val="tx1"/>
                </a:solidFill>
              </a:rPr>
              <a:t>system</a:t>
            </a:r>
            <a:endParaRPr lang="en-US" b="1" dirty="0">
              <a:solidFill>
                <a:schemeClr val="tx1"/>
              </a:solidFill>
            </a:endParaRPr>
          </a:p>
          <a:p>
            <a:pPr>
              <a:lnSpc>
                <a:spcPct val="170000"/>
              </a:lnSpc>
            </a:pPr>
            <a:r>
              <a:rPr lang="en-US" b="1" dirty="0">
                <a:solidFill>
                  <a:schemeClr val="tx1"/>
                </a:solidFill>
              </a:rPr>
              <a:t>Lacking in leadership qualities</a:t>
            </a:r>
          </a:p>
          <a:p>
            <a:pPr>
              <a:lnSpc>
                <a:spcPct val="170000"/>
              </a:lnSpc>
            </a:pPr>
            <a:r>
              <a:rPr lang="en-US" b="1" dirty="0">
                <a:solidFill>
                  <a:schemeClr val="tx1"/>
                </a:solidFill>
              </a:rPr>
              <a:t>Afraid of failures and criticism</a:t>
            </a:r>
          </a:p>
          <a:p>
            <a:pPr>
              <a:lnSpc>
                <a:spcPct val="170000"/>
              </a:lnSpc>
            </a:pPr>
            <a:endParaRPr lang="en-US" dirty="0"/>
          </a:p>
        </p:txBody>
      </p:sp>
    </p:spTree>
    <p:extLst>
      <p:ext uri="{BB962C8B-B14F-4D97-AF65-F5344CB8AC3E}">
        <p14:creationId xmlns:p14="http://schemas.microsoft.com/office/powerpoint/2010/main" val="262967987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274</Words>
  <Application>Microsoft Office PowerPoint</Application>
  <PresentationFormat>On-screen Show (4:3)</PresentationFormat>
  <Paragraphs>40</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Times New Roman</vt:lpstr>
      <vt:lpstr>Office Theme</vt:lpstr>
      <vt:lpstr>Problems for small scale Industries and Industrial sickness</vt:lpstr>
      <vt:lpstr>Small scale enterprise</vt:lpstr>
      <vt:lpstr>Problems of small scale enterprises</vt:lpstr>
      <vt:lpstr>Industrial sickness</vt:lpstr>
      <vt:lpstr>Reasons for Industrial sickness</vt:lpstr>
      <vt:lpstr>Psycho-social barriers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Problems for small scale Industries and Industrial sickness</dc:title>
  <cp:lastModifiedBy>Pratik</cp:lastModifiedBy>
  <cp:revision>1</cp:revision>
  <dcterms:modified xsi:type="dcterms:W3CDTF">2025-03-20T04:32:11Z</dcterms:modified>
</cp:coreProperties>
</file>