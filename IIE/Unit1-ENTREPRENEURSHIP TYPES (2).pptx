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302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0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08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106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5" name="Google Shape;32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  <a:defRPr sz="4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R="64008" lvl="0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4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30" name="Google Shape;30;p3"/>
            <p:cNvSpPr/>
            <p:nvPr/>
          </p:nvSpPr>
          <p:spPr>
            <a:xfrm>
              <a:off x="1687513" y="4832896"/>
              <a:ext cx="7456487" cy="518816"/>
            </a:xfrm>
            <a:custGeom>
              <a:avLst/>
              <a:gdLst/>
              <a:ahLst/>
              <a:cxnLst/>
              <a:rect l="l" t="t" r="r" b="b"/>
              <a:pathLst>
                <a:path w="4697" h="367" extrusionOk="0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35443" y="5135526"/>
              <a:ext cx="9108557" cy="838200"/>
            </a:xfrm>
            <a:custGeom>
              <a:avLst/>
              <a:gdLst/>
              <a:ahLst/>
              <a:cxnLst/>
              <a:rect l="l" t="t" r="r" b="b"/>
              <a:pathLst>
                <a:path w="5760" h="528" extrusionOk="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4883888"/>
              <a:ext cx="9144000" cy="1981200"/>
            </a:xfrm>
            <a:custGeom>
              <a:avLst/>
              <a:gdLst/>
              <a:ahLst/>
              <a:cxnLst/>
              <a:rect l="l" t="t" r="r" b="b"/>
              <a:pathLst>
                <a:path w="5760" h="1248" extrusionOk="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tx="0" ty="0" sx="50000" sy="50000" flip="none" algn="t"/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cxnSp>
          <p:nvCxnSpPr>
            <p:cNvPr id="33" name="Google Shape;33;p3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w="12050" cap="flat" cmpd="sng">
              <a:solidFill>
                <a:srgbClr val="93C5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4" name="Google Shape;34;p3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sz="48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2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3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2232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4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2232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sz="2500"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6776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marL="914400" lvl="1" indent="-406400" algn="l">
              <a:spcBef>
                <a:spcPts val="324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marR="18288" lvl="0" indent="-228600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marL="914400" lvl="1" indent="-304800" algn="l">
              <a:spcBef>
                <a:spcPts val="324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sz="3000"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716436" y="5001993"/>
            <a:ext cx="3802003" cy="1443111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-53561" y="5785023"/>
            <a:ext cx="380200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87" name="Google Shape;87;p10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0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716436" y="5001993"/>
            <a:ext cx="3802003" cy="1443111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53561" y="5785023"/>
            <a:ext cx="380200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3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 sz="4100" b="1" i="0" u="none" strike="noStrike" cap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518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sz="27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914400" marR="0" lvl="1" indent="-374650" algn="l" rtl="0"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1371600" marR="0" lvl="2" indent="-3619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1828800" marR="0" lvl="3" indent="-3492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sz="19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2286000" marR="0" lvl="4" indent="-3429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2743200" marR="0" lvl="5" indent="-3429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3200400" marR="0" lvl="6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3657600" marR="0" lvl="7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4114800" marR="0" lvl="8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4078" lvl="0" indent="-514350" algn="l" rtl="0">
              <a:spcBef>
                <a:spcPts val="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Techno- entrepreneurship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Women entrepreneurship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Social entrepreneurship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Intrapreneurship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Rural entrepreneurship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Family entrepreneurship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Types of Entrepreneurship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Techno-entrepreneurship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E76F62-E1D7-2D35-0D0C-324D2F983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6669" y="1483033"/>
            <a:ext cx="8229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technology-driven world,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technopreneur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usually starts a business with just an idea.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First, they look at how things are done right now and think about the problems in those methods.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they come up with better ideas to do things differently using technology.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technopreneur uses technology to create a product or solution that makes work easier, faster, or smarter.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Instead of following old or traditional ways, they improve them by using modern tools and innovation.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 goal is not just to change the present way of doing things, but also to shape how those things will be done in the future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457200" y="1285860"/>
            <a:ext cx="8229600" cy="472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66907" lvl="0" indent="-457200" algn="just" rtl="0">
              <a:spcBef>
                <a:spcPts val="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We all know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Facebook, twitter and google some of the great examples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of tech entrepreneurship.</a:t>
            </a:r>
            <a:endParaRPr lang="en-US" dirty="0"/>
          </a:p>
          <a:p>
            <a:pPr marL="566907" lvl="0" indent="-457200" algn="just" rtl="0">
              <a:spcBef>
                <a:spcPts val="40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Companies like these have created new industries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all on their own,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creating billions of dollars of value, boosting economies in the countries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from which they grow.</a:t>
            </a:r>
            <a:endParaRPr lang="en-US" dirty="0"/>
          </a:p>
          <a:p>
            <a:pPr marL="566907" lvl="0" indent="-457200" algn="just">
              <a:buSzPct val="68000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Through it investment and jobs comes. </a:t>
            </a:r>
            <a:endParaRPr b="1" dirty="0"/>
          </a:p>
          <a:p>
            <a:pPr marL="566907" lvl="0" indent="-457200" algn="just" rtl="0">
              <a:spcBef>
                <a:spcPts val="40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Through investment and jobs comes greater competitive advantage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on an international scale,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which in turn attracts more even investment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which can be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used to further develop the nation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566907" lvl="0" indent="-457200" algn="just" rtl="0">
              <a:spcBef>
                <a:spcPts val="40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Countries like Israel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, for example, have enjoyed great economic growth ,thanks to their tech talents.(What's app, global player in cyber security-  check point company)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The Impact so in addition to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social media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, thanks to tech entrepreneurs, we can now enjoy things like:- </a:t>
            </a:r>
            <a:endParaRPr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Access to global markets and talent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through things like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Alibaba. </a:t>
            </a: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Work from wherever we are through things like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smart phones and tablets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The ability to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connect around the globe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with ease through things like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Skype and Google Meet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Impact of tech entrepreneur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It’s just like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‘normal’ entrepreneurship with a particular focus on opportunities that require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, or become amplified by,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technology.</a:t>
            </a: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So this means that tech entrepreneurs spot and identify opportunities in much the same way as others, and essentially go about developing solutions in much the same way too.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The big difference is that they utilise and rely on their unique ‘tech’ skill sets to create their competitive advantage.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What is Tech Entrepreneurship?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65760" lvl="0" indent="-256032" algn="just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IN" b="1" u="sng" dirty="0">
                <a:latin typeface="Times New Roman"/>
                <a:ea typeface="Times New Roman"/>
                <a:cs typeface="Times New Roman"/>
                <a:sym typeface="Times New Roman"/>
              </a:rPr>
              <a:t>Need to create Unique Value </a:t>
            </a:r>
          </a:p>
          <a:p>
            <a:pPr marL="365760" lvl="0" indent="-256032" algn="just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  These days,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many people strive to solve the same problem or offer the same value(product)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365760" lvl="0" indent="-256032" algn="just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   As a result, particularly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in the tech field, creating truly unique value is of critical importance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365760" lvl="0" indent="-256032" algn="just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   As soon as a customer sees something they’ve seen before, it’s probably not long your customer anymore!</a:t>
            </a:r>
            <a:endParaRPr dirty="0"/>
          </a:p>
          <a:p>
            <a:pPr marL="365760" lvl="0" indent="-256032" algn="just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IN" b="1" u="sng" dirty="0">
                <a:latin typeface="Times New Roman"/>
                <a:ea typeface="Times New Roman"/>
                <a:cs typeface="Times New Roman"/>
                <a:sym typeface="Times New Roman"/>
              </a:rPr>
              <a:t>Stay up-to-date </a:t>
            </a:r>
          </a:p>
          <a:p>
            <a:pPr marL="365760" lvl="0" indent="-256032" algn="just">
              <a:buSzPct val="680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Technology changes very fast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What is useful today may become outdated tomorrow.</a:t>
            </a:r>
          </a:p>
          <a:p>
            <a:pPr marL="365760" lvl="0" indent="-256032" algn="just">
              <a:buSzPct val="68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Entrepreneurs should keep learning about new technologies and changing customer needs</a:t>
            </a:r>
          </a:p>
          <a:p>
            <a:pPr marL="365760" lvl="0" indent="-256032" algn="just">
              <a:buSzPct val="68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Doing something unique but outdated has no value in tech business.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Elements of Successful Tech -Entrepreneurship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457200" y="529936"/>
            <a:ext cx="8229600" cy="547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65760" lvl="0" indent="-256032" algn="just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IN" b="1" u="sng" dirty="0">
                <a:latin typeface="Times New Roman"/>
                <a:ea typeface="Times New Roman"/>
                <a:cs typeface="Times New Roman"/>
                <a:sym typeface="Times New Roman"/>
              </a:rPr>
              <a:t>Get the right people </a:t>
            </a:r>
          </a:p>
          <a:p>
            <a:pPr marL="365760" lvl="0" indent="-256032" algn="just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  Tech ventures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need people who not only technical smarts but also a one  who is creative ,keep learning and  commit to grow companies.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This is a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hard balance to find (skills + long term commitment).</a:t>
            </a:r>
            <a:endParaRPr b="1" dirty="0"/>
          </a:p>
          <a:p>
            <a:pPr marL="365760" lvl="0" indent="-256032" algn="just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b="1" u="sng" dirty="0">
                <a:latin typeface="Times New Roman"/>
                <a:ea typeface="Times New Roman"/>
                <a:cs typeface="Times New Roman"/>
                <a:sym typeface="Times New Roman"/>
              </a:rPr>
              <a:t>Size of the target market </a:t>
            </a:r>
          </a:p>
          <a:p>
            <a:pPr marL="365760" lvl="0" indent="-256032" algn="just">
              <a:buSzPct val="68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Tech businesses are expensive to run (good staff, technology, innovation).</a:t>
            </a:r>
          </a:p>
          <a:p>
            <a:pPr marL="365760" indent="-256032" algn="just">
              <a:buSzPct val="68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Once a tech product is made,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selling it to more people brings much higher profit with almost the same cost.</a:t>
            </a:r>
          </a:p>
          <a:p>
            <a:pPr marL="365760" lvl="0" indent="-256032" algn="just">
              <a:buSzPct val="68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So they must sell to a large number of customers, this could be thousands or even millions of people</a:t>
            </a:r>
          </a:p>
          <a:p>
            <a:pPr marL="365760" lvl="0" indent="-256032" algn="just">
              <a:buSzPct val="68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Serving 1,000 customers or 1 million customers does not cost very differently in tech businesses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1" descr="Screenshot (6)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9209" t="46815" r="10604" b="4848"/>
          <a:stretch>
            <a:fillRect/>
          </a:stretch>
        </p:blipFill>
        <p:spPr>
          <a:xfrm>
            <a:off x="342900" y="638175"/>
            <a:ext cx="8210550" cy="52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 descr="Screenshot (7)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1774" t="32029" r="12477" b="25362"/>
          <a:stretch>
            <a:fillRect/>
          </a:stretch>
        </p:blipFill>
        <p:spPr>
          <a:xfrm>
            <a:off x="566530" y="397565"/>
            <a:ext cx="8130209" cy="5685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body" idx="1"/>
          </p:nvPr>
        </p:nvSpPr>
        <p:spPr>
          <a:xfrm>
            <a:off x="457200" y="1214422"/>
            <a:ext cx="8329642" cy="4792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Women entrepreneurs may be defined as a woman or a group of women who initiate, organize and run a business concern.</a:t>
            </a: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Women entrepreneurs are those women who think of a business enterprise, initiate it, organize and combine factors of production, operate the enterprise and undertake risks and handle economic uncertainty involved in running it.</a:t>
            </a:r>
            <a:endParaRPr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“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An enterprise owned and controlled by a women having a minimum financial interest of 51% of the capital &amp; giving at least 51% of the employment generated in the enterprise to women”.</a:t>
            </a:r>
            <a:endParaRPr b="1" dirty="0"/>
          </a:p>
          <a:p>
            <a:pPr marL="683514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 dirty="0">
                <a:latin typeface="Times New Roman"/>
                <a:ea typeface="Times New Roman"/>
                <a:cs typeface="Times New Roman"/>
                <a:sym typeface="Times New Roman"/>
              </a:rPr>
              <a:t>Women entrepreneurs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endParaRPr/>
          </a:p>
        </p:txBody>
      </p:sp>
      <p:pic>
        <p:nvPicPr>
          <p:cNvPr id="171" name="Google Shape;171;p24" descr="1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357158" y="1481328"/>
            <a:ext cx="832964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IN" i="1" dirty="0">
                <a:latin typeface="Times New Roman"/>
                <a:ea typeface="Times New Roman"/>
                <a:cs typeface="Times New Roman"/>
                <a:sym typeface="Times New Roman"/>
              </a:rPr>
              <a:t>“Somebody once said, educate a woman &amp; u will educate a family.” But the new saying is empower a woman to become an entrepreneur, &amp; you will create an entire family of entrepreneurs. Women entrepreneurship is the need of the nation right now, it is the surest quickest way to make INDIA a super power”</a:t>
            </a:r>
            <a:endParaRPr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4078" lvl="0" indent="-514350" algn="l" rtl="0">
              <a:spcBef>
                <a:spcPts val="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/>
              <a:t>Microsphere- Mainly confined to the local environment and obliged to live close to the family.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/>
              <a:t>Mesosphere- Work at a regional or national level. 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/>
              <a:t>     Acts as a barrier when providing assistance to them within this environment.</a:t>
            </a:r>
            <a:endParaRPr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/>
              <a:t>3. Macrosphere- working at global level</a:t>
            </a:r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IN"/>
              <a:t>Challenges faced by women entrepreneurs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To become economically independent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To establish their own enterprise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To establish their identity in society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To achieve Excellence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To build confidence to themselves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To develop risk assuming ability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To claim equal status in society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To secure greater freedom &amp; mobility Liking for business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An urge to do something new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Why women becomes entrepreneur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IN"/>
              <a:t>Strategies for the development of women entrepreneurs</a:t>
            </a:r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body" idx="1"/>
          </p:nvPr>
        </p:nvSpPr>
        <p:spPr>
          <a:xfrm>
            <a:off x="457200" y="1785926"/>
            <a:ext cx="8229600" cy="422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/>
              <a:t>Encouraging home-based business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/>
              <a:t>Widespread business education(Workshops, conferences, training…)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/>
              <a:t>Better financial assistance(</a:t>
            </a:r>
            <a:r>
              <a:rPr lang="en-IN" dirty="0" err="1"/>
              <a:t>venezuelas</a:t>
            </a:r>
            <a:r>
              <a:rPr lang="en-IN" dirty="0"/>
              <a:t> women development bank)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/>
              <a:t>Wider access to technology(With the help of internet)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Male dominated society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business information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Low risk taking ability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education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family support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Problems faced by women entrepreneur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Mahila Vikas Nidhi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District industries center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Rashtriya Mahila Kosh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Government incentives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Under Mahila Vikas Nidhi, a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cumulative help of Rs. 80.4 million was sanctioned, during the period 1990-2001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 Various training- cum production centres set up by NGOs mostly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relate to activities like spinning, weaving, block printing, handloom products, handicrafts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etc.</a:t>
            </a:r>
          </a:p>
          <a:p>
            <a:pPr marL="566928" lvl="0" indent="-457200" algn="just"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Mahila Udyam Nidhi (MUN) is a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SIDBI-operated scheme providing soft loans up to ₹10 lakh without collateral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women entrepreneurs 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for setting up or upgrading small-scale industries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It features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low-interest rates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 6-8 year repayment period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aiming to foster financial independence and self-employment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Mahila vikas nidhi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DICs arrange various lectures and seminars etc. In girls colleges and technical institutes to encourage them to set up their own enterprises.</a:t>
            </a:r>
          </a:p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endParaRPr lang="en-I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928" lvl="0" indent="-457200"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They facilitate business setup, licensing, finance, and training for entrepreneurs. Established in 1978, they act as a vital link between government policies and local industrial development.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 District industries center(DICs)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just"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It was set up in 1993 to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provide micro- credit to poor and rural women who had no access to financial institution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at with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very low transaction costs, rates of interest and simple procedures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 It proved quite useful for lower income group women.</a:t>
            </a:r>
          </a:p>
          <a:p>
            <a:pPr marL="566928" lvl="0" indent="-457200" algn="just"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provides loans through Intermediate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Micro-financing Organizations (IMOs) like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Self Help Groups (SHGs), NGOs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etc. instead of giving loans directly to women.</a:t>
            </a:r>
          </a:p>
          <a:p>
            <a:pPr marL="365760" lvl="0" indent="-256032" algn="just">
              <a:spcBef>
                <a:spcPts val="0"/>
              </a:spcBef>
              <a:buSzPts val="1836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Rashtriya Mahila Kosh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457200" y="596348"/>
            <a:ext cx="8229600" cy="54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78DEA-2CC7-4AEA-F093-5AE519378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7123DB-E066-62C3-0D6F-5846283FA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27384"/>
            <a:ext cx="8229600" cy="557990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8DB23-AAF0-4402-F042-362B8E896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28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728" lvl="0" indent="0" algn="just" rtl="0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en-IN" dirty="0"/>
              <a:t>Social entrepreneurship is </a:t>
            </a:r>
            <a:r>
              <a:rPr lang="en-IN" b="1" dirty="0"/>
              <a:t>the process by which individuals, startups and entrepreneurs develop and fund solutions that directly address social issues</a:t>
            </a:r>
            <a:r>
              <a:rPr lang="en-IN" dirty="0"/>
              <a:t>. A social entrepreneur, therefore, is </a:t>
            </a:r>
            <a:r>
              <a:rPr lang="en-IN" b="1" dirty="0"/>
              <a:t>a person who explores business opportunities that have a positive impact on their community</a:t>
            </a:r>
            <a:r>
              <a:rPr lang="en-IN" dirty="0"/>
              <a:t>, </a:t>
            </a:r>
            <a:r>
              <a:rPr lang="en-IN" b="1" dirty="0"/>
              <a:t>in society or the world.</a:t>
            </a:r>
            <a:endParaRPr b="1"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238" name="Google Shape;238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Social entrepreneurship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Social entrepreneurship is the process of recognizing and resourcefully pursuing opportunities to create social value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 Social entrepreneurs are innovative , resourceful, and results oriented.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They draw upon the best thinking in both the business and non-profit worlds to develop strategies that maximize their social impact.</a:t>
            </a: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These leaders operate in all kinds of organizations : large and small; new and old; religious and secular; non-profit, for-profit, and hybrid. These organizations comprise the ‘social sector’. 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>
            <a:spLocks noGrp="1"/>
          </p:cNvSpPr>
          <p:nvPr>
            <p:ph type="body" idx="1"/>
          </p:nvPr>
        </p:nvSpPr>
        <p:spPr>
          <a:xfrm>
            <a:off x="457200" y="1428736"/>
            <a:ext cx="8329642" cy="457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For-profit entrepreneurs typically measure performance using business metrics like profit, revenues and increases in stock price.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Social entrepreneurs, however, are either non-profits, or they blend for-profit goals with generating a positive "return to society“</a:t>
            </a: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Typically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attempts broad social, cultural and environmental goals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often associated with the voluntary sector in areas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such as over coming poverty , health care and community development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Social issues inadequately addressed by government.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Need to raise funds for charities.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Changes in public sector.</a:t>
            </a:r>
            <a:endParaRPr dirty="0"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Budget cuts require new revenue streams </a:t>
            </a:r>
            <a:endParaRPr dirty="0"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Change rather than good stewardship (innovating rather than just maintaining old ways).</a:t>
            </a:r>
            <a:endParaRPr dirty="0"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Growing demand for corporate social responsibility and ethical entrepreneurship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 dirty="0">
                <a:latin typeface="Times New Roman"/>
                <a:ea typeface="Times New Roman"/>
                <a:cs typeface="Times New Roman"/>
                <a:sym typeface="Times New Roman"/>
              </a:rPr>
              <a:t>Social entrepreneurship Drivers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>
            <a:spLocks noGrp="1"/>
          </p:cNvSpPr>
          <p:nvPr>
            <p:ph type="body" idx="1"/>
          </p:nvPr>
        </p:nvSpPr>
        <p:spPr>
          <a:xfrm>
            <a:off x="457200" y="1428736"/>
            <a:ext cx="8329642" cy="457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Social Entrepreneurship holds the key for future development in India. In the days to come, social entrepreneurs will play a crucial role in the advancement of social changes.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The best thing about social entrepreneurship is that success is not mentioned by financial gains, but by the number of people these enterprises are able to reach and create a positive impact.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In the coming days, social entrepreneurship and Social businesses will be in the mainstream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, which will hopefully impact the society positively.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>
            <a:spLocks noGrp="1"/>
          </p:cNvSpPr>
          <p:nvPr>
            <p:ph type="body" idx="1"/>
          </p:nvPr>
        </p:nvSpPr>
        <p:spPr>
          <a:xfrm>
            <a:off x="457200" y="1214422"/>
            <a:ext cx="8258204" cy="457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07" lvl="0" indent="-457200" algn="just" rtl="0">
              <a:spcBef>
                <a:spcPts val="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Intrapreneurship is Becoming an Entrepreneur on the Job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566907" lvl="0" indent="-457200" algn="just" rtl="0">
              <a:spcBef>
                <a:spcPts val="40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Intrapreneur-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A person within a large corporation who takes direct responsibility for turning an idea into a profitable finished product, process or service through assertive risk taking and innovation.</a:t>
            </a:r>
            <a:endParaRPr b="1" dirty="0"/>
          </a:p>
          <a:p>
            <a:pPr marL="566907" lvl="0" indent="-457200" algn="just" rtl="0">
              <a:spcBef>
                <a:spcPts val="40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Intrapreneur have entrepreneurial skills blended with managerial skills but operate within an organization. </a:t>
            </a:r>
            <a:endParaRPr b="1" dirty="0"/>
          </a:p>
        </p:txBody>
      </p:sp>
      <p:sp>
        <p:nvSpPr>
          <p:cNvPr id="268" name="Google Shape;268;p40"/>
          <p:cNvSpPr txBox="1">
            <a:spLocks noGrp="1"/>
          </p:cNvSpPr>
          <p:nvPr>
            <p:ph type="title"/>
          </p:nvPr>
        </p:nvSpPr>
        <p:spPr>
          <a:xfrm>
            <a:off x="428596" y="-357214"/>
            <a:ext cx="8229600" cy="107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b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 Intrapreneurship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>
            <a:spLocks noGrp="1"/>
          </p:cNvSpPr>
          <p:nvPr>
            <p:ph type="body" idx="1"/>
          </p:nvPr>
        </p:nvSpPr>
        <p:spPr>
          <a:xfrm>
            <a:off x="457200" y="1285860"/>
            <a:ext cx="8186766" cy="472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An intrapreneur is an employee who is tasked with developing an innovative idea or project within a company.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The intrapreneur may not face the outsized risks or reap the outsized rewards of an entrepreneur. however, the intrapreneur has access to the resources and capabilities of an established company.</a:t>
            </a: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Intrapreneurs are “dreamers who do”, those who take hands-on responsibility for creating innovation of any kind within an organization.                                            </a:t>
            </a:r>
            <a:endParaRPr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Intrapreneur is an essential ingredient in every innovation.            </a:t>
            </a:r>
            <a:endParaRPr b="1" dirty="0"/>
          </a:p>
          <a:p>
            <a:pPr marL="109728" lvl="0" indent="0" algn="just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>
            <a:spLocks noGrp="1"/>
          </p:cNvSpPr>
          <p:nvPr>
            <p:ph type="body" idx="1"/>
          </p:nvPr>
        </p:nvSpPr>
        <p:spPr>
          <a:xfrm>
            <a:off x="457200" y="1142984"/>
            <a:ext cx="8472518" cy="5205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24078" lvl="0" indent="-514350" algn="l" rtl="0">
              <a:spcBef>
                <a:spcPts val="0"/>
              </a:spcBef>
              <a:spcAft>
                <a:spcPts val="0"/>
              </a:spcAft>
              <a:buSzPts val="1836"/>
              <a:buAutoNum type="arabicPeriod"/>
            </a:pPr>
            <a:r>
              <a:rPr lang="en-IN" b="1" u="sng" dirty="0"/>
              <a:t>The Advocate</a:t>
            </a:r>
            <a:endParaRPr u="sng" dirty="0"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US" sz="2600" dirty="0"/>
              <a:t>An Advocate is an </a:t>
            </a:r>
            <a:r>
              <a:rPr lang="en-US" sz="2600" b="1" dirty="0"/>
              <a:t>employee inside a company who speaks for the customers.</a:t>
            </a:r>
            <a:endParaRPr sz="2600"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sz="2600" dirty="0"/>
              <a:t>The Advocate typically comes from a customer-facing role. </a:t>
            </a:r>
            <a:r>
              <a:rPr lang="en-IN" sz="2600" b="1" dirty="0"/>
              <a:t>They play a leading role in shaping the problem to be solved</a:t>
            </a:r>
            <a:r>
              <a:rPr lang="en-IN" sz="2600" dirty="0"/>
              <a:t>, </a:t>
            </a:r>
            <a:r>
              <a:rPr lang="en-IN" sz="2600" b="1" dirty="0"/>
              <a:t>defining the attributes of the customer and what the solution itself should look like</a:t>
            </a:r>
            <a:r>
              <a:rPr lang="en-IN" sz="2600" dirty="0"/>
              <a:t>. They are often easiest to spot in a company as they constantly come up with a stream of new ideas</a:t>
            </a:r>
            <a:r>
              <a:rPr lang="en-IN" sz="2600" b="1" dirty="0"/>
              <a:t>. </a:t>
            </a:r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sz="2600" b="1" dirty="0"/>
              <a:t>They often have roles like designer, business analyst, user experience or perhaps come from a sales or marketing background.</a:t>
            </a:r>
            <a:endParaRPr sz="2600" b="1"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280" name="Google Shape;280;p42"/>
          <p:cNvSpPr txBox="1">
            <a:spLocks noGrp="1"/>
          </p:cNvSpPr>
          <p:nvPr>
            <p:ph type="title"/>
          </p:nvPr>
        </p:nvSpPr>
        <p:spPr>
          <a:xfrm>
            <a:off x="457200" y="214290"/>
            <a:ext cx="8229600" cy="107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IN" dirty="0"/>
              <a:t>3 Types of Intrapreneur</a:t>
            </a:r>
            <a:br>
              <a:rPr lang="en-IN" dirty="0"/>
            </a:b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>
            <a:spLocks noGrp="1"/>
          </p:cNvSpPr>
          <p:nvPr>
            <p:ph type="body" idx="1"/>
          </p:nvPr>
        </p:nvSpPr>
        <p:spPr>
          <a:xfrm>
            <a:off x="457200" y="210208"/>
            <a:ext cx="8329642" cy="635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en-IN" b="1" dirty="0"/>
              <a:t>2. The Creator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/>
              <a:t>The Creator is </a:t>
            </a:r>
            <a:r>
              <a:rPr lang="en-IN" b="1" dirty="0"/>
              <a:t>an internal facing role</a:t>
            </a:r>
            <a:r>
              <a:rPr lang="en-IN" dirty="0"/>
              <a:t>. The Creator is the person that </a:t>
            </a:r>
            <a:r>
              <a:rPr lang="en-IN" b="1" dirty="0"/>
              <a:t>will give life to your idea and create the prototype solution</a:t>
            </a:r>
            <a:r>
              <a:rPr lang="en-IN" dirty="0"/>
              <a:t>. </a:t>
            </a:r>
          </a:p>
          <a:p>
            <a:pPr marL="109728" lvl="0" indent="0" algn="just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lang="en-IN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/>
              <a:t>In the </a:t>
            </a:r>
            <a:r>
              <a:rPr lang="en-IN" b="1" dirty="0"/>
              <a:t>tech-centric world </a:t>
            </a:r>
            <a:r>
              <a:rPr lang="en-IN" dirty="0"/>
              <a:t>we live in, this person is </a:t>
            </a:r>
            <a:r>
              <a:rPr lang="en-IN" b="1" dirty="0"/>
              <a:t>often a programmer or engineer</a:t>
            </a:r>
            <a:r>
              <a:rPr lang="en-IN" dirty="0"/>
              <a:t>, but depending on your industry, they could have a very different job title. For example, if you work </a:t>
            </a:r>
            <a:r>
              <a:rPr lang="en-IN" b="1" dirty="0"/>
              <a:t>in the food industry </a:t>
            </a:r>
            <a:r>
              <a:rPr lang="en-IN" dirty="0"/>
              <a:t>then the </a:t>
            </a:r>
            <a:r>
              <a:rPr lang="en-IN" b="1" dirty="0"/>
              <a:t>Creator might be a chef or</a:t>
            </a:r>
            <a:r>
              <a:rPr lang="en-IN" dirty="0"/>
              <a:t> </a:t>
            </a:r>
            <a:r>
              <a:rPr lang="en-IN" b="1" dirty="0"/>
              <a:t>nutritionist</a:t>
            </a:r>
            <a:r>
              <a:rPr lang="en-IN" dirty="0"/>
              <a:t>.</a:t>
            </a:r>
          </a:p>
          <a:p>
            <a:pPr marL="365760" lvl="0" indent="-256032" algn="just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endParaRPr lang="en-IN" dirty="0"/>
          </a:p>
          <a:p>
            <a:pPr marL="566928" lvl="0" indent="-457200" algn="just">
              <a:buSzPts val="1836"/>
              <a:buFont typeface="Arial" panose="020B0604020202020204" pitchFamily="34" charset="0"/>
              <a:buChar char="•"/>
            </a:pPr>
            <a:r>
              <a:rPr lang="en-US" dirty="0"/>
              <a:t>Advocate says: “Customers want a faster app.”</a:t>
            </a:r>
          </a:p>
          <a:p>
            <a:pPr marL="566928" lvl="0" indent="-457200" algn="just">
              <a:buSzPts val="1836"/>
              <a:buFont typeface="Arial" panose="020B0604020202020204" pitchFamily="34" charset="0"/>
              <a:buChar char="•"/>
            </a:pPr>
            <a:r>
              <a:rPr lang="en-US" dirty="0"/>
              <a:t>Creator builds the app feature that makes it faster.</a:t>
            </a:r>
            <a:endParaRPr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>
            <a:spLocks noGrp="1"/>
          </p:cNvSpPr>
          <p:nvPr>
            <p:ph type="body" idx="1"/>
          </p:nvPr>
        </p:nvSpPr>
        <p:spPr>
          <a:xfrm>
            <a:off x="457200" y="336331"/>
            <a:ext cx="8229600" cy="590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IN" b="1" dirty="0"/>
              <a:t>3. The Change Maker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endParaRPr b="1" dirty="0"/>
          </a:p>
          <a:p>
            <a:pPr marL="566907" lvl="0" indent="-457200" algn="just" rtl="0">
              <a:spcBef>
                <a:spcPts val="40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IN" dirty="0"/>
              <a:t>The Change Maker is </a:t>
            </a:r>
            <a:r>
              <a:rPr lang="en-IN" b="1" dirty="0"/>
              <a:t>external business-facing person</a:t>
            </a:r>
            <a:r>
              <a:rPr lang="en-IN" dirty="0"/>
              <a:t>. This is the person that </a:t>
            </a:r>
            <a:r>
              <a:rPr lang="en-IN" b="1" dirty="0"/>
              <a:t>makes things happen… funding, partnerships, finance, sales</a:t>
            </a:r>
            <a:r>
              <a:rPr lang="en-IN" dirty="0"/>
              <a:t>. This </a:t>
            </a:r>
            <a:r>
              <a:rPr lang="en-IN" b="1" dirty="0"/>
              <a:t>person is usually an extrovert, self-confident and a great networker</a:t>
            </a:r>
            <a:r>
              <a:rPr lang="en-IN" dirty="0"/>
              <a:t>. The team will rely on The Change Maker to open doors for them, win-over the gatekeepers in the company and get the necessary buy-in from stakeholders.</a:t>
            </a:r>
          </a:p>
          <a:p>
            <a:pPr marL="109707" lvl="0" indent="0" algn="just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IN" dirty="0"/>
              <a:t> </a:t>
            </a:r>
          </a:p>
          <a:p>
            <a:pPr marL="566907" lvl="0" indent="-457200" algn="just" rtl="0">
              <a:spcBef>
                <a:spcPts val="400"/>
              </a:spcBef>
              <a:spcAft>
                <a:spcPts val="0"/>
              </a:spcAft>
              <a:buSzPct val="68000"/>
              <a:buFont typeface="Arial" panose="020B0604020202020204" pitchFamily="34" charset="0"/>
              <a:buChar char="•"/>
            </a:pPr>
            <a:r>
              <a:rPr lang="en-US" dirty="0"/>
              <a:t>Advocate finds a customer problem</a:t>
            </a:r>
          </a:p>
          <a:p>
            <a:pPr marL="566907" lvl="0" indent="-457200" algn="just">
              <a:buSzPct val="68000"/>
              <a:buFont typeface="Arial" panose="020B0604020202020204" pitchFamily="34" charset="0"/>
              <a:buChar char="•"/>
            </a:pPr>
            <a:r>
              <a:rPr lang="en-US" dirty="0"/>
              <a:t>Creator builds the solution</a:t>
            </a:r>
          </a:p>
          <a:p>
            <a:pPr marL="566907" lvl="0" indent="-457200" algn="just">
              <a:buSzPct val="68000"/>
              <a:buFont typeface="Arial" panose="020B0604020202020204" pitchFamily="34" charset="0"/>
              <a:buChar char="•"/>
            </a:pPr>
            <a:r>
              <a:rPr lang="en-US" dirty="0"/>
              <a:t>Change Maker gets approval, money, and support to launch it</a:t>
            </a:r>
            <a:endParaRPr dirty="0"/>
          </a:p>
          <a:p>
            <a:pPr marL="365760" lvl="0" indent="-148211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1836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Innovation-To create and bring into use profitable new products, processes, services, and ways of doing business. </a:t>
            </a:r>
            <a:endParaRPr dirty="0"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Creation of new or alternative products</a:t>
            </a:r>
            <a:endParaRPr dirty="0"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Opening of a new market</a:t>
            </a:r>
            <a:endParaRPr dirty="0"/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Capture of new sources of supply</a:t>
            </a:r>
            <a:endParaRPr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Why should organizations embrace intrapreneurs?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Spotting ways to improve service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Save time, money, or make life easier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Visualizing variations of current products / services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Realizing new communication avenues with customers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Enhancing the quality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New ways to get the job done quicker or smarter</a:t>
            </a:r>
            <a:endParaRPr dirty="0"/>
          </a:p>
          <a:p>
            <a:pPr marL="109728" lvl="0" indent="0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Intraprenurial activity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>
            <a:spLocks noGrp="1"/>
          </p:cNvSpPr>
          <p:nvPr>
            <p:ph type="body" idx="1"/>
          </p:nvPr>
        </p:nvSpPr>
        <p:spPr>
          <a:xfrm>
            <a:off x="457200" y="1071546"/>
            <a:ext cx="8401080" cy="5214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53" algn="just" rtl="0">
              <a:spcBef>
                <a:spcPts val="0"/>
              </a:spcBef>
              <a:spcAft>
                <a:spcPts val="0"/>
              </a:spcAft>
              <a:buSzPct val="68000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Firms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create competitive advantages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by discovering new and better ways to compete in an industry and bringing them to market.</a:t>
            </a:r>
            <a:endParaRPr dirty="0"/>
          </a:p>
          <a:p>
            <a:pPr marL="365760" lvl="0" indent="-256053" algn="just" rtl="0">
              <a:spcBef>
                <a:spcPts val="400"/>
              </a:spcBef>
              <a:spcAft>
                <a:spcPts val="0"/>
              </a:spcAft>
              <a:buSzPct val="68000"/>
              <a:buFont typeface="Noto Sans Symbols"/>
              <a:buChar char="⮚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An enterprise that does not daily innovate will declines.</a:t>
            </a:r>
            <a:endParaRPr b="1" dirty="0"/>
          </a:p>
          <a:p>
            <a:pPr marL="365760" lvl="0" indent="-256053" algn="just" rtl="0">
              <a:spcBef>
                <a:spcPts val="400"/>
              </a:spcBef>
              <a:spcAft>
                <a:spcPts val="0"/>
              </a:spcAft>
              <a:buSzPct val="68000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Even in a successful business the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disease of bureaucracy and complacency is dangerous.</a:t>
            </a:r>
            <a:endParaRPr b="1" dirty="0"/>
          </a:p>
        </p:txBody>
      </p:sp>
      <p:sp>
        <p:nvSpPr>
          <p:cNvPr id="310" name="Google Shape;310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58204" cy="93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How does Business benefit?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8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1836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Flexibility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Less restrictions and supportive environment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Recognition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Their ideas are vehicles towards advancement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Font typeface="Noto Sans Symbols"/>
              <a:buChar char="⮚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Increased value to organization - increased PAYCHECK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How do Intrapreneurs benefit?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 txBox="1">
            <a:spLocks noGrp="1"/>
          </p:cNvSpPr>
          <p:nvPr>
            <p:ph type="body" idx="1"/>
          </p:nvPr>
        </p:nvSpPr>
        <p:spPr>
          <a:xfrm>
            <a:off x="457200" y="1428736"/>
            <a:ext cx="8229600" cy="457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1836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Family firm is a corporation that is entirely owned by members of single family. It is also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known as company owned, controlled and operated by members of one or several families.</a:t>
            </a:r>
            <a:endParaRPr b="1"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 Family business is one in which one or more members of one or more families have ownership, interest and significant commitment towards business.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Family business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>
            <a:spLocks noGrp="1"/>
          </p:cNvSpPr>
          <p:nvPr>
            <p:ph type="body" idx="1"/>
          </p:nvPr>
        </p:nvSpPr>
        <p:spPr>
          <a:xfrm>
            <a:off x="457200" y="1143001"/>
            <a:ext cx="8229600" cy="555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109728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en-I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1. Entrepreneurial (after identifying business opportunity)</a:t>
            </a:r>
          </a:p>
          <a:p>
            <a:pPr marL="566928" lvl="0" indent="-457200">
              <a:lnSpc>
                <a:spcPct val="120000"/>
              </a:lnSpc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 stage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business.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family member finds a good business idea and starts the business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566928" lvl="0" indent="-457200">
              <a:lnSpc>
                <a:spcPct val="120000"/>
              </a:lnSpc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owner takes most of the decisions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Work is informal, and there are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proper systems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yet. </a:t>
            </a:r>
          </a:p>
          <a:p>
            <a:pPr marL="566928" lvl="0" indent="-457200">
              <a:lnSpc>
                <a:spcPct val="120000"/>
              </a:lnSpc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 focus is on survival and starting the business successfully.</a:t>
            </a:r>
          </a:p>
          <a:p>
            <a:pPr marL="566928" lvl="0" indent="-457200">
              <a:lnSpc>
                <a:spcPct val="120000"/>
              </a:lnSpc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Eg- Dhirubhai Ambani started Reliance in the 1960s as a small textile trading business.</a:t>
            </a:r>
            <a:endParaRPr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9728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2. Functionally specialized (growth phase)</a:t>
            </a:r>
          </a:p>
          <a:p>
            <a:pPr marL="566928" lvl="0" indent="-457200">
              <a:lnSpc>
                <a:spcPct val="120000"/>
              </a:lnSpc>
              <a:buSzPts val="1836"/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business starts growing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Different departments are created 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like marketing, finance, production, HR, etc. </a:t>
            </a:r>
          </a:p>
          <a:p>
            <a:pPr marL="566928" lvl="0" indent="-457200">
              <a:lnSpc>
                <a:spcPct val="120000"/>
              </a:lnSpc>
              <a:buSzPts val="1836"/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Expansion and increasing sales is the goal.</a:t>
            </a:r>
          </a:p>
          <a:p>
            <a:pPr marL="566928" lvl="0" indent="-457200">
              <a:lnSpc>
                <a:spcPct val="120000"/>
              </a:lnSpc>
              <a:buSzPts val="1836"/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Eg- </a:t>
            </a: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As Reliance expanded into petrochemicals and refining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. Separate departments were formed and Professional managers were hired.</a:t>
            </a:r>
            <a:endParaRPr lang="en-IN"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9728" lvl="0" indent="0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328" name="Google Shape;328;p5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Stages of development of a family business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E7A8EA-BACD-86A1-0FA1-806A15980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611" y="242596"/>
            <a:ext cx="8845421" cy="4945224"/>
          </a:xfrm>
        </p:spPr>
        <p:txBody>
          <a:bodyPr>
            <a:normAutofit fontScale="77500" lnSpcReduction="20000"/>
          </a:bodyPr>
          <a:lstStyle/>
          <a:p>
            <a:pPr marL="109728" lvl="0" indent="0" algn="l">
              <a:lnSpc>
                <a:spcPct val="120000"/>
              </a:lnSpc>
              <a:spcBef>
                <a:spcPts val="0"/>
              </a:spcBef>
            </a:pPr>
            <a:r>
              <a:rPr lang="en-IN" sz="2600" b="1" dirty="0">
                <a:latin typeface="Times New Roman"/>
                <a:ea typeface="Times New Roman"/>
                <a:cs typeface="Times New Roman"/>
                <a:sym typeface="Times New Roman"/>
              </a:rPr>
              <a:t>3. Process-driven (system oriented)</a:t>
            </a:r>
          </a:p>
          <a:p>
            <a:pPr marL="452628" lvl="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becomes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organized and proper rules, systems, and procedures are made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2628" lvl="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are not only taken by one person but whole management structure is formed.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is done according to fixed processes.</a:t>
            </a:r>
          </a:p>
          <a:p>
            <a:pPr marL="452628" lvl="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focus is on efficiency and smooth operations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2628" lvl="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Eg- When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became a large corporate clear policies and systems were introduced,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Corporate governance is improved.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business runs smoothly even without the founder’s direct involvement.</a:t>
            </a:r>
          </a:p>
          <a:p>
            <a:pPr marL="109728" lvl="0" indent="0" algn="l">
              <a:lnSpc>
                <a:spcPct val="120000"/>
              </a:lnSpc>
              <a:spcBef>
                <a:spcPts val="0"/>
              </a:spcBef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lvl="0" indent="0" algn="l">
              <a:lnSpc>
                <a:spcPct val="120000"/>
              </a:lnSpc>
              <a:spcBef>
                <a:spcPts val="0"/>
              </a:spcBef>
            </a:pPr>
            <a:r>
              <a:rPr lang="en-IN" sz="2600" b="1" dirty="0">
                <a:latin typeface="Times New Roman"/>
                <a:ea typeface="Times New Roman"/>
                <a:cs typeface="Times New Roman"/>
                <a:sym typeface="Times New Roman"/>
              </a:rPr>
              <a:t>4. Market-driven(matures)</a:t>
            </a:r>
          </a:p>
          <a:p>
            <a:pPr marL="452628" lvl="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The business becomes fully developed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and stable and It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focuses strongly on customer needs and market competition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2628" lvl="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Strategic planning and professional management are used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the business may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expand nationally or internationally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2628" lvl="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Main focus is on sustainability and long-term success.</a:t>
            </a: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613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4078" lvl="0" indent="-514350" algn="l" rtl="0">
              <a:spcBef>
                <a:spcPts val="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family relationship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the board of director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Dedication of family members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Male-dominated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078" lvl="0" indent="-514350" algn="l" rtl="0">
              <a:spcBef>
                <a:spcPts val="400"/>
              </a:spcBef>
              <a:spcAft>
                <a:spcPts val="0"/>
              </a:spcAft>
              <a:buSzPts val="1836"/>
              <a:buFont typeface="Lucida Sans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Dominance of certain trading communities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4" name="Google Shape;334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en-IN"/>
              <a:t>Characteristics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>
            <a:spLocks noGrp="1"/>
          </p:cNvSpPr>
          <p:nvPr>
            <p:ph type="body" idx="1"/>
          </p:nvPr>
        </p:nvSpPr>
        <p:spPr>
          <a:xfrm>
            <a:off x="457200" y="802433"/>
            <a:ext cx="8229600" cy="551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09728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Family owned business-</a:t>
            </a:r>
          </a:p>
          <a:p>
            <a:pPr marL="566928" lvl="0" indent="-457200" algn="just">
              <a:lnSpc>
                <a:spcPct val="120000"/>
              </a:lnSpc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business that is owned by members of one family. The main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is to earn profit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66928" lvl="0" indent="-457200" algn="just">
              <a:lnSpc>
                <a:spcPct val="120000"/>
              </a:lnSpc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members may not manage it daily, but they own it.</a:t>
            </a:r>
          </a:p>
          <a:p>
            <a:pPr marL="109728" lvl="0" indent="0" algn="just">
              <a:lnSpc>
                <a:spcPct val="120000"/>
              </a:lnSpc>
              <a:spcBef>
                <a:spcPts val="0"/>
              </a:spcBef>
              <a:buSzPts val="1836"/>
              <a:buNone/>
            </a:pP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lvl="0" indent="0" algn="just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 family owned and managed business-</a:t>
            </a:r>
          </a:p>
          <a:p>
            <a:pPr marL="566928" lvl="0" indent="-457200" algn="just">
              <a:lnSpc>
                <a:spcPct val="120000"/>
              </a:lnSpc>
              <a:buSzPts val="1836"/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is not only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owned by the family but also run by them.</a:t>
            </a:r>
          </a:p>
          <a:p>
            <a:pPr marL="566928" lvl="0" indent="-457200" algn="just">
              <a:lnSpc>
                <a:spcPct val="120000"/>
              </a:lnSpc>
              <a:buSzPts val="1836"/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one family member is actively involved in managing daily work.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lvl="0" indent="0" algn="just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lvl="0" indent="0" algn="just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 family owned and led business-</a:t>
            </a:r>
          </a:p>
          <a:p>
            <a:pPr marL="566928" lvl="0" indent="-457200" algn="just">
              <a:lnSpc>
                <a:spcPct val="120000"/>
              </a:lnSpc>
              <a:buSzPts val="1836"/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family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owns the company and also makes important decisions may they are not involved in operational or day to day activity's decision making.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928" lvl="0" indent="-457200" algn="just">
              <a:lnSpc>
                <a:spcPct val="120000"/>
              </a:lnSpc>
              <a:buSzPts val="1836"/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 is part of the Board of Directors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 decision-making group).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340" name="Google Shape;340;p52"/>
          <p:cNvSpPr txBox="1">
            <a:spLocks noGrp="1"/>
          </p:cNvSpPr>
          <p:nvPr>
            <p:ph type="title"/>
          </p:nvPr>
        </p:nvSpPr>
        <p:spPr>
          <a:xfrm>
            <a:off x="391886" y="-447870"/>
            <a:ext cx="8229600" cy="1417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IN" sz="3200" dirty="0"/>
              <a:t>Various types of family businesses</a:t>
            </a:r>
            <a:endParaRPr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66928" lvl="0" indent="-457200">
              <a:spcBef>
                <a:spcPts val="0"/>
              </a:spcBef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importance is given to business performance (profit, growth, professionalism)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importance is given to family relationships and control.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low business and low family orientation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team-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business and relatively high family orientation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family-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family orientation and high business orientation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enterprise model-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family orientation and high business orientation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Google Shape;346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IN"/>
              <a:t>Family business model- Based on family and business orientation.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4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Non-participating family member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Family emotions 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Family versus business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Defining authority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Fair to all approach(equal salary or profit and giving opportunities will be difficult led to conflict)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Retaining non-family professionals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Change management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Decision making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Succession planning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Challenges faced by family-owned business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just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Rural Entrepreneurship is that entrepreneurship which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ensures value addition to rural resources in rural areas engaging largely rural human resources.</a:t>
            </a:r>
            <a:endParaRPr b="1" dirty="0"/>
          </a:p>
          <a:p>
            <a:pPr marL="566928" lvl="0" indent="-457200" algn="just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Rural entrepreneurship refers to the development of a new enterprise which pioneers new products and services, creates a new market for its offerings or uses advanced technology in the rural area.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Rural entrepreneurship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32964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65760" lvl="0" indent="-256053" algn="just" rtl="0">
              <a:spcBef>
                <a:spcPts val="0"/>
              </a:spcBef>
              <a:spcAft>
                <a:spcPts val="0"/>
              </a:spcAft>
              <a:buSzPct val="68000"/>
              <a:buChar char="🞂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As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people are migrating from rural areas to urban areas due to lack of job opportunities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and rural youth is unable to find any options for their growth.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It is not only bad for the rural areas but it also put pressure on the infrastructure and amenities of the urban areas.</a:t>
            </a:r>
            <a:endParaRPr b="1" dirty="0"/>
          </a:p>
          <a:p>
            <a:pPr marL="365760" lvl="0" indent="-256053" algn="just" rtl="0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However, a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large number of products and services are available in remote areas but people do not have any inventive ideas to utilize all these resources in a proper manner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. That is the reason why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rural Entrepreneurship is highly required to develop the small villages and their people too.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Why rural entrepreneurship?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7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Employment generation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Income generation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Not only protect but also promotes the art, culture and </a:t>
            </a:r>
          </a:p>
          <a:p>
            <a:pPr marL="109728" lvl="0" indent="0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creativity, i.e. the varied heritage of that particular         region.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Reduces migration of villagers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Proper Utilization of resources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Plug the gap</a:t>
            </a:r>
            <a:endParaRPr dirty="0"/>
          </a:p>
        </p:txBody>
      </p:sp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Need for rural entrepreneurship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8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66928" lvl="0" indent="-457200" algn="l" rtl="0">
              <a:spcBef>
                <a:spcPts val="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technical know-how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training services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Management problems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of quality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control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infrastructure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Poor quality of raw materials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latest technology </a:t>
            </a:r>
            <a:endParaRPr dirty="0"/>
          </a:p>
          <a:p>
            <a:pPr marL="566928" lvl="0" indent="-457200" algn="l" rtl="0">
              <a:spcBef>
                <a:spcPts val="400"/>
              </a:spcBef>
              <a:spcAft>
                <a:spcPts val="0"/>
              </a:spcAft>
              <a:buSzPts val="1836"/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Lack of promotional strategy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/>
              <a:buNone/>
            </a:pPr>
            <a:r>
              <a:rPr lang="en-IN" b="0">
                <a:latin typeface="Times New Roman"/>
                <a:ea typeface="Times New Roman"/>
                <a:cs typeface="Times New Roman"/>
                <a:sym typeface="Times New Roman"/>
              </a:rPr>
              <a:t>Problems of rural entrepreneurship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3021</Words>
  <Application>Microsoft Office PowerPoint</Application>
  <PresentationFormat>On-screen Show (4:3)</PresentationFormat>
  <Paragraphs>235</Paragraphs>
  <Slides>47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Lucida Sans</vt:lpstr>
      <vt:lpstr>Noto Sans Symbols</vt:lpstr>
      <vt:lpstr>Times New Roman</vt:lpstr>
      <vt:lpstr>Concourse</vt:lpstr>
      <vt:lpstr>Types of Entrepreneurship</vt:lpstr>
      <vt:lpstr>Techno-entrepreneurship</vt:lpstr>
      <vt:lpstr>PowerPoint Presentation</vt:lpstr>
      <vt:lpstr>Impact of tech entrepreneur</vt:lpstr>
      <vt:lpstr>What is Tech Entrepreneurship? </vt:lpstr>
      <vt:lpstr>Elements of Successful Tech -Entrepreneurship</vt:lpstr>
      <vt:lpstr>PowerPoint Presentation</vt:lpstr>
      <vt:lpstr>PowerPoint Presentation</vt:lpstr>
      <vt:lpstr>PowerPoint Presentation</vt:lpstr>
      <vt:lpstr>Women entrepreneurs</vt:lpstr>
      <vt:lpstr>PowerPoint Presentation</vt:lpstr>
      <vt:lpstr>PowerPoint Presentation</vt:lpstr>
      <vt:lpstr>Challenges faced by women entrepreneurs</vt:lpstr>
      <vt:lpstr>Why women becomes entrepreneur</vt:lpstr>
      <vt:lpstr>Strategies for the development of women entrepreneurs</vt:lpstr>
      <vt:lpstr>Problems faced by women entrepreneur</vt:lpstr>
      <vt:lpstr>Government incentives</vt:lpstr>
      <vt:lpstr>Mahila vikas nidhi</vt:lpstr>
      <vt:lpstr> District industries center(DICs) </vt:lpstr>
      <vt:lpstr>Rashtriya Mahila Kosh</vt:lpstr>
      <vt:lpstr>PowerPoint Presentation</vt:lpstr>
      <vt:lpstr>PowerPoint Presentation</vt:lpstr>
      <vt:lpstr>Social entrepreneurship</vt:lpstr>
      <vt:lpstr>PowerPoint Presentation</vt:lpstr>
      <vt:lpstr>PowerPoint Presentation</vt:lpstr>
      <vt:lpstr>Social entrepreneurship Drivers</vt:lpstr>
      <vt:lpstr>PowerPoint Presentation</vt:lpstr>
      <vt:lpstr>   Intrapreneurship</vt:lpstr>
      <vt:lpstr>PowerPoint Presentation</vt:lpstr>
      <vt:lpstr>3 Types of Intrapreneur </vt:lpstr>
      <vt:lpstr>PowerPoint Presentation</vt:lpstr>
      <vt:lpstr>PowerPoint Presentation</vt:lpstr>
      <vt:lpstr>Why should organizations embrace intrapreneurs?</vt:lpstr>
      <vt:lpstr>Intraprenurial activity</vt:lpstr>
      <vt:lpstr>How does Business benefit?</vt:lpstr>
      <vt:lpstr>How do Intrapreneurs benefit?</vt:lpstr>
      <vt:lpstr>Family business</vt:lpstr>
      <vt:lpstr>Stages of development of a family business</vt:lpstr>
      <vt:lpstr>PowerPoint Presentation</vt:lpstr>
      <vt:lpstr>Characteristics </vt:lpstr>
      <vt:lpstr>Various types of family businesses</vt:lpstr>
      <vt:lpstr>Family business model- Based on family and business orientation.</vt:lpstr>
      <vt:lpstr>Challenges faced by family-owned business</vt:lpstr>
      <vt:lpstr>Rural entrepreneurship</vt:lpstr>
      <vt:lpstr>Why rural entrepreneurship?</vt:lpstr>
      <vt:lpstr>Need for rural entrepreneurship</vt:lpstr>
      <vt:lpstr>Problems of rural entrepreneurship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NENCY VALA</cp:lastModifiedBy>
  <cp:revision>26</cp:revision>
  <dcterms:modified xsi:type="dcterms:W3CDTF">2026-02-17T04:32:43Z</dcterms:modified>
</cp:coreProperties>
</file>